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https://raw.githubusercontent.com/2nd-MLOps-engineer/woosimwoonkka-web/main/README.md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https://raw.githubusercontent.com/2nd-MLOps-engineer/woosimwoonkka-web/main/README.md (프로젝트 필요성, 프로젝트 소개)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https://raw.githubusercontent.com/2nd-MLOps-engineer/woosimwoonkka-web/main/README.md (프로젝트 소개, 프로젝트 개요)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https://raw.githubusercontent.com/2nd-MLOps-engineer/woosimwoonkka-web/main/README.md (기술 스택 주의문, 평가 유의사항, 평가 범위)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https://raw.githubusercontent.com/2nd-MLOps-engineer/woosimwoonkka-web/main/README.md (수행 결과, 테스트 및 시연 순서, 주요 기능)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https://raw.githubusercontent.com/2nd-MLOps-engineer/woosimwoonkka-web/main/README.md (팀 소개, WBS)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https://raw.githubusercontent.com/2nd-MLOps-engineer/woosimwoonkka-web/main/README.md (기술 스택, 기술이 연결되는 방식, 프로젝트 파일 구조)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https://raw.githubusercontent.com/2nd-MLOps-engineer/woosimwoonkka-web/main/README.md (데이터 출처와 활용, 보안 요구사항)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https://raw.githubusercontent.com/2nd-MLOps-engineer/woosimwoonkka-web/main/README.md (프로젝트 개요의 데이터 흐름, 주요 프로시저, 품질검증 기준)
- User-provided file: 우심운까슬라이드4편.pptx, page 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file: 우심운까슬라이드4편.pptx, page 2
- https://raw.githubusercontent.com/2nd-MLOps-engineer/woosimwoonkka-web/main/README.md (품질검증 기준)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https://raw.githubusercontent.com/2nd-MLOps-engineer/woosimwoonkka-web/main/README.md (실패 및 예외 처리, 스케줄 설정, 로그와 적재 결과)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https://raw.githubusercontent.com/2nd-MLOps-engineer/woosimwoonkka-web/main/README.md (ERD, 파이프라인 데이터 설명)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https://raw.githubusercontent.com/2nd-MLOps-engineer/woosimwoonkka-web/main/README.md (추천 방식, 기술 스택 주의문)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https://raw.githubusercontent.com/2nd-MLOps-engineer/woosimwoonkka-web/main/README.md (요구사항 명세서 UR/SR)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https://raw.githubusercontent.com/2nd-MLOps-engineer/woosimwoonkka-web/main/README.md (로그와 적재 결과, 필수 산출물)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https://raw.githubusercontent.com/2nd-MLOps-engineer/woosimwoonkka-web/main/README.md (테스트 및 시연 순서, 테스트 수치 주의문)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https://raw.githubusercontent.com/2nd-MLOps-engineer/woosimwoonkka-web/main/README.md (현재 구현 범위와 다음 단계)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https://raw.githubusercontent.com/2nd-MLOps-engineer/woosimwoonkka-web/main/README.md (한 줄 회고, 프로젝트 메시지)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 w="12700">
            <a:solidFill>
              <a:srgbClr val="F4F0E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52760" y="256032"/>
            <a:ext cx="1143000" cy="1143000"/>
          </a:xfrm>
          <a:prstGeom prst="ellipse">
            <a:avLst/>
          </a:prstGeom>
          <a:solidFill>
            <a:srgbClr val="D8E4DB">
              <a:alpha val="92000"/>
            </a:srgbClr>
          </a:solidFill>
          <a:ln w="12700">
            <a:solidFill>
              <a:srgbClr val="D8E4D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38360" y="4251960"/>
            <a:ext cx="1417320" cy="1417320"/>
          </a:xfrm>
          <a:prstGeom prst="ellipse">
            <a:avLst/>
          </a:prstGeom>
          <a:solidFill>
            <a:srgbClr val="F1DAD0">
              <a:alpha val="95000"/>
            </a:srgbClr>
          </a:solidFill>
          <a:ln w="12700">
            <a:solidFill>
              <a:srgbClr val="F1DAD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83880" y="4983480"/>
            <a:ext cx="713232" cy="713232"/>
          </a:xfrm>
          <a:prstGeom prst="ellipse">
            <a:avLst/>
          </a:prstGeom>
          <a:solidFill>
            <a:srgbClr val="EADCA7">
              <a:alpha val="98000"/>
            </a:srgbClr>
          </a:solidFill>
          <a:ln w="12700">
            <a:solidFill>
              <a:srgbClr val="EADCA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621792"/>
            <a:ext cx="1572768" cy="265176"/>
          </a:xfrm>
          <a:prstGeom prst="roundRect">
            <a:avLst>
              <a:gd name="adj" fmla="val 27586"/>
            </a:avLst>
          </a:prstGeom>
          <a:solidFill>
            <a:srgbClr val="2F5E4E"/>
          </a:solidFill>
          <a:ln w="12700">
            <a:solidFill>
              <a:srgbClr val="2F5E4E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76656"/>
            <a:ext cx="1481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MOTIVE · MLOps 2기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85800" y="1389888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우심운까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85800" y="2139696"/>
            <a:ext cx="6949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공공데이터 기반 운동 장소 추천 서비스와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자동 학습 데이터 파이프라인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13232" y="34747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C96D4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오늘도, 움직이는 내가 좋다.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13232" y="3977640"/>
            <a:ext cx="5989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지역 · 날씨 · 대기질 · 운동 취향을 연결해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오늘 운동하기 좋은 장소를 추천하고, 운동 기록까지 이어갑니다.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65592" y="1508760"/>
            <a:ext cx="2743200" cy="2743200"/>
          </a:xfrm>
          <a:prstGeom prst="roundRect">
            <a:avLst>
              <a:gd name="adj" fmla="val 2667"/>
            </a:avLst>
          </a:prstGeom>
          <a:solidFill>
            <a:srgbClr val="FFFDF8"/>
          </a:solidFill>
          <a:ln w="12700">
            <a:solidFill>
              <a:srgbClr val="D8D1C5"/>
            </a:solidFill>
            <a:prstDash val="solid"/>
          </a:ln>
          <a:effectLst>
            <a:outerShdw sx="100000" sy="100000" kx="0" ky="0" algn="bl" rotWithShape="0" blurRad="12700" dist="7620" dir="2700000">
              <a:srgbClr val="B7B0A3">
                <a:alpha val="11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887968" y="2057400"/>
            <a:ext cx="1298448" cy="1298448"/>
          </a:xfrm>
          <a:prstGeom prst="ellipse">
            <a:avLst/>
          </a:prstGeom>
          <a:solidFill>
            <a:srgbClr val="2F5E4E"/>
          </a:solidFill>
          <a:ln w="12700">
            <a:solidFill>
              <a:srgbClr val="2F5E4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25128" y="2505456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MOVE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732520" y="3639312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F5E4E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MY MOVE CLUB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713232" y="629107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B9F9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README 기준 발표초안 · 2026.09.28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109960" y="649224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9B9F9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01</a:t>
            </a:r>
            <a:endParaRPr lang="en-US" sz="7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F5E4E"/>
          </a:solidFill>
          <a:ln w="12700">
            <a:solidFill>
              <a:srgbClr val="2F5E4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1089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4D7A6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01 ·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" y="713232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운동을 시작하기 전에, 검색부터 많습니다.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21792" y="1271016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운동할 장소를 정하려면 시설·날씨·대기질·운영정보를 각각 찾아야 합니다.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21792" y="6537960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9B9F9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MOTIVE · 우심운까</a:t>
            </a:r>
            <a:endParaRPr lang="en-US" sz="680" dirty="0"/>
          </a:p>
        </p:txBody>
      </p:sp>
      <p:sp>
        <p:nvSpPr>
          <p:cNvPr id="7" name="Shape 5"/>
          <p:cNvSpPr/>
          <p:nvPr/>
        </p:nvSpPr>
        <p:spPr>
          <a:xfrm>
            <a:off x="676656" y="1938528"/>
            <a:ext cx="2340864" cy="2121408"/>
          </a:xfrm>
          <a:prstGeom prst="roundRect">
            <a:avLst>
              <a:gd name="adj" fmla="val 3448"/>
            </a:avLst>
          </a:prstGeom>
          <a:solidFill>
            <a:srgbClr val="FFFDF8"/>
          </a:solidFill>
          <a:ln w="12700">
            <a:solidFill>
              <a:srgbClr val="D5D0C5"/>
            </a:solidFill>
            <a:prstDash val="solid"/>
          </a:ln>
          <a:effectLst>
            <a:outerShdw sx="100000" sy="100000" kx="0" ky="0" algn="bl" rotWithShape="0" blurRad="12700" dist="7620" dir="2700000">
              <a:srgbClr val="B7B0A3">
                <a:alpha val="11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41248" y="2139696"/>
            <a:ext cx="713232" cy="256032"/>
          </a:xfrm>
          <a:prstGeom prst="roundRect">
            <a:avLst>
              <a:gd name="adj" fmla="val 17857"/>
            </a:avLst>
          </a:prstGeom>
          <a:solidFill>
            <a:srgbClr val="2F5E4E"/>
          </a:solidFill>
          <a:ln w="12700">
            <a:solidFill>
              <a:srgbClr val="2F5E4E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2192731"/>
            <a:ext cx="621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PLACE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841248" y="2715768"/>
            <a:ext cx="19751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어디서 운동하지?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41248" y="3383280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주변 체육시설과 거리 확인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841248" y="3813048"/>
            <a:ext cx="1938528" cy="45720"/>
          </a:xfrm>
          <a:prstGeom prst="rect">
            <a:avLst/>
          </a:prstGeom>
          <a:solidFill>
            <a:srgbClr val="2F5E4E"/>
          </a:solidFill>
          <a:ln w="12700">
            <a:solidFill>
              <a:srgbClr val="2F5E4E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01568" y="1938528"/>
            <a:ext cx="2340864" cy="2121408"/>
          </a:xfrm>
          <a:prstGeom prst="roundRect">
            <a:avLst>
              <a:gd name="adj" fmla="val 3448"/>
            </a:avLst>
          </a:prstGeom>
          <a:solidFill>
            <a:srgbClr val="FFFDF8"/>
          </a:solidFill>
          <a:ln w="12700">
            <a:solidFill>
              <a:srgbClr val="D5D0C5"/>
            </a:solidFill>
            <a:prstDash val="solid"/>
          </a:ln>
          <a:effectLst>
            <a:outerShdw sx="100000" sy="100000" kx="0" ky="0" algn="bl" rotWithShape="0" blurRad="12700" dist="7620" dir="2700000">
              <a:srgbClr val="B7B0A3">
                <a:alpha val="11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566160" y="2139696"/>
            <a:ext cx="713232" cy="256032"/>
          </a:xfrm>
          <a:prstGeom prst="roundRect">
            <a:avLst>
              <a:gd name="adj" fmla="val 17857"/>
            </a:avLst>
          </a:prstGeom>
          <a:solidFill>
            <a:srgbClr val="5276A7"/>
          </a:solidFill>
          <a:ln w="12700">
            <a:solidFill>
              <a:srgbClr val="5276A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11880" y="2192731"/>
            <a:ext cx="621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WEATHER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3566160" y="2715768"/>
            <a:ext cx="19751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오늘 밖에서 해도 될까?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66160" y="3383280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기온·습도·강수·풍속 확인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3566160" y="3813048"/>
            <a:ext cx="1938528" cy="45720"/>
          </a:xfrm>
          <a:prstGeom prst="rect">
            <a:avLst/>
          </a:prstGeom>
          <a:solidFill>
            <a:srgbClr val="5276A7"/>
          </a:solidFill>
          <a:ln w="12700">
            <a:solidFill>
              <a:srgbClr val="5276A7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1938528"/>
            <a:ext cx="2340864" cy="2121408"/>
          </a:xfrm>
          <a:prstGeom prst="roundRect">
            <a:avLst>
              <a:gd name="adj" fmla="val 3448"/>
            </a:avLst>
          </a:prstGeom>
          <a:solidFill>
            <a:srgbClr val="FFFDF8"/>
          </a:solidFill>
          <a:ln w="12700">
            <a:solidFill>
              <a:srgbClr val="D5D0C5"/>
            </a:solidFill>
            <a:prstDash val="solid"/>
          </a:ln>
          <a:effectLst>
            <a:outerShdw sx="100000" sy="100000" kx="0" ky="0" algn="bl" rotWithShape="0" blurRad="12700" dist="7620" dir="2700000">
              <a:srgbClr val="B7B0A3">
                <a:alpha val="11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91072" y="2139696"/>
            <a:ext cx="713232" cy="256032"/>
          </a:xfrm>
          <a:prstGeom prst="roundRect">
            <a:avLst>
              <a:gd name="adj" fmla="val 17857"/>
            </a:avLst>
          </a:prstGeom>
          <a:solidFill>
            <a:srgbClr val="D9B75B"/>
          </a:solidFill>
          <a:ln w="12700">
            <a:solidFill>
              <a:srgbClr val="D9B75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36792" y="2192731"/>
            <a:ext cx="621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AIR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6291072" y="2715768"/>
            <a:ext cx="19751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미세먼지는 괜찮나?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91072" y="3383280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PM10·PM2.5 상태 확인</a:t>
            </a:r>
            <a:endParaRPr lang="en-US" sz="940" dirty="0"/>
          </a:p>
        </p:txBody>
      </p:sp>
      <p:sp>
        <p:nvSpPr>
          <p:cNvPr id="24" name="Shape 22"/>
          <p:cNvSpPr/>
          <p:nvPr/>
        </p:nvSpPr>
        <p:spPr>
          <a:xfrm>
            <a:off x="6291072" y="3813048"/>
            <a:ext cx="1938528" cy="45720"/>
          </a:xfrm>
          <a:prstGeom prst="rect">
            <a:avLst/>
          </a:prstGeom>
          <a:solidFill>
            <a:srgbClr val="D9B75B"/>
          </a:solidFill>
          <a:ln w="12700">
            <a:solidFill>
              <a:srgbClr val="D9B75B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51392" y="1938528"/>
            <a:ext cx="2340864" cy="2121408"/>
          </a:xfrm>
          <a:prstGeom prst="roundRect">
            <a:avLst>
              <a:gd name="adj" fmla="val 3448"/>
            </a:avLst>
          </a:prstGeom>
          <a:solidFill>
            <a:srgbClr val="FFFDF8"/>
          </a:solidFill>
          <a:ln w="12700">
            <a:solidFill>
              <a:srgbClr val="D5D0C5"/>
            </a:solidFill>
            <a:prstDash val="solid"/>
          </a:ln>
          <a:effectLst>
            <a:outerShdw sx="100000" sy="100000" kx="0" ky="0" algn="bl" rotWithShape="0" blurRad="12700" dist="7620" dir="2700000">
              <a:srgbClr val="B7B0A3">
                <a:alpha val="11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015984" y="2139696"/>
            <a:ext cx="713232" cy="256032"/>
          </a:xfrm>
          <a:prstGeom prst="roundRect">
            <a:avLst>
              <a:gd name="adj" fmla="val 17857"/>
            </a:avLst>
          </a:prstGeom>
          <a:solidFill>
            <a:srgbClr val="C96D4B"/>
          </a:solidFill>
          <a:ln w="12700">
            <a:solidFill>
              <a:srgbClr val="C96D4B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61704" y="2192731"/>
            <a:ext cx="621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OPEN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9015984" y="2715768"/>
            <a:ext cx="19751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지금 이용할 수 있나?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015984" y="3383280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운영·휴무 정보 확인</a:t>
            </a:r>
            <a:endParaRPr lang="en-US" sz="940" dirty="0"/>
          </a:p>
        </p:txBody>
      </p:sp>
      <p:sp>
        <p:nvSpPr>
          <p:cNvPr id="30" name="Shape 28"/>
          <p:cNvSpPr/>
          <p:nvPr/>
        </p:nvSpPr>
        <p:spPr>
          <a:xfrm>
            <a:off x="9015984" y="3813048"/>
            <a:ext cx="1938528" cy="45720"/>
          </a:xfrm>
          <a:prstGeom prst="rect">
            <a:avLst/>
          </a:prstGeom>
          <a:solidFill>
            <a:srgbClr val="C96D4B"/>
          </a:solidFill>
          <a:ln w="12700">
            <a:solidFill>
              <a:srgbClr val="C96D4B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417320" y="4709160"/>
            <a:ext cx="9372600" cy="841248"/>
          </a:xfrm>
          <a:prstGeom prst="roundRect">
            <a:avLst>
              <a:gd name="adj" fmla="val 8696"/>
            </a:avLst>
          </a:prstGeom>
          <a:solidFill>
            <a:srgbClr val="FFFDF8"/>
          </a:solidFill>
          <a:ln w="12700">
            <a:solidFill>
              <a:srgbClr val="D9D2C6"/>
            </a:solidFill>
            <a:prstDash val="solid"/>
          </a:ln>
          <a:effectLst>
            <a:outerShdw sx="100000" sy="100000" kx="0" ky="0" algn="bl" rotWithShape="0" blurRad="12700" dist="7620" dir="2700000">
              <a:srgbClr val="B7B0A3">
                <a:alpha val="11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783080" y="4974336"/>
            <a:ext cx="8641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3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문제는 정보가 없는 것이 아니라, 정보가 여러 출처에 흩어져 있다는 점입니다.</a:t>
            </a:r>
            <a:endParaRPr lang="en-US" sz="1330" dirty="0"/>
          </a:p>
        </p:txBody>
      </p:sp>
      <p:sp>
        <p:nvSpPr>
          <p:cNvPr id="33" name="Shape 31"/>
          <p:cNvSpPr/>
          <p:nvPr/>
        </p:nvSpPr>
        <p:spPr>
          <a:xfrm>
            <a:off x="749808" y="5715000"/>
            <a:ext cx="10680192" cy="502920"/>
          </a:xfrm>
          <a:prstGeom prst="roundRect">
            <a:avLst>
              <a:gd name="adj" fmla="val 14545"/>
            </a:avLst>
          </a:prstGeom>
          <a:solidFill>
            <a:srgbClr val="EEF5EF"/>
          </a:solidFill>
          <a:ln w="12700">
            <a:solidFill>
              <a:srgbClr val="E4D9B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87552" y="5861304"/>
            <a:ext cx="10204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F5E4E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서비스 기능과 데이터 파이프라인을 분리하고, 원본과 정제 결과를 추적할 수 있는 구조가 필요했습니다.</a:t>
            </a:r>
            <a:endParaRPr lang="en-US" sz="920" dirty="0"/>
          </a:p>
        </p:txBody>
      </p:sp>
      <p:sp>
        <p:nvSpPr>
          <p:cNvPr id="35" name="Text 33"/>
          <p:cNvSpPr/>
          <p:nvPr/>
        </p:nvSpPr>
        <p:spPr>
          <a:xfrm>
            <a:off x="11109960" y="649224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9B9F9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02</a:t>
            </a:r>
            <a:endParaRPr lang="en-US" sz="7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F5E4E"/>
          </a:solidFill>
          <a:ln w="12700">
            <a:solidFill>
              <a:srgbClr val="2F5E4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1089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4D7A6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02 · 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" y="713232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우심운까는 서비스와 데이터 파이프라인을 함께 만들었습니다.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21792" y="1271016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사용자 경험과 데이터 운영을 하나의 흐름으로 연결했습니다.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21792" y="6537960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9B9F9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MOTIVE · 우심운까</a:t>
            </a:r>
            <a:endParaRPr lang="en-US" sz="680" dirty="0"/>
          </a:p>
        </p:txBody>
      </p:sp>
      <p:sp>
        <p:nvSpPr>
          <p:cNvPr id="7" name="Shape 5"/>
          <p:cNvSpPr/>
          <p:nvPr/>
        </p:nvSpPr>
        <p:spPr>
          <a:xfrm>
            <a:off x="713232" y="1847088"/>
            <a:ext cx="5102352" cy="3456432"/>
          </a:xfrm>
          <a:prstGeom prst="roundRect">
            <a:avLst>
              <a:gd name="adj" fmla="val 2116"/>
            </a:avLst>
          </a:prstGeom>
          <a:solidFill>
            <a:srgbClr val="FFFDF8"/>
          </a:solidFill>
          <a:ln w="12700">
            <a:solidFill>
              <a:srgbClr val="D5D0C5"/>
            </a:solidFill>
            <a:prstDash val="solid"/>
          </a:ln>
          <a:effectLst>
            <a:outerShdw sx="100000" sy="100000" kx="0" ky="0" algn="bl" rotWithShape="0" blurRad="12700" dist="7620" dir="2700000">
              <a:srgbClr val="B7B0A3">
                <a:alpha val="11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50976" y="2057400"/>
            <a:ext cx="914400" cy="256032"/>
          </a:xfrm>
          <a:prstGeom prst="roundRect">
            <a:avLst>
              <a:gd name="adj" fmla="val 17857"/>
            </a:avLst>
          </a:prstGeom>
          <a:solidFill>
            <a:srgbClr val="2F5E4E"/>
          </a:solidFill>
          <a:ln w="12700">
            <a:solidFill>
              <a:srgbClr val="2F5E4E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6696" y="2110435"/>
            <a:ext cx="822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WEB SERVICE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950976" y="250545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사용자에게 보이는 흐름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69264" y="3145536"/>
            <a:ext cx="91440" cy="91440"/>
          </a:xfrm>
          <a:prstGeom prst="ellipse">
            <a:avLst/>
          </a:prstGeom>
          <a:solidFill>
            <a:srgbClr val="2F5E4E"/>
          </a:solidFill>
          <a:ln w="12700">
            <a:solidFill>
              <a:srgbClr val="2F5E4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306324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지역·종목 선택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2633472" y="3063240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오늘의 조건 입력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969264" y="3648456"/>
            <a:ext cx="91440" cy="91440"/>
          </a:xfrm>
          <a:prstGeom prst="ellipse">
            <a:avLst/>
          </a:prstGeom>
          <a:solidFill>
            <a:srgbClr val="2F5E4E"/>
          </a:solidFill>
          <a:ln w="12700">
            <a:solidFill>
              <a:srgbClr val="2F5E4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356616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추천 결과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2633472" y="3566160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거리·환경·운영정보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969264" y="4151376"/>
            <a:ext cx="91440" cy="91440"/>
          </a:xfrm>
          <a:prstGeom prst="ellipse">
            <a:avLst/>
          </a:prstGeom>
          <a:solidFill>
            <a:srgbClr val="2F5E4E"/>
          </a:solidFill>
          <a:ln w="12700">
            <a:solidFill>
              <a:srgbClr val="2F5E4E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88720" y="406908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운동 기록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2633472" y="4069080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칼로리 누적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969264" y="4654296"/>
            <a:ext cx="91440" cy="91440"/>
          </a:xfrm>
          <a:prstGeom prst="ellipse">
            <a:avLst/>
          </a:prstGeom>
          <a:solidFill>
            <a:srgbClr val="2F5E4E"/>
          </a:solidFill>
          <a:ln w="12700">
            <a:solidFill>
              <a:srgbClr val="2F5E4E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88720" y="457200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재방문 동기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2633472" y="4572000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운동방·친구·프로필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6373368" y="1847088"/>
            <a:ext cx="5102352" cy="3456432"/>
          </a:xfrm>
          <a:prstGeom prst="roundRect">
            <a:avLst>
              <a:gd name="adj" fmla="val 2116"/>
            </a:avLst>
          </a:prstGeom>
          <a:solidFill>
            <a:srgbClr val="F9F5EC"/>
          </a:solidFill>
          <a:ln w="12700">
            <a:solidFill>
              <a:srgbClr val="D5D0C5"/>
            </a:solidFill>
            <a:prstDash val="solid"/>
          </a:ln>
          <a:effectLst>
            <a:outerShdw sx="100000" sy="100000" kx="0" ky="0" algn="bl" rotWithShape="0" blurRad="12700" dist="7620" dir="2700000">
              <a:srgbClr val="B7B0A3">
                <a:alpha val="11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611112" y="2057400"/>
            <a:ext cx="1024128" cy="256032"/>
          </a:xfrm>
          <a:prstGeom prst="roundRect">
            <a:avLst>
              <a:gd name="adj" fmla="val 17857"/>
            </a:avLst>
          </a:prstGeom>
          <a:solidFill>
            <a:srgbClr val="C96D4B"/>
          </a:solidFill>
          <a:ln w="12700">
            <a:solidFill>
              <a:srgbClr val="C96D4B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56832" y="2110435"/>
            <a:ext cx="9326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DATA PIPELINE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6611112" y="250545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서비스를 받치는 데이터 흐름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629400" y="3145536"/>
            <a:ext cx="91440" cy="91440"/>
          </a:xfrm>
          <a:prstGeom prst="ellipse">
            <a:avLst/>
          </a:prstGeom>
          <a:solidFill>
            <a:srgbClr val="C96D4B"/>
          </a:solidFill>
          <a:ln w="12700">
            <a:solidFill>
              <a:srgbClr val="C96D4B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48856" y="306324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수집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8119872" y="30632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공공데이터 API·공개 웹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6629400" y="3648456"/>
            <a:ext cx="91440" cy="91440"/>
          </a:xfrm>
          <a:prstGeom prst="ellipse">
            <a:avLst/>
          </a:prstGeom>
          <a:solidFill>
            <a:srgbClr val="C96D4B"/>
          </a:solidFill>
          <a:ln w="12700">
            <a:solidFill>
              <a:srgbClr val="C96D4B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48856" y="356616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전처리</a:t>
            </a:r>
            <a:endParaRPr lang="en-US" sz="980" dirty="0"/>
          </a:p>
        </p:txBody>
      </p:sp>
      <p:sp>
        <p:nvSpPr>
          <p:cNvPr id="32" name="Text 30"/>
          <p:cNvSpPr/>
          <p:nvPr/>
        </p:nvSpPr>
        <p:spPr>
          <a:xfrm>
            <a:off x="8119872" y="35661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필드 표준화·타입 변환</a:t>
            </a:r>
            <a:endParaRPr lang="en-US" sz="930" dirty="0"/>
          </a:p>
        </p:txBody>
      </p:sp>
      <p:sp>
        <p:nvSpPr>
          <p:cNvPr id="33" name="Shape 31"/>
          <p:cNvSpPr/>
          <p:nvPr/>
        </p:nvSpPr>
        <p:spPr>
          <a:xfrm>
            <a:off x="6629400" y="4151376"/>
            <a:ext cx="91440" cy="91440"/>
          </a:xfrm>
          <a:prstGeom prst="ellipse">
            <a:avLst/>
          </a:prstGeom>
          <a:solidFill>
            <a:srgbClr val="C96D4B"/>
          </a:solidFill>
          <a:ln w="12700">
            <a:solidFill>
              <a:srgbClr val="C96D4B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48856" y="40690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품질검증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8119872" y="40690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행·키·NULL·타입 확인</a:t>
            </a:r>
            <a:endParaRPr lang="en-US" sz="930" dirty="0"/>
          </a:p>
        </p:txBody>
      </p:sp>
      <p:sp>
        <p:nvSpPr>
          <p:cNvPr id="36" name="Shape 34"/>
          <p:cNvSpPr/>
          <p:nvPr/>
        </p:nvSpPr>
        <p:spPr>
          <a:xfrm>
            <a:off x="6629400" y="4654296"/>
            <a:ext cx="91440" cy="91440"/>
          </a:xfrm>
          <a:prstGeom prst="ellipse">
            <a:avLst/>
          </a:prstGeom>
          <a:solidFill>
            <a:srgbClr val="C96D4B"/>
          </a:solidFill>
          <a:ln w="12700">
            <a:solidFill>
              <a:srgbClr val="C96D4B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48856" y="457200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적재·스케줄</a:t>
            </a:r>
            <a:endParaRPr lang="en-US" sz="980" dirty="0"/>
          </a:p>
        </p:txBody>
      </p:sp>
      <p:sp>
        <p:nvSpPr>
          <p:cNvPr id="38" name="Text 36"/>
          <p:cNvSpPr/>
          <p:nvPr/>
        </p:nvSpPr>
        <p:spPr>
          <a:xfrm>
            <a:off x="8119872" y="45720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PostgreSQL·반복 실행</a:t>
            </a:r>
            <a:endParaRPr lang="en-US" sz="930" dirty="0"/>
          </a:p>
        </p:txBody>
      </p:sp>
      <p:sp>
        <p:nvSpPr>
          <p:cNvPr id="39" name="Shape 37"/>
          <p:cNvSpPr/>
          <p:nvPr/>
        </p:nvSpPr>
        <p:spPr>
          <a:xfrm>
            <a:off x="5852160" y="3703320"/>
            <a:ext cx="457200" cy="0"/>
          </a:xfrm>
          <a:prstGeom prst="line">
            <a:avLst/>
          </a:prstGeom>
          <a:noFill/>
          <a:ln w="25400">
            <a:solidFill>
              <a:srgbClr val="C96D4B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2468880" y="5641848"/>
            <a:ext cx="7269480" cy="566928"/>
          </a:xfrm>
          <a:prstGeom prst="roundRect">
            <a:avLst>
              <a:gd name="adj" fmla="val 12903"/>
            </a:avLst>
          </a:prstGeom>
          <a:solidFill>
            <a:srgbClr val="2F5E4E"/>
          </a:solidFill>
          <a:ln w="12700">
            <a:solidFill>
              <a:srgbClr val="2F5E4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0" y="5824728"/>
            <a:ext cx="6720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작은 움직임이 다음 운동으로 이어지도록 — 추천부터 기록, 운동방 꾸미기까지 연결</a:t>
            </a:r>
            <a:endParaRPr lang="en-US" sz="1030" dirty="0"/>
          </a:p>
        </p:txBody>
      </p:sp>
      <p:sp>
        <p:nvSpPr>
          <p:cNvPr id="42" name="Text 40"/>
          <p:cNvSpPr/>
          <p:nvPr/>
        </p:nvSpPr>
        <p:spPr>
          <a:xfrm>
            <a:off x="11109960" y="649224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9B9F9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03</a:t>
            </a:r>
            <a:endParaRPr lang="en-US" sz="7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F5E4E"/>
          </a:solidFill>
          <a:ln w="12700">
            <a:solidFill>
              <a:srgbClr val="2F5E4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1089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4D7A6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03 · PROJECT SCOPE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" y="713232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이번 단위 프로젝트의 핵심은 “데이터 파이프라인”입니다.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21792" y="1271016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기존 웹 서비스는 시연 참고 자료이며, 평가 대상은 수집·전처리·적재·스케줄링과 실행 증빙입니다.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21792" y="6537960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9B9F9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MOTIVE · 우심운까</a:t>
            </a:r>
            <a:endParaRPr lang="en-US" sz="680" dirty="0"/>
          </a:p>
        </p:txBody>
      </p:sp>
      <p:sp>
        <p:nvSpPr>
          <p:cNvPr id="7" name="Shape 5"/>
          <p:cNvSpPr/>
          <p:nvPr/>
        </p:nvSpPr>
        <p:spPr>
          <a:xfrm>
            <a:off x="749808" y="1920240"/>
            <a:ext cx="4937760" cy="3246120"/>
          </a:xfrm>
          <a:prstGeom prst="roundRect">
            <a:avLst>
              <a:gd name="adj" fmla="val 2254"/>
            </a:avLst>
          </a:prstGeom>
          <a:solidFill>
            <a:srgbClr val="FFFDF8"/>
          </a:solidFill>
          <a:ln w="12700">
            <a:solidFill>
              <a:srgbClr val="D5D0C5"/>
            </a:solidFill>
            <a:prstDash val="solid"/>
          </a:ln>
          <a:effectLst>
            <a:outerShdw sx="100000" sy="100000" kx="0" ky="0" algn="bl" rotWithShape="0" blurRad="12700" dist="7620" dir="2700000">
              <a:srgbClr val="B7B0A3">
                <a:alpha val="11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87552" y="2130552"/>
            <a:ext cx="786384" cy="256032"/>
          </a:xfrm>
          <a:prstGeom prst="roundRect">
            <a:avLst>
              <a:gd name="adj" fmla="val 17857"/>
            </a:avLst>
          </a:prstGeom>
          <a:solidFill>
            <a:srgbClr val="6F776F"/>
          </a:solidFill>
          <a:ln w="12700">
            <a:solidFill>
              <a:srgbClr val="6F776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2183587"/>
            <a:ext cx="6949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REFERENCE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987552" y="25877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기존 웹 서비스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014984" y="3182112"/>
            <a:ext cx="82296" cy="82296"/>
          </a:xfrm>
          <a:prstGeom prst="ellipse">
            <a:avLst/>
          </a:prstGeom>
          <a:solidFill>
            <a:srgbClr val="6F776F"/>
          </a:solidFill>
          <a:ln w="12700">
            <a:solidFill>
              <a:srgbClr val="6F776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25296" y="309067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운동 장소 추천 화면</a:t>
            </a:r>
            <a:endParaRPr lang="en-US" sz="970" dirty="0"/>
          </a:p>
        </p:txBody>
      </p:sp>
      <p:sp>
        <p:nvSpPr>
          <p:cNvPr id="13" name="Shape 11"/>
          <p:cNvSpPr/>
          <p:nvPr/>
        </p:nvSpPr>
        <p:spPr>
          <a:xfrm>
            <a:off x="1014984" y="3593592"/>
            <a:ext cx="82296" cy="82296"/>
          </a:xfrm>
          <a:prstGeom prst="ellipse">
            <a:avLst/>
          </a:prstGeom>
          <a:solidFill>
            <a:srgbClr val="6F776F"/>
          </a:solidFill>
          <a:ln w="12700">
            <a:solidFill>
              <a:srgbClr val="6F776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350215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운동량 기록·운동방</a:t>
            </a:r>
            <a:endParaRPr lang="en-US" sz="970" dirty="0"/>
          </a:p>
        </p:txBody>
      </p:sp>
      <p:sp>
        <p:nvSpPr>
          <p:cNvPr id="15" name="Shape 13"/>
          <p:cNvSpPr/>
          <p:nvPr/>
        </p:nvSpPr>
        <p:spPr>
          <a:xfrm>
            <a:off x="1014984" y="4005072"/>
            <a:ext cx="82296" cy="82296"/>
          </a:xfrm>
          <a:prstGeom prst="ellipse">
            <a:avLst/>
          </a:prstGeom>
          <a:solidFill>
            <a:srgbClr val="6F776F"/>
          </a:solidFill>
          <a:ln w="12700">
            <a:solidFill>
              <a:srgbClr val="6F776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91363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친구·프로필 사용자 경험</a:t>
            </a:r>
            <a:endParaRPr lang="en-US" sz="970" dirty="0"/>
          </a:p>
        </p:txBody>
      </p:sp>
      <p:sp>
        <p:nvSpPr>
          <p:cNvPr id="17" name="Shape 15"/>
          <p:cNvSpPr/>
          <p:nvPr/>
        </p:nvSpPr>
        <p:spPr>
          <a:xfrm>
            <a:off x="1014984" y="4416552"/>
            <a:ext cx="82296" cy="82296"/>
          </a:xfrm>
          <a:prstGeom prst="ellipse">
            <a:avLst/>
          </a:prstGeom>
          <a:solidFill>
            <a:srgbClr val="6F776F"/>
          </a:solidFill>
          <a:ln w="12700">
            <a:solidFill>
              <a:srgbClr val="6F776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25296" y="432511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추천 API와 화면 연동</a:t>
            </a:r>
            <a:endParaRPr lang="en-US" sz="970" dirty="0"/>
          </a:p>
        </p:txBody>
      </p:sp>
      <p:sp>
        <p:nvSpPr>
          <p:cNvPr id="19" name="Text 17"/>
          <p:cNvSpPr/>
          <p:nvPr/>
        </p:nvSpPr>
        <p:spPr>
          <a:xfrm>
            <a:off x="987552" y="48920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서비스 시연 참고</a:t>
            </a:r>
            <a:endParaRPr lang="en-US" sz="940" dirty="0"/>
          </a:p>
        </p:txBody>
      </p:sp>
      <p:sp>
        <p:nvSpPr>
          <p:cNvPr id="20" name="Shape 18"/>
          <p:cNvSpPr/>
          <p:nvPr/>
        </p:nvSpPr>
        <p:spPr>
          <a:xfrm>
            <a:off x="6172200" y="1920240"/>
            <a:ext cx="5257800" cy="3246120"/>
          </a:xfrm>
          <a:prstGeom prst="roundRect">
            <a:avLst>
              <a:gd name="adj" fmla="val 2254"/>
            </a:avLst>
          </a:prstGeom>
          <a:solidFill>
            <a:srgbClr val="EEF5EF"/>
          </a:solidFill>
          <a:ln w="12700">
            <a:solidFill>
              <a:srgbClr val="B7D0C2"/>
            </a:solidFill>
            <a:prstDash val="solid"/>
          </a:ln>
          <a:effectLst>
            <a:outerShdw sx="100000" sy="100000" kx="0" ky="0" algn="bl" rotWithShape="0" blurRad="12700" dist="7620" dir="2700000">
              <a:srgbClr val="B7B0A3">
                <a:alpha val="11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9944" y="2130552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2F5E4E"/>
          </a:solidFill>
          <a:ln w="12700">
            <a:solidFill>
              <a:srgbClr val="2F5E4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55664" y="2183587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EVALUATION</a:t>
            </a:r>
            <a:endParaRPr lang="en-US" sz="740" dirty="0"/>
          </a:p>
        </p:txBody>
      </p:sp>
      <p:sp>
        <p:nvSpPr>
          <p:cNvPr id="23" name="Text 21"/>
          <p:cNvSpPr/>
          <p:nvPr/>
        </p:nvSpPr>
        <p:spPr>
          <a:xfrm>
            <a:off x="6409944" y="25877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F5E4E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이번 평가 대상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428232" y="309067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5E4E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✓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693408" y="302666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공공데이터 수집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6428232" y="344728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5E4E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✓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693408" y="338328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전처리·표준화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6428232" y="380390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5E4E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✓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693408" y="373989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품질검증·오류 로그</a:t>
            </a:r>
            <a:endParaRPr lang="en-US" sz="980" dirty="0"/>
          </a:p>
        </p:txBody>
      </p:sp>
      <p:sp>
        <p:nvSpPr>
          <p:cNvPr id="30" name="Text 28"/>
          <p:cNvSpPr/>
          <p:nvPr/>
        </p:nvSpPr>
        <p:spPr>
          <a:xfrm>
            <a:off x="6428232" y="416052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5E4E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✓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693408" y="409651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PostgreSQL 적재</a:t>
            </a:r>
            <a:endParaRPr lang="en-US" sz="980" dirty="0"/>
          </a:p>
        </p:txBody>
      </p:sp>
      <p:sp>
        <p:nvSpPr>
          <p:cNvPr id="32" name="Text 30"/>
          <p:cNvSpPr/>
          <p:nvPr/>
        </p:nvSpPr>
        <p:spPr>
          <a:xfrm>
            <a:off x="6428232" y="451713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5E4E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✓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693408" y="445312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APScheduler/cron 반복 실행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2377440" y="5596128"/>
            <a:ext cx="7406640" cy="621792"/>
          </a:xfrm>
          <a:prstGeom prst="roundRect">
            <a:avLst>
              <a:gd name="adj" fmla="val 11765"/>
            </a:avLst>
          </a:prstGeom>
          <a:solidFill>
            <a:srgbClr val="F4E0D4"/>
          </a:solidFill>
          <a:ln w="12700">
            <a:solidFill>
              <a:srgbClr val="E2C6B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70048" y="5806440"/>
            <a:ext cx="6821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C96D4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“자동 학습 데이터 파이프라인” = 수집·전처리·검증·적재 자동화  |  별도 ML 학습 모델은 구현하지 않음</a:t>
            </a:r>
            <a:endParaRPr lang="en-US" sz="980" dirty="0"/>
          </a:p>
        </p:txBody>
      </p:sp>
      <p:sp>
        <p:nvSpPr>
          <p:cNvPr id="36" name="Text 34"/>
          <p:cNvSpPr/>
          <p:nvPr/>
        </p:nvSpPr>
        <p:spPr>
          <a:xfrm>
            <a:off x="11109960" y="649224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9B9F9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04</a:t>
            </a:r>
            <a:endParaRPr lang="en-US" sz="7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F5E4E"/>
          </a:solidFill>
          <a:ln w="12700">
            <a:solidFill>
              <a:srgbClr val="2F5E4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1089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4D7A6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04 · USER FLOW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" y="713232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사용자 경험은 다섯 단계로 이어집니다.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21792" y="1271016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추천으로 끝나지 않고, 운동 기록과 꾸미기·친구 기능으로 다음 행동을 이어갑니다.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21792" y="6537960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9B9F9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MOTIVE · 우심운까</a:t>
            </a:r>
            <a:endParaRPr lang="en-US" sz="680" dirty="0"/>
          </a:p>
        </p:txBody>
      </p:sp>
      <p:sp>
        <p:nvSpPr>
          <p:cNvPr id="7" name="Shape 5"/>
          <p:cNvSpPr/>
          <p:nvPr/>
        </p:nvSpPr>
        <p:spPr>
          <a:xfrm>
            <a:off x="694944" y="2240280"/>
            <a:ext cx="1874520" cy="2331720"/>
          </a:xfrm>
          <a:prstGeom prst="roundRect">
            <a:avLst>
              <a:gd name="adj" fmla="val 3902"/>
            </a:avLst>
          </a:prstGeom>
          <a:solidFill>
            <a:srgbClr val="FFFDF8"/>
          </a:solidFill>
          <a:ln w="12700">
            <a:solidFill>
              <a:srgbClr val="D5D0C5"/>
            </a:solidFill>
            <a:prstDash val="solid"/>
          </a:ln>
          <a:effectLst>
            <a:outerShdw sx="100000" sy="100000" kx="0" ky="0" algn="bl" rotWithShape="0" blurRad="12700" dist="7620" dir="2700000">
              <a:srgbClr val="B7B0A3">
                <a:alpha val="11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53312" y="2487168"/>
            <a:ext cx="548640" cy="548640"/>
          </a:xfrm>
          <a:prstGeom prst="ellipse">
            <a:avLst/>
          </a:prstGeom>
          <a:solidFill>
            <a:srgbClr val="2F5E4E"/>
          </a:solidFill>
          <a:ln w="12700">
            <a:solidFill>
              <a:srgbClr val="2F5E4E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80744" y="2660904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01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896112" y="3246120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HOME</a:t>
            </a: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859536" y="3749040"/>
            <a:ext cx="1545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운동방·오늘의 추천</a:t>
            </a:r>
            <a:endParaRPr lang="en-US" sz="870" dirty="0"/>
          </a:p>
        </p:txBody>
      </p:sp>
      <p:sp>
        <p:nvSpPr>
          <p:cNvPr id="12" name="Shape 10"/>
          <p:cNvSpPr/>
          <p:nvPr/>
        </p:nvSpPr>
        <p:spPr>
          <a:xfrm>
            <a:off x="2606040" y="3383280"/>
            <a:ext cx="246888" cy="0"/>
          </a:xfrm>
          <a:prstGeom prst="line">
            <a:avLst/>
          </a:prstGeom>
          <a:noFill/>
          <a:ln w="15240">
            <a:solidFill>
              <a:srgbClr val="4D7A6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926080" y="2240280"/>
            <a:ext cx="1874520" cy="2331720"/>
          </a:xfrm>
          <a:prstGeom prst="roundRect">
            <a:avLst>
              <a:gd name="adj" fmla="val 3902"/>
            </a:avLst>
          </a:prstGeom>
          <a:solidFill>
            <a:srgbClr val="FFFDF8"/>
          </a:solidFill>
          <a:ln w="12700">
            <a:solidFill>
              <a:srgbClr val="D5D0C5"/>
            </a:solidFill>
            <a:prstDash val="solid"/>
          </a:ln>
          <a:effectLst>
            <a:outerShdw sx="100000" sy="100000" kx="0" ky="0" algn="bl" rotWithShape="0" blurRad="12700" dist="7620" dir="2700000">
              <a:srgbClr val="B7B0A3">
                <a:alpha val="11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584448" y="2487168"/>
            <a:ext cx="548640" cy="548640"/>
          </a:xfrm>
          <a:prstGeom prst="ellipse">
            <a:avLst/>
          </a:prstGeom>
          <a:solidFill>
            <a:srgbClr val="5276A7"/>
          </a:solidFill>
          <a:ln w="12700">
            <a:solidFill>
              <a:srgbClr val="5276A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11880" y="2660904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02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3127248" y="3246120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MOVE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3090672" y="3749040"/>
            <a:ext cx="1545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지역·시간·종목·이동</a:t>
            </a:r>
            <a:endParaRPr lang="en-US" sz="870" dirty="0"/>
          </a:p>
        </p:txBody>
      </p:sp>
      <p:sp>
        <p:nvSpPr>
          <p:cNvPr id="18" name="Shape 16"/>
          <p:cNvSpPr/>
          <p:nvPr/>
        </p:nvSpPr>
        <p:spPr>
          <a:xfrm>
            <a:off x="4837176" y="3383280"/>
            <a:ext cx="246888" cy="0"/>
          </a:xfrm>
          <a:prstGeom prst="line">
            <a:avLst/>
          </a:prstGeom>
          <a:noFill/>
          <a:ln w="15240">
            <a:solidFill>
              <a:srgbClr val="4D7A6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157216" y="2240280"/>
            <a:ext cx="1874520" cy="2331720"/>
          </a:xfrm>
          <a:prstGeom prst="roundRect">
            <a:avLst>
              <a:gd name="adj" fmla="val 3902"/>
            </a:avLst>
          </a:prstGeom>
          <a:solidFill>
            <a:srgbClr val="FFFDF8"/>
          </a:solidFill>
          <a:ln w="12700">
            <a:solidFill>
              <a:srgbClr val="D5D0C5"/>
            </a:solidFill>
            <a:prstDash val="solid"/>
          </a:ln>
          <a:effectLst>
            <a:outerShdw sx="100000" sy="100000" kx="0" ky="0" algn="bl" rotWithShape="0" blurRad="12700" dist="7620" dir="2700000">
              <a:srgbClr val="B7B0A3">
                <a:alpha val="11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815584" y="2487168"/>
            <a:ext cx="548640" cy="548640"/>
          </a:xfrm>
          <a:prstGeom prst="ellipse">
            <a:avLst/>
          </a:prstGeom>
          <a:solidFill>
            <a:srgbClr val="C96D4B"/>
          </a:solidFill>
          <a:ln w="12700">
            <a:solidFill>
              <a:srgbClr val="C96D4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43016" y="2660904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03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5358384" y="3246120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RESULT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5321808" y="3749040"/>
            <a:ext cx="1545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추천 이유·거리·운영정보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7068312" y="3383280"/>
            <a:ext cx="246888" cy="0"/>
          </a:xfrm>
          <a:prstGeom prst="line">
            <a:avLst/>
          </a:prstGeom>
          <a:noFill/>
          <a:ln w="15240">
            <a:solidFill>
              <a:srgbClr val="4D7A6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388352" y="2240280"/>
            <a:ext cx="1874520" cy="2331720"/>
          </a:xfrm>
          <a:prstGeom prst="roundRect">
            <a:avLst>
              <a:gd name="adj" fmla="val 3902"/>
            </a:avLst>
          </a:prstGeom>
          <a:solidFill>
            <a:srgbClr val="FFFDF8"/>
          </a:solidFill>
          <a:ln w="12700">
            <a:solidFill>
              <a:srgbClr val="D5D0C5"/>
            </a:solidFill>
            <a:prstDash val="solid"/>
          </a:ln>
          <a:effectLst>
            <a:outerShdw sx="100000" sy="100000" kx="0" ky="0" algn="bl" rotWithShape="0" blurRad="12700" dist="7620" dir="2700000">
              <a:srgbClr val="B7B0A3">
                <a:alpha val="11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046720" y="2487168"/>
            <a:ext cx="548640" cy="548640"/>
          </a:xfrm>
          <a:prstGeom prst="ellipse">
            <a:avLst/>
          </a:prstGeom>
          <a:solidFill>
            <a:srgbClr val="D9B75B"/>
          </a:solidFill>
          <a:ln w="12700">
            <a:solidFill>
              <a:srgbClr val="D9B75B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74152" y="2660904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04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7589520" y="3246120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LOG</a:t>
            </a:r>
            <a:endParaRPr lang="en-US" sz="1120" dirty="0"/>
          </a:p>
        </p:txBody>
      </p:sp>
      <p:sp>
        <p:nvSpPr>
          <p:cNvPr id="29" name="Text 27"/>
          <p:cNvSpPr/>
          <p:nvPr/>
        </p:nvSpPr>
        <p:spPr>
          <a:xfrm>
            <a:off x="7552944" y="3749040"/>
            <a:ext cx="1545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칼로리 기록·누적</a:t>
            </a:r>
            <a:endParaRPr lang="en-US" sz="870" dirty="0"/>
          </a:p>
        </p:txBody>
      </p:sp>
      <p:sp>
        <p:nvSpPr>
          <p:cNvPr id="30" name="Shape 28"/>
          <p:cNvSpPr/>
          <p:nvPr/>
        </p:nvSpPr>
        <p:spPr>
          <a:xfrm>
            <a:off x="9299448" y="3383280"/>
            <a:ext cx="246888" cy="0"/>
          </a:xfrm>
          <a:prstGeom prst="line">
            <a:avLst/>
          </a:prstGeom>
          <a:noFill/>
          <a:ln w="15240">
            <a:solidFill>
              <a:srgbClr val="4D7A68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619488" y="2240280"/>
            <a:ext cx="1874520" cy="2331720"/>
          </a:xfrm>
          <a:prstGeom prst="roundRect">
            <a:avLst>
              <a:gd name="adj" fmla="val 3902"/>
            </a:avLst>
          </a:prstGeom>
          <a:solidFill>
            <a:srgbClr val="FFFDF8"/>
          </a:solidFill>
          <a:ln w="12700">
            <a:solidFill>
              <a:srgbClr val="D5D0C5"/>
            </a:solidFill>
            <a:prstDash val="solid"/>
          </a:ln>
          <a:effectLst>
            <a:outerShdw sx="100000" sy="100000" kx="0" ky="0" algn="bl" rotWithShape="0" blurRad="12700" dist="7620" dir="2700000">
              <a:srgbClr val="B7B0A3">
                <a:alpha val="11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0277856" y="2487168"/>
            <a:ext cx="548640" cy="548640"/>
          </a:xfrm>
          <a:prstGeom prst="ellipse">
            <a:avLst/>
          </a:prstGeom>
          <a:solidFill>
            <a:srgbClr val="4D7A68"/>
          </a:solidFill>
          <a:ln w="12700">
            <a:solidFill>
              <a:srgbClr val="4D7A68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305288" y="2660904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05</a:t>
            </a:r>
            <a:endParaRPr lang="en-US" sz="880" dirty="0"/>
          </a:p>
        </p:txBody>
      </p:sp>
      <p:sp>
        <p:nvSpPr>
          <p:cNvPr id="34" name="Text 32"/>
          <p:cNvSpPr/>
          <p:nvPr/>
        </p:nvSpPr>
        <p:spPr>
          <a:xfrm>
            <a:off x="9820656" y="3246120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REVISIT</a:t>
            </a:r>
            <a:endParaRPr lang="en-US" sz="1120" dirty="0"/>
          </a:p>
        </p:txBody>
      </p:sp>
      <p:sp>
        <p:nvSpPr>
          <p:cNvPr id="35" name="Text 33"/>
          <p:cNvSpPr/>
          <p:nvPr/>
        </p:nvSpPr>
        <p:spPr>
          <a:xfrm>
            <a:off x="9784080" y="3749040"/>
            <a:ext cx="1545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운동방·친구·프로필</a:t>
            </a:r>
            <a:endParaRPr lang="en-US" sz="870" dirty="0"/>
          </a:p>
        </p:txBody>
      </p:sp>
      <p:sp>
        <p:nvSpPr>
          <p:cNvPr id="36" name="Shape 34"/>
          <p:cNvSpPr/>
          <p:nvPr/>
        </p:nvSpPr>
        <p:spPr>
          <a:xfrm>
            <a:off x="749808" y="5193792"/>
            <a:ext cx="10680192" cy="502920"/>
          </a:xfrm>
          <a:prstGeom prst="roundRect">
            <a:avLst>
              <a:gd name="adj" fmla="val 14545"/>
            </a:avLst>
          </a:prstGeom>
          <a:solidFill>
            <a:srgbClr val="FFFDF8"/>
          </a:solidFill>
          <a:ln w="12700">
            <a:solidFill>
              <a:srgbClr val="E4D9B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87552" y="5340096"/>
            <a:ext cx="10204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시연 순서: 게스트/회원 진입 → 조건 입력 → 추천 카드 확인 → 칼로리 기록 → 운동방 보상 변화 확인</a:t>
            </a:r>
            <a:endParaRPr lang="en-US" sz="920" dirty="0"/>
          </a:p>
        </p:txBody>
      </p:sp>
      <p:sp>
        <p:nvSpPr>
          <p:cNvPr id="38" name="Text 36"/>
          <p:cNvSpPr/>
          <p:nvPr/>
        </p:nvSpPr>
        <p:spPr>
          <a:xfrm>
            <a:off x="11109960" y="649224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9B9F9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05</a:t>
            </a:r>
            <a:endParaRPr lang="en-US" sz="7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F5E4E"/>
          </a:solidFill>
          <a:ln w="12700">
            <a:solidFill>
              <a:srgbClr val="2F5E4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1089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4D7A6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05 · TEAM &amp; WBS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" y="713232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4명이 화면·데이터·백엔드를 나누고, 하나의 서비스로 연결했습니다.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21792" y="1271016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업무는 요구사항부터 통합 테스트까지 9단계로 이어졌습니다.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21792" y="6537960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9B9F9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MOTIVE · 우심운까</a:t>
            </a:r>
            <a:endParaRPr lang="en-US" sz="680" dirty="0"/>
          </a:p>
        </p:txBody>
      </p:sp>
      <p:sp>
        <p:nvSpPr>
          <p:cNvPr id="7" name="Shape 5"/>
          <p:cNvSpPr/>
          <p:nvPr/>
        </p:nvSpPr>
        <p:spPr>
          <a:xfrm>
            <a:off x="685800" y="1901952"/>
            <a:ext cx="2331720" cy="2148840"/>
          </a:xfrm>
          <a:prstGeom prst="roundRect">
            <a:avLst>
              <a:gd name="adj" fmla="val 3404"/>
            </a:avLst>
          </a:prstGeom>
          <a:solidFill>
            <a:srgbClr val="FFFDF8"/>
          </a:solidFill>
          <a:ln w="12700">
            <a:solidFill>
              <a:srgbClr val="D5D0C5"/>
            </a:solidFill>
            <a:prstDash val="solid"/>
          </a:ln>
          <a:effectLst>
            <a:outerShdw sx="100000" sy="100000" kx="0" ky="0" algn="bl" rotWithShape="0" blurRad="12700" dist="7620" dir="2700000">
              <a:srgbClr val="B7B0A3">
                <a:alpha val="11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508760" y="2157984"/>
            <a:ext cx="658368" cy="658368"/>
          </a:xfrm>
          <a:prstGeom prst="ellipse">
            <a:avLst/>
          </a:prstGeom>
          <a:solidFill>
            <a:srgbClr val="5276A7"/>
          </a:solidFill>
          <a:ln w="12700">
            <a:solidFill>
              <a:srgbClr val="5276A7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92608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신경호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914400" y="3264408"/>
            <a:ext cx="1874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5276A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Frontend · 발표자료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960120" y="3602736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서비스 화면 구현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사용자 인터페이스 구성</a:t>
            </a:r>
            <a:endParaRPr lang="en-US" sz="840" dirty="0"/>
          </a:p>
        </p:txBody>
      </p:sp>
      <p:sp>
        <p:nvSpPr>
          <p:cNvPr id="12" name="Shape 10"/>
          <p:cNvSpPr/>
          <p:nvPr/>
        </p:nvSpPr>
        <p:spPr>
          <a:xfrm>
            <a:off x="3291840" y="1901952"/>
            <a:ext cx="2331720" cy="2148840"/>
          </a:xfrm>
          <a:prstGeom prst="roundRect">
            <a:avLst>
              <a:gd name="adj" fmla="val 3404"/>
            </a:avLst>
          </a:prstGeom>
          <a:solidFill>
            <a:srgbClr val="FFFDF8"/>
          </a:solidFill>
          <a:ln w="12700">
            <a:solidFill>
              <a:srgbClr val="D5D0C5"/>
            </a:solidFill>
            <a:prstDash val="solid"/>
          </a:ln>
          <a:effectLst>
            <a:outerShdw sx="100000" sy="100000" kx="0" ky="0" algn="bl" rotWithShape="0" blurRad="12700" dist="7620" dir="2700000">
              <a:srgbClr val="B7B0A3">
                <a:alpha val="11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0" y="2157984"/>
            <a:ext cx="658368" cy="658368"/>
          </a:xfrm>
          <a:prstGeom prst="ellipse">
            <a:avLst/>
          </a:prstGeom>
          <a:solidFill>
            <a:srgbClr val="C96D4B"/>
          </a:solidFill>
          <a:ln w="12700">
            <a:solidFill>
              <a:srgbClr val="C96D4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0440" y="292608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류지예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3520440" y="3264408"/>
            <a:ext cx="1874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C96D4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Frontend · 발표자료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3566160" y="3602736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서비스 화면 구현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사용자 경험 구성</a:t>
            </a:r>
            <a:endParaRPr lang="en-US" sz="840" dirty="0"/>
          </a:p>
        </p:txBody>
      </p:sp>
      <p:sp>
        <p:nvSpPr>
          <p:cNvPr id="17" name="Shape 15"/>
          <p:cNvSpPr/>
          <p:nvPr/>
        </p:nvSpPr>
        <p:spPr>
          <a:xfrm>
            <a:off x="5897880" y="1901952"/>
            <a:ext cx="2331720" cy="2148840"/>
          </a:xfrm>
          <a:prstGeom prst="roundRect">
            <a:avLst>
              <a:gd name="adj" fmla="val 3404"/>
            </a:avLst>
          </a:prstGeom>
          <a:solidFill>
            <a:srgbClr val="FFFDF8"/>
          </a:solidFill>
          <a:ln w="12700">
            <a:solidFill>
              <a:srgbClr val="D5D0C5"/>
            </a:solidFill>
            <a:prstDash val="solid"/>
          </a:ln>
          <a:effectLst>
            <a:outerShdw sx="100000" sy="100000" kx="0" ky="0" algn="bl" rotWithShape="0" blurRad="12700" dist="7620" dir="2700000">
              <a:srgbClr val="B7B0A3">
                <a:alpha val="11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20840" y="2157984"/>
            <a:ext cx="658368" cy="658368"/>
          </a:xfrm>
          <a:prstGeom prst="ellipse">
            <a:avLst/>
          </a:prstGeom>
          <a:solidFill>
            <a:srgbClr val="2F5E4E"/>
          </a:solidFill>
          <a:ln w="12700">
            <a:solidFill>
              <a:srgbClr val="2F5E4E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292608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백선영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6126480" y="3264408"/>
            <a:ext cx="1874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2F5E4E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Data Pipeline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6172200" y="3602736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공공데이터 수집·전처리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품질검증·파이프라인</a:t>
            </a:r>
            <a:endParaRPr lang="en-US" sz="840" dirty="0"/>
          </a:p>
        </p:txBody>
      </p:sp>
      <p:sp>
        <p:nvSpPr>
          <p:cNvPr id="22" name="Shape 20"/>
          <p:cNvSpPr/>
          <p:nvPr/>
        </p:nvSpPr>
        <p:spPr>
          <a:xfrm>
            <a:off x="8503920" y="1901952"/>
            <a:ext cx="2331720" cy="2148840"/>
          </a:xfrm>
          <a:prstGeom prst="roundRect">
            <a:avLst>
              <a:gd name="adj" fmla="val 3404"/>
            </a:avLst>
          </a:prstGeom>
          <a:solidFill>
            <a:srgbClr val="FFFDF8"/>
          </a:solidFill>
          <a:ln w="12700">
            <a:solidFill>
              <a:srgbClr val="D5D0C5"/>
            </a:solidFill>
            <a:prstDash val="solid"/>
          </a:ln>
          <a:effectLst>
            <a:outerShdw sx="100000" sy="100000" kx="0" ky="0" algn="bl" rotWithShape="0" blurRad="12700" dist="7620" dir="2700000">
              <a:srgbClr val="B7B0A3">
                <a:alpha val="11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326880" y="2157984"/>
            <a:ext cx="658368" cy="658368"/>
          </a:xfrm>
          <a:prstGeom prst="ellipse">
            <a:avLst/>
          </a:prstGeom>
          <a:solidFill>
            <a:srgbClr val="D9B75B"/>
          </a:solidFill>
          <a:ln w="12700">
            <a:solidFill>
              <a:srgbClr val="D9B75B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732520" y="292608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김형준</a:t>
            </a:r>
            <a:endParaRPr lang="en-US" sz="1220" dirty="0"/>
          </a:p>
        </p:txBody>
      </p:sp>
      <p:sp>
        <p:nvSpPr>
          <p:cNvPr id="25" name="Text 23"/>
          <p:cNvSpPr/>
          <p:nvPr/>
        </p:nvSpPr>
        <p:spPr>
          <a:xfrm>
            <a:off x="8732520" y="3264408"/>
            <a:ext cx="1874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D9B7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Backend · Integration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8778240" y="3602736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Django 백엔드·연동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배포 설정·프로젝트 전반</a:t>
            </a:r>
            <a:endParaRPr lang="en-US" sz="840" dirty="0"/>
          </a:p>
        </p:txBody>
      </p:sp>
      <p:sp>
        <p:nvSpPr>
          <p:cNvPr id="27" name="Text 25"/>
          <p:cNvSpPr/>
          <p:nvPr/>
        </p:nvSpPr>
        <p:spPr>
          <a:xfrm>
            <a:off x="685800" y="44165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2F5E4E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WBS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1042416" y="4864608"/>
            <a:ext cx="292608" cy="292608"/>
          </a:xfrm>
          <a:prstGeom prst="ellipse">
            <a:avLst/>
          </a:prstGeom>
          <a:solidFill>
            <a:srgbClr val="5276A7"/>
          </a:solidFill>
          <a:ln w="12700">
            <a:solidFill>
              <a:srgbClr val="5276A7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51560" y="4928616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685800" y="532180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요구사항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1344168" y="5010912"/>
            <a:ext cx="585216" cy="0"/>
          </a:xfrm>
          <a:prstGeom prst="line">
            <a:avLst/>
          </a:prstGeom>
          <a:noFill/>
          <a:ln w="13970">
            <a:solidFill>
              <a:srgbClr val="D5D0C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86000" y="4864608"/>
            <a:ext cx="292608" cy="292608"/>
          </a:xfrm>
          <a:prstGeom prst="ellipse">
            <a:avLst/>
          </a:prstGeom>
          <a:solidFill>
            <a:srgbClr val="2F5E4E"/>
          </a:solidFill>
          <a:ln w="12700">
            <a:solidFill>
              <a:srgbClr val="2F5E4E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95144" y="4928616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1929384" y="532180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수집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587752" y="5010912"/>
            <a:ext cx="585216" cy="0"/>
          </a:xfrm>
          <a:prstGeom prst="line">
            <a:avLst/>
          </a:prstGeom>
          <a:noFill/>
          <a:ln w="13970">
            <a:solidFill>
              <a:srgbClr val="D5D0C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529584" y="4864608"/>
            <a:ext cx="292608" cy="292608"/>
          </a:xfrm>
          <a:prstGeom prst="ellipse">
            <a:avLst/>
          </a:prstGeom>
          <a:solidFill>
            <a:srgbClr val="C96D4B"/>
          </a:solidFill>
          <a:ln w="12700">
            <a:solidFill>
              <a:srgbClr val="C96D4B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38728" y="4928616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3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3172968" y="532180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전처리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831336" y="5010912"/>
            <a:ext cx="585216" cy="0"/>
          </a:xfrm>
          <a:prstGeom prst="line">
            <a:avLst/>
          </a:prstGeom>
          <a:noFill/>
          <a:ln w="13970">
            <a:solidFill>
              <a:srgbClr val="D5D0C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73168" y="4864608"/>
            <a:ext cx="292608" cy="292608"/>
          </a:xfrm>
          <a:prstGeom prst="ellipse">
            <a:avLst/>
          </a:prstGeom>
          <a:solidFill>
            <a:srgbClr val="B6534C"/>
          </a:solidFill>
          <a:ln w="12700">
            <a:solidFill>
              <a:srgbClr val="B6534C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82312" y="4928616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4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4416552" y="532180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DQ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5074920" y="5010912"/>
            <a:ext cx="585216" cy="0"/>
          </a:xfrm>
          <a:prstGeom prst="line">
            <a:avLst/>
          </a:prstGeom>
          <a:noFill/>
          <a:ln w="13970">
            <a:solidFill>
              <a:srgbClr val="D5D0C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16752" y="4864608"/>
            <a:ext cx="292608" cy="292608"/>
          </a:xfrm>
          <a:prstGeom prst="ellipse">
            <a:avLst/>
          </a:prstGeom>
          <a:solidFill>
            <a:srgbClr val="4D7A68"/>
          </a:solidFill>
          <a:ln w="12700">
            <a:solidFill>
              <a:srgbClr val="4D7A68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025896" y="4928616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5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5660136" y="532180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DB 적재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6318504" y="5010912"/>
            <a:ext cx="585216" cy="0"/>
          </a:xfrm>
          <a:prstGeom prst="line">
            <a:avLst/>
          </a:prstGeom>
          <a:noFill/>
          <a:ln w="13970">
            <a:solidFill>
              <a:srgbClr val="D5D0C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260336" y="4864608"/>
            <a:ext cx="292608" cy="292608"/>
          </a:xfrm>
          <a:prstGeom prst="ellipse">
            <a:avLst/>
          </a:prstGeom>
          <a:solidFill>
            <a:srgbClr val="5276A7"/>
          </a:solidFill>
          <a:ln w="12700">
            <a:solidFill>
              <a:srgbClr val="5276A7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69480" y="4928616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6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6903720" y="532180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추천 연동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7562088" y="5010912"/>
            <a:ext cx="585216" cy="0"/>
          </a:xfrm>
          <a:prstGeom prst="line">
            <a:avLst/>
          </a:prstGeom>
          <a:noFill/>
          <a:ln w="13970">
            <a:solidFill>
              <a:srgbClr val="D5D0C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503920" y="4864608"/>
            <a:ext cx="292608" cy="292608"/>
          </a:xfrm>
          <a:prstGeom prst="ellipse">
            <a:avLst/>
          </a:prstGeom>
          <a:solidFill>
            <a:srgbClr val="C96D4B"/>
          </a:solidFill>
          <a:ln w="12700">
            <a:solidFill>
              <a:srgbClr val="C96D4B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513064" y="4928616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7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8147304" y="532180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화면 UX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8805672" y="5010912"/>
            <a:ext cx="585216" cy="0"/>
          </a:xfrm>
          <a:prstGeom prst="line">
            <a:avLst/>
          </a:prstGeom>
          <a:noFill/>
          <a:ln w="13970">
            <a:solidFill>
              <a:srgbClr val="D5D0C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747504" y="4864608"/>
            <a:ext cx="292608" cy="292608"/>
          </a:xfrm>
          <a:prstGeom prst="ellipse">
            <a:avLst/>
          </a:prstGeom>
          <a:solidFill>
            <a:srgbClr val="D9B75B"/>
          </a:solidFill>
          <a:ln w="12700">
            <a:solidFill>
              <a:srgbClr val="D9B75B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756648" y="4928616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8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9390888" y="532180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스케줄·로그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10049256" y="5010912"/>
            <a:ext cx="585216" cy="0"/>
          </a:xfrm>
          <a:prstGeom prst="line">
            <a:avLst/>
          </a:prstGeom>
          <a:noFill/>
          <a:ln w="13970">
            <a:solidFill>
              <a:srgbClr val="D5D0C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991088" y="4864608"/>
            <a:ext cx="292608" cy="292608"/>
          </a:xfrm>
          <a:prstGeom prst="ellipse">
            <a:avLst/>
          </a:prstGeom>
          <a:solidFill>
            <a:srgbClr val="173B31"/>
          </a:solidFill>
          <a:ln w="12700">
            <a:solidFill>
              <a:srgbClr val="173B31">
                <a:alpha val="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1000232" y="4928616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9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10634472" y="532180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통합 시연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11109960" y="649224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9B9F9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06</a:t>
            </a:r>
            <a:endParaRPr lang="en-US" sz="7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F5E4E"/>
          </a:solidFill>
          <a:ln w="12700">
            <a:solidFill>
              <a:srgbClr val="2F5E4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1089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4D7A6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06 ·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" y="713232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서비스와 파이프라인이 연결되는 전체 구조입니다.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21792" y="1271016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외부 데이터를 독립 파이프라인에서 다루고, 검증된 결과를 DB와 Django 추천 서비스가 사용합니다.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21792" y="6537960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9B9F9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MOTIVE · 우심운까</a:t>
            </a:r>
            <a:endParaRPr lang="en-US" sz="680" dirty="0"/>
          </a:p>
        </p:txBody>
      </p:sp>
      <p:sp>
        <p:nvSpPr>
          <p:cNvPr id="7" name="Shape 5"/>
          <p:cNvSpPr/>
          <p:nvPr/>
        </p:nvSpPr>
        <p:spPr>
          <a:xfrm>
            <a:off x="658368" y="1984248"/>
            <a:ext cx="1874520" cy="3246120"/>
          </a:xfrm>
          <a:prstGeom prst="roundRect">
            <a:avLst>
              <a:gd name="adj" fmla="val 3902"/>
            </a:avLst>
          </a:prstGeom>
          <a:solidFill>
            <a:srgbClr val="FFFDF8"/>
          </a:solidFill>
          <a:ln w="12700">
            <a:solidFill>
              <a:srgbClr val="D5D0C5"/>
            </a:solidFill>
            <a:prstDash val="solid"/>
          </a:ln>
          <a:effectLst>
            <a:outerShdw sx="100000" sy="100000" kx="0" ky="0" algn="bl" rotWithShape="0" blurRad="12700" dist="7620" dir="2700000">
              <a:srgbClr val="B7B0A3">
                <a:alpha val="11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2194560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C96D4B"/>
          </a:solidFill>
          <a:ln w="12700">
            <a:solidFill>
              <a:srgbClr val="C96D4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247595"/>
            <a:ext cx="5669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SOURCES</a:t>
            </a:r>
            <a:endParaRPr lang="en-US" sz="740" dirty="0"/>
          </a:p>
        </p:txBody>
      </p:sp>
      <p:sp>
        <p:nvSpPr>
          <p:cNvPr id="10" name="Shape 8"/>
          <p:cNvSpPr/>
          <p:nvPr/>
        </p:nvSpPr>
        <p:spPr>
          <a:xfrm>
            <a:off x="868680" y="2660904"/>
            <a:ext cx="1444752" cy="384048"/>
          </a:xfrm>
          <a:prstGeom prst="roundRect">
            <a:avLst>
              <a:gd name="adj" fmla="val 19048"/>
            </a:avLst>
          </a:prstGeom>
          <a:solidFill>
            <a:srgbClr val="FAF6ED"/>
          </a:solidFill>
          <a:ln w="12700">
            <a:solidFill>
              <a:srgbClr val="E6E0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761488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체육시설 API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868680" y="3209544"/>
            <a:ext cx="1444752" cy="384048"/>
          </a:xfrm>
          <a:prstGeom prst="roundRect">
            <a:avLst>
              <a:gd name="adj" fmla="val 19048"/>
            </a:avLst>
          </a:prstGeom>
          <a:solidFill>
            <a:srgbClr val="FAF6ED"/>
          </a:solidFill>
          <a:ln w="12700">
            <a:solidFill>
              <a:srgbClr val="E6E0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310128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기상청 API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868680" y="3758184"/>
            <a:ext cx="1444752" cy="384048"/>
          </a:xfrm>
          <a:prstGeom prst="roundRect">
            <a:avLst>
              <a:gd name="adj" fmla="val 19048"/>
            </a:avLst>
          </a:prstGeom>
          <a:solidFill>
            <a:srgbClr val="FAF6ED"/>
          </a:solidFill>
          <a:ln w="12700">
            <a:solidFill>
              <a:srgbClr val="E6E0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858768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에어코리아 API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868680" y="4306824"/>
            <a:ext cx="1444752" cy="384048"/>
          </a:xfrm>
          <a:prstGeom prst="roundRect">
            <a:avLst>
              <a:gd name="adj" fmla="val 19048"/>
            </a:avLst>
          </a:prstGeom>
          <a:solidFill>
            <a:srgbClr val="F4E0D4"/>
          </a:solidFill>
          <a:ln w="12700">
            <a:solidFill>
              <a:srgbClr val="E6E0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407408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공개 시설 페이지</a:t>
            </a:r>
            <a:endParaRPr lang="en-US" sz="830" dirty="0"/>
          </a:p>
        </p:txBody>
      </p:sp>
      <p:sp>
        <p:nvSpPr>
          <p:cNvPr id="18" name="Shape 16"/>
          <p:cNvSpPr/>
          <p:nvPr/>
        </p:nvSpPr>
        <p:spPr>
          <a:xfrm>
            <a:off x="2889504" y="1984248"/>
            <a:ext cx="2834640" cy="3246120"/>
          </a:xfrm>
          <a:prstGeom prst="roundRect">
            <a:avLst>
              <a:gd name="adj" fmla="val 2581"/>
            </a:avLst>
          </a:prstGeom>
          <a:solidFill>
            <a:srgbClr val="EEF5EF"/>
          </a:solidFill>
          <a:ln w="12700">
            <a:solidFill>
              <a:srgbClr val="BBD0C2"/>
            </a:solidFill>
            <a:prstDash val="solid"/>
          </a:ln>
          <a:effectLst>
            <a:outerShdw sx="100000" sy="100000" kx="0" ky="0" algn="bl" rotWithShape="0" blurRad="12700" dist="7620" dir="2700000">
              <a:srgbClr val="B7B0A3">
                <a:alpha val="11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118104" y="2194560"/>
            <a:ext cx="704088" cy="256032"/>
          </a:xfrm>
          <a:prstGeom prst="roundRect">
            <a:avLst>
              <a:gd name="adj" fmla="val 17857"/>
            </a:avLst>
          </a:prstGeom>
          <a:solidFill>
            <a:srgbClr val="2F5E4E"/>
          </a:solidFill>
          <a:ln w="12700">
            <a:solidFill>
              <a:srgbClr val="2F5E4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63824" y="2247595"/>
            <a:ext cx="612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PIPELINE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3191256" y="2743200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01  RAW 보존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3191256" y="3172968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02  전처리·표준화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191256" y="3602736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03  품질검증</a:t>
            </a:r>
            <a:endParaRPr lang="en-US" sz="930" dirty="0"/>
          </a:p>
        </p:txBody>
      </p:sp>
      <p:sp>
        <p:nvSpPr>
          <p:cNvPr id="24" name="Text 22"/>
          <p:cNvSpPr/>
          <p:nvPr/>
        </p:nvSpPr>
        <p:spPr>
          <a:xfrm>
            <a:off x="3191256" y="4032504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04  PostgreSQL 적재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3191256" y="4462272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05  스케줄·로그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6126480" y="1984248"/>
            <a:ext cx="1920240" cy="3246120"/>
          </a:xfrm>
          <a:prstGeom prst="roundRect">
            <a:avLst>
              <a:gd name="adj" fmla="val 3810"/>
            </a:avLst>
          </a:prstGeom>
          <a:solidFill>
            <a:srgbClr val="FFFDF8"/>
          </a:solidFill>
          <a:ln w="12700">
            <a:solidFill>
              <a:srgbClr val="D5D0C5"/>
            </a:solidFill>
            <a:prstDash val="solid"/>
          </a:ln>
          <a:effectLst>
            <a:outerShdw sx="100000" sy="100000" kx="0" ky="0" algn="bl" rotWithShape="0" blurRad="12700" dist="7620" dir="2700000">
              <a:srgbClr val="B7B0A3">
                <a:alpha val="11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355080" y="2194560"/>
            <a:ext cx="502920" cy="256032"/>
          </a:xfrm>
          <a:prstGeom prst="roundRect">
            <a:avLst>
              <a:gd name="adj" fmla="val 17857"/>
            </a:avLst>
          </a:prstGeom>
          <a:solidFill>
            <a:srgbClr val="5276A7"/>
          </a:solidFill>
          <a:ln w="12700">
            <a:solidFill>
              <a:srgbClr val="5276A7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2247595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DATA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6355080" y="2743200"/>
            <a:ext cx="14264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PostgreSQL</a:t>
            </a:r>
            <a:endParaRPr lang="en-US" sz="1280" dirty="0"/>
          </a:p>
        </p:txBody>
      </p:sp>
      <p:sp>
        <p:nvSpPr>
          <p:cNvPr id="30" name="Text 28"/>
          <p:cNvSpPr/>
          <p:nvPr/>
        </p:nvSpPr>
        <p:spPr>
          <a:xfrm>
            <a:off x="6355080" y="3136392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276A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PostGIS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46520" y="3685032"/>
            <a:ext cx="658368" cy="329184"/>
          </a:xfrm>
          <a:prstGeom prst="roundRect">
            <a:avLst>
              <a:gd name="adj" fmla="val 19444"/>
            </a:avLst>
          </a:prstGeom>
          <a:solidFill>
            <a:srgbClr val="FAF6ED"/>
          </a:solidFill>
          <a:ln w="10160">
            <a:solidFill>
              <a:srgbClr val="E6E0D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01384" y="37673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raw.*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7168896" y="3685032"/>
            <a:ext cx="694944" cy="329184"/>
          </a:xfrm>
          <a:prstGeom prst="roundRect">
            <a:avLst>
              <a:gd name="adj" fmla="val 19444"/>
            </a:avLst>
          </a:prstGeom>
          <a:solidFill>
            <a:srgbClr val="EEF5EF"/>
          </a:solidFill>
          <a:ln w="10160">
            <a:solidFill>
              <a:srgbClr val="E6E0D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23760" y="3767328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2F5E4E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processed.*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6428232" y="4251960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회원 · 운동량 · 시설 ·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기상 · 대기질 · 위치</a:t>
            </a:r>
            <a:endParaRPr lang="en-US" sz="840" dirty="0"/>
          </a:p>
        </p:txBody>
      </p:sp>
      <p:sp>
        <p:nvSpPr>
          <p:cNvPr id="36" name="Shape 34"/>
          <p:cNvSpPr/>
          <p:nvPr/>
        </p:nvSpPr>
        <p:spPr>
          <a:xfrm>
            <a:off x="8458200" y="1984248"/>
            <a:ext cx="3017520" cy="1435608"/>
          </a:xfrm>
          <a:prstGeom prst="roundRect">
            <a:avLst>
              <a:gd name="adj" fmla="val 5096"/>
            </a:avLst>
          </a:prstGeom>
          <a:solidFill>
            <a:srgbClr val="FFFDF8"/>
          </a:solidFill>
          <a:ln w="12700">
            <a:solidFill>
              <a:srgbClr val="D5D0C5"/>
            </a:solidFill>
            <a:prstDash val="solid"/>
          </a:ln>
          <a:effectLst>
            <a:outerShdw sx="100000" sy="100000" kx="0" ky="0" algn="bl" rotWithShape="0" blurRad="12700" dist="7620" dir="2700000">
              <a:srgbClr val="B7B0A3">
                <a:alpha val="11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686800" y="2194560"/>
            <a:ext cx="603504" cy="256032"/>
          </a:xfrm>
          <a:prstGeom prst="roundRect">
            <a:avLst>
              <a:gd name="adj" fmla="val 17857"/>
            </a:avLst>
          </a:prstGeom>
          <a:solidFill>
            <a:srgbClr val="173B31"/>
          </a:solidFill>
          <a:ln w="12700">
            <a:solidFill>
              <a:srgbClr val="173B31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732520" y="2247595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DJANGO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8705088" y="274320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Template · Session · API</a:t>
            </a:r>
            <a:endParaRPr lang="en-US" sz="1140" dirty="0"/>
          </a:p>
        </p:txBody>
      </p:sp>
      <p:sp>
        <p:nvSpPr>
          <p:cNvPr id="40" name="Shape 38"/>
          <p:cNvSpPr/>
          <p:nvPr/>
        </p:nvSpPr>
        <p:spPr>
          <a:xfrm>
            <a:off x="8458200" y="3794760"/>
            <a:ext cx="3017520" cy="1435608"/>
          </a:xfrm>
          <a:prstGeom prst="roundRect">
            <a:avLst>
              <a:gd name="adj" fmla="val 5096"/>
            </a:avLst>
          </a:prstGeom>
          <a:solidFill>
            <a:srgbClr val="FFFDF8"/>
          </a:solidFill>
          <a:ln w="12700">
            <a:solidFill>
              <a:srgbClr val="D5D0C5"/>
            </a:solidFill>
            <a:prstDash val="solid"/>
          </a:ln>
          <a:effectLst>
            <a:outerShdw sx="100000" sy="100000" kx="0" ky="0" algn="bl" rotWithShape="0" blurRad="12700" dist="7620" dir="2700000">
              <a:srgbClr val="B7B0A3">
                <a:alpha val="11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686800" y="4005072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C96D4B"/>
          </a:solidFill>
          <a:ln w="12700">
            <a:solidFill>
              <a:srgbClr val="C96D4B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732520" y="4058107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BROWSER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8705088" y="4553712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HTML · CSS · JavaScript</a:t>
            </a:r>
            <a:endParaRPr lang="en-US" sz="1140" dirty="0"/>
          </a:p>
        </p:txBody>
      </p:sp>
      <p:sp>
        <p:nvSpPr>
          <p:cNvPr id="44" name="Text 42"/>
          <p:cNvSpPr/>
          <p:nvPr/>
        </p:nvSpPr>
        <p:spPr>
          <a:xfrm>
            <a:off x="8705088" y="4892040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일부 데모 상태는 localStorage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2542032" y="3456432"/>
            <a:ext cx="292608" cy="0"/>
          </a:xfrm>
          <a:prstGeom prst="line">
            <a:avLst/>
          </a:prstGeom>
          <a:noFill/>
          <a:ln w="20320">
            <a:solidFill>
              <a:srgbClr val="C96D4B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5742432" y="3456432"/>
            <a:ext cx="329184" cy="0"/>
          </a:xfrm>
          <a:prstGeom prst="line">
            <a:avLst/>
          </a:prstGeom>
          <a:noFill/>
          <a:ln w="20320">
            <a:solidFill>
              <a:srgbClr val="2F5E4E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8074152" y="2788920"/>
            <a:ext cx="320040" cy="0"/>
          </a:xfrm>
          <a:prstGeom prst="line">
            <a:avLst/>
          </a:prstGeom>
          <a:noFill/>
          <a:ln w="20320">
            <a:solidFill>
              <a:srgbClr val="5276A7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9966960" y="3456432"/>
            <a:ext cx="0" cy="283464"/>
          </a:xfrm>
          <a:prstGeom prst="line">
            <a:avLst/>
          </a:prstGeom>
          <a:noFill/>
          <a:ln w="17780">
            <a:solidFill>
              <a:srgbClr val="173B31"/>
            </a:solidFill>
            <a:prstDash val="solid"/>
            <a:tailEnd type="triangle"/>
          </a:ln>
        </p:spPr>
      </p:sp>
      <p:sp>
        <p:nvSpPr>
          <p:cNvPr id="49" name="Text 47"/>
          <p:cNvSpPr/>
          <p:nvPr/>
        </p:nvSpPr>
        <p:spPr>
          <a:xfrm>
            <a:off x="11109960" y="649224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9B9F9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07</a:t>
            </a:r>
            <a:endParaRPr lang="en-US" sz="7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F5E4E"/>
          </a:solidFill>
          <a:ln w="12700">
            <a:solidFill>
              <a:srgbClr val="2F5E4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1089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4D7A6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07 · DATA SOURCES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" y="713232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추천을 만드는 데이터는 네 가지 출처에서 옵니다.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21792" y="1271016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각 원천은 수집 목적과 결과 위치를 구분해 관리합니다.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21792" y="6537960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9B9F9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MOTIVE · 우심운까</a:t>
            </a:r>
            <a:endParaRPr lang="en-US" sz="680" dirty="0"/>
          </a:p>
        </p:txBody>
      </p:sp>
      <p:sp>
        <p:nvSpPr>
          <p:cNvPr id="7" name="Shape 5"/>
          <p:cNvSpPr/>
          <p:nvPr/>
        </p:nvSpPr>
        <p:spPr>
          <a:xfrm>
            <a:off x="685800" y="1965960"/>
            <a:ext cx="2377440" cy="3291840"/>
          </a:xfrm>
          <a:prstGeom prst="roundRect">
            <a:avLst>
              <a:gd name="adj" fmla="val 3077"/>
            </a:avLst>
          </a:prstGeom>
          <a:solidFill>
            <a:srgbClr val="FFFDF8"/>
          </a:solidFill>
          <a:ln w="12700">
            <a:solidFill>
              <a:srgbClr val="D5D0C5"/>
            </a:solidFill>
            <a:prstDash val="solid"/>
          </a:ln>
          <a:effectLst>
            <a:outerShdw sx="100000" sy="100000" kx="0" ky="0" algn="bl" rotWithShape="0" blurRad="12700" dist="7620" dir="2700000">
              <a:srgbClr val="B7B0A3">
                <a:alpha val="11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1965960"/>
            <a:ext cx="2377440" cy="64008"/>
          </a:xfrm>
          <a:prstGeom prst="rect">
            <a:avLst/>
          </a:prstGeom>
          <a:solidFill>
            <a:srgbClr val="2F5E4E"/>
          </a:solidFill>
          <a:ln w="12700">
            <a:solidFill>
              <a:srgbClr val="2F5E4E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2313432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전국체육시설 API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50392" y="306324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F5E4E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주요 데이터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850392" y="3328416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시설명 · 유형 · 주소 · 좌표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850392" y="3959352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F5E4E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서비스 활용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850392" y="4224528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운동시설 후보 · 거리 계산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850392" y="4828032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2F5E4E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output/facilities.csv · DB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3493008" y="1965960"/>
            <a:ext cx="2377440" cy="3291840"/>
          </a:xfrm>
          <a:prstGeom prst="roundRect">
            <a:avLst>
              <a:gd name="adj" fmla="val 3077"/>
            </a:avLst>
          </a:prstGeom>
          <a:solidFill>
            <a:srgbClr val="FFFDF8"/>
          </a:solidFill>
          <a:ln w="12700">
            <a:solidFill>
              <a:srgbClr val="D5D0C5"/>
            </a:solidFill>
            <a:prstDash val="solid"/>
          </a:ln>
          <a:effectLst>
            <a:outerShdw sx="100000" sy="100000" kx="0" ky="0" algn="bl" rotWithShape="0" blurRad="12700" dist="7620" dir="2700000">
              <a:srgbClr val="B7B0A3">
                <a:alpha val="11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493008" y="1965960"/>
            <a:ext cx="2377440" cy="64008"/>
          </a:xfrm>
          <a:prstGeom prst="rect">
            <a:avLst/>
          </a:prstGeom>
          <a:solidFill>
            <a:srgbClr val="5276A7"/>
          </a:solidFill>
          <a:ln w="12700">
            <a:solidFill>
              <a:srgbClr val="5276A7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0" y="2313432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기상청 API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0" y="306324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276A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주요 데이터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657600" y="3328416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기온 · 습도 · 강수 · 풍속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3657600" y="3959352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276A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서비스 활용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657600" y="4224528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실외 운동 적합도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3657600" y="4828032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5276A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output/raw/weather.json · DB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6300216" y="1965960"/>
            <a:ext cx="2377440" cy="3291840"/>
          </a:xfrm>
          <a:prstGeom prst="roundRect">
            <a:avLst>
              <a:gd name="adj" fmla="val 3077"/>
            </a:avLst>
          </a:prstGeom>
          <a:solidFill>
            <a:srgbClr val="FFFDF8"/>
          </a:solidFill>
          <a:ln w="12700">
            <a:solidFill>
              <a:srgbClr val="D5D0C5"/>
            </a:solidFill>
            <a:prstDash val="solid"/>
          </a:ln>
          <a:effectLst>
            <a:outerShdw sx="100000" sy="100000" kx="0" ky="0" algn="bl" rotWithShape="0" blurRad="12700" dist="7620" dir="2700000">
              <a:srgbClr val="B7B0A3">
                <a:alpha val="11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00216" y="1965960"/>
            <a:ext cx="2377440" cy="64008"/>
          </a:xfrm>
          <a:prstGeom prst="rect">
            <a:avLst/>
          </a:prstGeom>
          <a:solidFill>
            <a:srgbClr val="D9B75B"/>
          </a:solidFill>
          <a:ln w="12700">
            <a:solidFill>
              <a:srgbClr val="D9B75B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64808" y="2313432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에어코리아 API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64808" y="306324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D9B7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주요 데이터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464808" y="3328416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PM10 · PM2.5 · 측정시각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6464808" y="3959352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D9B7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서비스 활용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464808" y="4224528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실내·실외 우선순위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6464808" y="4828032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D9B7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output/raw/air.json · DB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9107424" y="1965960"/>
            <a:ext cx="2377440" cy="3291840"/>
          </a:xfrm>
          <a:prstGeom prst="roundRect">
            <a:avLst>
              <a:gd name="adj" fmla="val 3077"/>
            </a:avLst>
          </a:prstGeom>
          <a:solidFill>
            <a:srgbClr val="FFFDF8"/>
          </a:solidFill>
          <a:ln w="12700">
            <a:solidFill>
              <a:srgbClr val="D5D0C5"/>
            </a:solidFill>
            <a:prstDash val="solid"/>
          </a:ln>
          <a:effectLst>
            <a:outerShdw sx="100000" sy="100000" kx="0" ky="0" algn="bl" rotWithShape="0" blurRad="12700" dist="7620" dir="2700000">
              <a:srgbClr val="B7B0A3">
                <a:alpha val="11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107424" y="1965960"/>
            <a:ext cx="2377440" cy="64008"/>
          </a:xfrm>
          <a:prstGeom prst="rect">
            <a:avLst/>
          </a:prstGeom>
          <a:solidFill>
            <a:srgbClr val="C96D4B"/>
          </a:solidFill>
          <a:ln w="12700">
            <a:solidFill>
              <a:srgbClr val="C96D4B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272016" y="2313432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공개 시설 페이지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272016" y="306324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C96D4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주요 데이터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9272016" y="3328416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휴무 · 운영시간 문구</a:t>
            </a:r>
            <a:endParaRPr lang="en-US" sz="880" dirty="0"/>
          </a:p>
        </p:txBody>
      </p:sp>
      <p:sp>
        <p:nvSpPr>
          <p:cNvPr id="36" name="Text 34"/>
          <p:cNvSpPr/>
          <p:nvPr/>
        </p:nvSpPr>
        <p:spPr>
          <a:xfrm>
            <a:off x="9272016" y="3959352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C96D4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서비스 활용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9272016" y="4224528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추천 카드 운영정보 보완</a:t>
            </a:r>
            <a:endParaRPr lang="en-US" sz="880" dirty="0"/>
          </a:p>
        </p:txBody>
      </p:sp>
      <p:sp>
        <p:nvSpPr>
          <p:cNvPr id="38" name="Text 36"/>
          <p:cNvSpPr/>
          <p:nvPr/>
        </p:nvSpPr>
        <p:spPr>
          <a:xfrm>
            <a:off x="9272016" y="4828032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C96D4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facility_enrichment/</a:t>
            </a:r>
            <a:endParaRPr lang="en-US" sz="780" dirty="0"/>
          </a:p>
        </p:txBody>
      </p:sp>
      <p:sp>
        <p:nvSpPr>
          <p:cNvPr id="39" name="Shape 37"/>
          <p:cNvSpPr/>
          <p:nvPr/>
        </p:nvSpPr>
        <p:spPr>
          <a:xfrm>
            <a:off x="749808" y="5687568"/>
            <a:ext cx="10680192" cy="502920"/>
          </a:xfrm>
          <a:prstGeom prst="roundRect">
            <a:avLst>
              <a:gd name="adj" fmla="val 14545"/>
            </a:avLst>
          </a:prstGeom>
          <a:solidFill>
            <a:srgbClr val="FFFDF8"/>
          </a:solidFill>
          <a:ln w="12700">
            <a:solidFill>
              <a:srgbClr val="E4D9B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87552" y="5833872"/>
            <a:ext cx="10204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API 키와 DB 비밀번호는 환경변수로 관리하고, 실제 키는 저장소에 커밋하지 않습니다.</a:t>
            </a:r>
            <a:endParaRPr lang="en-US" sz="920" dirty="0"/>
          </a:p>
        </p:txBody>
      </p:sp>
      <p:sp>
        <p:nvSpPr>
          <p:cNvPr id="41" name="Text 39"/>
          <p:cNvSpPr/>
          <p:nvPr/>
        </p:nvSpPr>
        <p:spPr>
          <a:xfrm>
            <a:off x="11109960" y="649224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9B9F9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08</a:t>
            </a:r>
            <a:endParaRPr lang="en-US" sz="7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F5E4E"/>
          </a:solidFill>
          <a:ln w="12700">
            <a:solidFill>
              <a:srgbClr val="2F5E4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1089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4D7A6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08 · PIPELINE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" y="713232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공공데이터를 “서비스 가능한 데이터”로 바꿉니다.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21792" y="1271016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원본을 남기고, 변환 과정을 검증한 뒤, 검증된 데이터만 서비스 계층으로 전달합니다.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21792" y="6537960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9B9F9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MOTIVE · 우심운까</a:t>
            </a:r>
            <a:endParaRPr lang="en-US" sz="680" dirty="0"/>
          </a:p>
        </p:txBody>
      </p:sp>
      <p:sp>
        <p:nvSpPr>
          <p:cNvPr id="7" name="Shape 5"/>
          <p:cNvSpPr/>
          <p:nvPr/>
        </p:nvSpPr>
        <p:spPr>
          <a:xfrm>
            <a:off x="713232" y="2377440"/>
            <a:ext cx="1600200" cy="1719072"/>
          </a:xfrm>
          <a:prstGeom prst="roundRect">
            <a:avLst>
              <a:gd name="adj" fmla="val 4571"/>
            </a:avLst>
          </a:prstGeom>
          <a:solidFill>
            <a:srgbClr val="F4E0D4"/>
          </a:solidFill>
          <a:ln w="12700">
            <a:solidFill>
              <a:srgbClr val="D5D0C5"/>
            </a:solidFill>
            <a:prstDash val="solid"/>
          </a:ln>
          <a:effectLst>
            <a:outerShdw sx="100000" sy="100000" kx="0" ky="0" algn="bl" rotWithShape="0" blurRad="12700" dist="7620" dir="2700000">
              <a:srgbClr val="B7B0A3">
                <a:alpha val="11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32104" y="2596896"/>
            <a:ext cx="1115568" cy="256032"/>
          </a:xfrm>
          <a:prstGeom prst="roundRect">
            <a:avLst>
              <a:gd name="adj" fmla="val 17857"/>
            </a:avLst>
          </a:prstGeom>
          <a:solidFill>
            <a:srgbClr val="C96D4B"/>
          </a:solidFill>
          <a:ln w="12700">
            <a:solidFill>
              <a:srgbClr val="C96D4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2649931"/>
            <a:ext cx="10241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SOURCE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841248" y="3218688"/>
            <a:ext cx="1344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API · 공개 웹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2350008" y="3218688"/>
            <a:ext cx="237744" cy="0"/>
          </a:xfrm>
          <a:prstGeom prst="line">
            <a:avLst/>
          </a:prstGeom>
          <a:noFill/>
          <a:ln w="17780">
            <a:solidFill>
              <a:srgbClr val="4D7A6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642616" y="2377440"/>
            <a:ext cx="1508760" cy="1719072"/>
          </a:xfrm>
          <a:prstGeom prst="roundRect">
            <a:avLst>
              <a:gd name="adj" fmla="val 4848"/>
            </a:avLst>
          </a:prstGeom>
          <a:solidFill>
            <a:srgbClr val="E8EEF7"/>
          </a:solidFill>
          <a:ln w="12700">
            <a:solidFill>
              <a:srgbClr val="D5D0C5"/>
            </a:solidFill>
            <a:prstDash val="solid"/>
          </a:ln>
          <a:effectLst>
            <a:outerShdw sx="100000" sy="100000" kx="0" ky="0" algn="bl" rotWithShape="0" blurRad="12700" dist="7620" dir="2700000">
              <a:srgbClr val="B7B0A3">
                <a:alpha val="11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61488" y="2596896"/>
            <a:ext cx="1115568" cy="256032"/>
          </a:xfrm>
          <a:prstGeom prst="roundRect">
            <a:avLst>
              <a:gd name="adj" fmla="val 17857"/>
            </a:avLst>
          </a:prstGeom>
          <a:solidFill>
            <a:srgbClr val="5276A7"/>
          </a:solidFill>
          <a:ln w="12700">
            <a:solidFill>
              <a:srgbClr val="5276A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07208" y="2649931"/>
            <a:ext cx="10241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RAW</a:t>
            </a:r>
            <a:endParaRPr lang="en-US" sz="740" dirty="0"/>
          </a:p>
        </p:txBody>
      </p:sp>
      <p:sp>
        <p:nvSpPr>
          <p:cNvPr id="15" name="Text 13"/>
          <p:cNvSpPr/>
          <p:nvPr/>
        </p:nvSpPr>
        <p:spPr>
          <a:xfrm>
            <a:off x="2770632" y="3218688"/>
            <a:ext cx="1252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원본 응답 보존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4187952" y="3218688"/>
            <a:ext cx="237744" cy="0"/>
          </a:xfrm>
          <a:prstGeom prst="line">
            <a:avLst/>
          </a:prstGeom>
          <a:noFill/>
          <a:ln w="17780">
            <a:solidFill>
              <a:srgbClr val="4D7A6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480560" y="2377440"/>
            <a:ext cx="1874520" cy="1719072"/>
          </a:xfrm>
          <a:prstGeom prst="roundRect">
            <a:avLst>
              <a:gd name="adj" fmla="val 4255"/>
            </a:avLst>
          </a:prstGeom>
          <a:solidFill>
            <a:srgbClr val="EEF5EF"/>
          </a:solidFill>
          <a:ln w="12700">
            <a:solidFill>
              <a:srgbClr val="D5D0C5"/>
            </a:solidFill>
            <a:prstDash val="solid"/>
          </a:ln>
          <a:effectLst>
            <a:outerShdw sx="100000" sy="100000" kx="0" ky="0" algn="bl" rotWithShape="0" blurRad="12700" dist="7620" dir="2700000">
              <a:srgbClr val="B7B0A3">
                <a:alpha val="11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99432" y="2596896"/>
            <a:ext cx="1115568" cy="256032"/>
          </a:xfrm>
          <a:prstGeom prst="roundRect">
            <a:avLst>
              <a:gd name="adj" fmla="val 17857"/>
            </a:avLst>
          </a:prstGeom>
          <a:solidFill>
            <a:srgbClr val="4D7A68"/>
          </a:solidFill>
          <a:ln w="12700">
            <a:solidFill>
              <a:srgbClr val="4D7A68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45152" y="2649931"/>
            <a:ext cx="10241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TRANSFORM</a:t>
            </a:r>
            <a:endParaRPr lang="en-US" sz="740" dirty="0"/>
          </a:p>
        </p:txBody>
      </p:sp>
      <p:sp>
        <p:nvSpPr>
          <p:cNvPr id="20" name="Text 18"/>
          <p:cNvSpPr/>
          <p:nvPr/>
        </p:nvSpPr>
        <p:spPr>
          <a:xfrm>
            <a:off x="4608576" y="3218688"/>
            <a:ext cx="161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필드 표준화 · 타입 변환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6391656" y="3218688"/>
            <a:ext cx="237744" cy="0"/>
          </a:xfrm>
          <a:prstGeom prst="line">
            <a:avLst/>
          </a:prstGeom>
          <a:noFill/>
          <a:ln w="17780">
            <a:solidFill>
              <a:srgbClr val="4D7A6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684264" y="2377440"/>
            <a:ext cx="1965960" cy="1719072"/>
          </a:xfrm>
          <a:prstGeom prst="roundRect">
            <a:avLst>
              <a:gd name="adj" fmla="val 4255"/>
            </a:avLst>
          </a:prstGeom>
          <a:solidFill>
            <a:srgbClr val="F6E6E3"/>
          </a:solidFill>
          <a:ln w="12700">
            <a:solidFill>
              <a:srgbClr val="D5D0C5"/>
            </a:solidFill>
            <a:prstDash val="solid"/>
          </a:ln>
          <a:effectLst>
            <a:outerShdw sx="100000" sy="100000" kx="0" ky="0" algn="bl" rotWithShape="0" blurRad="12700" dist="7620" dir="2700000">
              <a:srgbClr val="B7B0A3">
                <a:alpha val="11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03136" y="2596896"/>
            <a:ext cx="1115568" cy="256032"/>
          </a:xfrm>
          <a:prstGeom prst="roundRect">
            <a:avLst>
              <a:gd name="adj" fmla="val 17857"/>
            </a:avLst>
          </a:prstGeom>
          <a:solidFill>
            <a:srgbClr val="B6534C"/>
          </a:solidFill>
          <a:ln w="12700">
            <a:solidFill>
              <a:srgbClr val="B6534C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48856" y="2649931"/>
            <a:ext cx="10241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DATA QUALITY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6812280" y="3218688"/>
            <a:ext cx="1709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행 · 키 · NULL · 타입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8686800" y="3218688"/>
            <a:ext cx="237744" cy="0"/>
          </a:xfrm>
          <a:prstGeom prst="line">
            <a:avLst/>
          </a:prstGeom>
          <a:noFill/>
          <a:ln w="17780">
            <a:solidFill>
              <a:srgbClr val="4D7A6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979408" y="2377440"/>
            <a:ext cx="1600200" cy="1719072"/>
          </a:xfrm>
          <a:prstGeom prst="roundRect">
            <a:avLst>
              <a:gd name="adj" fmla="val 4571"/>
            </a:avLst>
          </a:prstGeom>
          <a:solidFill>
            <a:srgbClr val="EEF5EF"/>
          </a:solidFill>
          <a:ln w="12700">
            <a:solidFill>
              <a:srgbClr val="D5D0C5"/>
            </a:solidFill>
            <a:prstDash val="solid"/>
          </a:ln>
          <a:effectLst>
            <a:outerShdw sx="100000" sy="100000" kx="0" ky="0" algn="bl" rotWithShape="0" blurRad="12700" dist="7620" dir="2700000">
              <a:srgbClr val="B7B0A3">
                <a:alpha val="11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098280" y="2596896"/>
            <a:ext cx="1115568" cy="256032"/>
          </a:xfrm>
          <a:prstGeom prst="roundRect">
            <a:avLst>
              <a:gd name="adj" fmla="val 17857"/>
            </a:avLst>
          </a:prstGeom>
          <a:solidFill>
            <a:srgbClr val="2F5E4E"/>
          </a:solidFill>
          <a:ln w="12700">
            <a:solidFill>
              <a:srgbClr val="2F5E4E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0" y="2649931"/>
            <a:ext cx="10241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LOAD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9107424" y="3218688"/>
            <a:ext cx="1344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PostgreSQL 적재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10616184" y="3218688"/>
            <a:ext cx="237744" cy="0"/>
          </a:xfrm>
          <a:prstGeom prst="line">
            <a:avLst/>
          </a:prstGeom>
          <a:noFill/>
          <a:ln w="17780">
            <a:solidFill>
              <a:srgbClr val="4D7A68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0908792" y="2377440"/>
            <a:ext cx="640080" cy="1719072"/>
          </a:xfrm>
          <a:prstGeom prst="roundRect">
            <a:avLst>
              <a:gd name="adj" fmla="val 11429"/>
            </a:avLst>
          </a:prstGeom>
          <a:solidFill>
            <a:srgbClr val="FFFDF8"/>
          </a:solidFill>
          <a:ln w="12700">
            <a:solidFill>
              <a:srgbClr val="D5D0C5"/>
            </a:solidFill>
            <a:prstDash val="solid"/>
          </a:ln>
          <a:effectLst>
            <a:outerShdw sx="100000" sy="100000" kx="0" ky="0" algn="bl" rotWithShape="0" blurRad="12700" dist="7620" dir="2700000">
              <a:srgbClr val="B7B0A3">
                <a:alpha val="11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1027664" y="2596896"/>
            <a:ext cx="402336" cy="256032"/>
          </a:xfrm>
          <a:prstGeom prst="roundRect">
            <a:avLst>
              <a:gd name="adj" fmla="val 17857"/>
            </a:avLst>
          </a:prstGeom>
          <a:solidFill>
            <a:srgbClr val="173B31"/>
          </a:solidFill>
          <a:ln w="12700">
            <a:solidFill>
              <a:srgbClr val="173B31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073384" y="2649931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USE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11036808" y="3218688"/>
            <a:ext cx="384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API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1051560" y="4809744"/>
            <a:ext cx="3108960" cy="9144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D5D0C5"/>
            </a:solidFill>
            <a:prstDash val="solid"/>
          </a:ln>
          <a:effectLst>
            <a:outerShdw sx="100000" sy="100000" kx="0" ky="0" algn="bl" rotWithShape="0" blurRad="12700" dist="7620" dir="2700000">
              <a:srgbClr val="B7B0A3">
                <a:alpha val="11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1252728" y="500176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01  원본 / 정제 분리</a:t>
            </a:r>
            <a:endParaRPr lang="en-US" sz="1030" dirty="0"/>
          </a:p>
        </p:txBody>
      </p:sp>
      <p:sp>
        <p:nvSpPr>
          <p:cNvPr id="38" name="Text 36"/>
          <p:cNvSpPr/>
          <p:nvPr/>
        </p:nvSpPr>
        <p:spPr>
          <a:xfrm>
            <a:off x="1252728" y="533095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재처리와 전후 비교가 가능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526280" y="4809744"/>
            <a:ext cx="3108960" cy="9144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D5D0C5"/>
            </a:solidFill>
            <a:prstDash val="solid"/>
          </a:ln>
          <a:effectLst>
            <a:outerShdw sx="100000" sy="100000" kx="0" ky="0" algn="bl" rotWithShape="0" blurRad="12700" dist="7620" dir="2700000">
              <a:srgbClr val="B7B0A3">
                <a:alpha val="11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727448" y="500176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02  중간 파일 최소화</a:t>
            </a:r>
            <a:endParaRPr lang="en-US" sz="1030" dirty="0"/>
          </a:p>
        </p:txBody>
      </p:sp>
      <p:sp>
        <p:nvSpPr>
          <p:cNvPr id="41" name="Text 39"/>
          <p:cNvSpPr/>
          <p:nvPr/>
        </p:nvSpPr>
        <p:spPr>
          <a:xfrm>
            <a:off x="4727448" y="533095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API 응답은 원본 보존 후 직접 흐름 연결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8001000" y="4809744"/>
            <a:ext cx="3108960" cy="9144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D5D0C5"/>
            </a:solidFill>
            <a:prstDash val="solid"/>
          </a:ln>
          <a:effectLst>
            <a:outerShdw sx="100000" sy="100000" kx="0" ky="0" algn="bl" rotWithShape="0" blurRad="12700" dist="7620" dir="2700000">
              <a:srgbClr val="B7B0A3">
                <a:alpha val="11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8202168" y="500176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03  검증 후 적재</a:t>
            </a:r>
            <a:endParaRPr lang="en-US" sz="1030" dirty="0"/>
          </a:p>
        </p:txBody>
      </p:sp>
      <p:sp>
        <p:nvSpPr>
          <p:cNvPr id="44" name="Text 42"/>
          <p:cNvSpPr/>
          <p:nvPr/>
        </p:nvSpPr>
        <p:spPr>
          <a:xfrm>
            <a:off x="8202168" y="533095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검증 결과와 적재 건수를 함께 기록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1109960" y="649224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9B9F9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09</a:t>
            </a:r>
            <a:endParaRPr lang="en-US" sz="7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F5E4E"/>
          </a:solidFill>
          <a:ln w="12700">
            <a:solidFill>
              <a:srgbClr val="2F5E4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1089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4D7A6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09 · DATA QUALITY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" y="713232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정상 실행 ≠ 정상 데이터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21792" y="1271016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행 수가 같아도 변환 과정에서 정상 값이 NULL로 바뀔 수 있습니다.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21792" y="6537960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9B9F9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MOTIVE · 우심운까</a:t>
            </a:r>
            <a:endParaRPr lang="en-US" sz="680" dirty="0"/>
          </a:p>
        </p:txBody>
      </p:sp>
      <p:sp>
        <p:nvSpPr>
          <p:cNvPr id="7" name="Shape 5"/>
          <p:cNvSpPr/>
          <p:nvPr/>
        </p:nvSpPr>
        <p:spPr>
          <a:xfrm>
            <a:off x="713232" y="1901952"/>
            <a:ext cx="3063240" cy="1417320"/>
          </a:xfrm>
          <a:prstGeom prst="roundRect">
            <a:avLst>
              <a:gd name="adj" fmla="val 5161"/>
            </a:avLst>
          </a:prstGeom>
          <a:solidFill>
            <a:srgbClr val="FFFDF8"/>
          </a:solidFill>
          <a:ln w="12700">
            <a:solidFill>
              <a:srgbClr val="D5D0C5"/>
            </a:solidFill>
            <a:prstDash val="solid"/>
          </a:ln>
          <a:effectLst>
            <a:outerShdw sx="100000" sy="100000" kx="0" ky="0" algn="bl" rotWithShape="0" blurRad="12700" dist="7620" dir="2700000">
              <a:srgbClr val="B7B0A3">
                <a:alpha val="11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50976" y="213969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B6534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1,206 건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950976" y="2596896"/>
            <a:ext cx="2450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ARBY_COT_CO_VALUE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950976" y="2944368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숫자형 변환 중 정상 값 → NULL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4142232" y="1901952"/>
            <a:ext cx="3063240" cy="1417320"/>
          </a:xfrm>
          <a:prstGeom prst="roundRect">
            <a:avLst>
              <a:gd name="adj" fmla="val 5161"/>
            </a:avLst>
          </a:prstGeom>
          <a:solidFill>
            <a:srgbClr val="FFFDF8"/>
          </a:solidFill>
          <a:ln w="12700">
            <a:solidFill>
              <a:srgbClr val="D5D0C5"/>
            </a:solidFill>
            <a:prstDash val="solid"/>
          </a:ln>
          <a:effectLst>
            <a:outerShdw sx="100000" sy="100000" kx="0" ky="0" algn="bl" rotWithShape="0" blurRad="12700" dist="7620" dir="2700000">
              <a:srgbClr val="B7B0A3">
                <a:alpha val="11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379976" y="213969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C96D4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25,070 건</a:t>
            </a:r>
            <a:endParaRPr lang="en-US" sz="2050" dirty="0"/>
          </a:p>
        </p:txBody>
      </p:sp>
      <p:sp>
        <p:nvSpPr>
          <p:cNvPr id="13" name="Text 11"/>
          <p:cNvSpPr/>
          <p:nvPr/>
        </p:nvSpPr>
        <p:spPr>
          <a:xfrm>
            <a:off x="4379976" y="2596896"/>
            <a:ext cx="2450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MESURE_TME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4379976" y="2944368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datetime 변환 오류로 전체 값 → NULL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7571232" y="1901952"/>
            <a:ext cx="3063240" cy="1417320"/>
          </a:xfrm>
          <a:prstGeom prst="roundRect">
            <a:avLst>
              <a:gd name="adj" fmla="val 5161"/>
            </a:avLst>
          </a:prstGeom>
          <a:solidFill>
            <a:srgbClr val="FFFDF8"/>
          </a:solidFill>
          <a:ln w="12700">
            <a:solidFill>
              <a:srgbClr val="D5D0C5"/>
            </a:solidFill>
            <a:prstDash val="solid"/>
          </a:ln>
          <a:effectLst>
            <a:outerShdw sx="100000" sy="100000" kx="0" ky="0" algn="bl" rotWithShape="0" blurRad="12700" dist="7620" dir="2700000">
              <a:srgbClr val="B7B0A3">
                <a:alpha val="11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808976" y="213969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5276A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6 건</a:t>
            </a:r>
            <a:endParaRPr lang="en-US" sz="2050" dirty="0"/>
          </a:p>
        </p:txBody>
      </p:sp>
      <p:sp>
        <p:nvSpPr>
          <p:cNvPr id="17" name="Text 15"/>
          <p:cNvSpPr/>
          <p:nvPr/>
        </p:nvSpPr>
        <p:spPr>
          <a:xfrm>
            <a:off x="7808976" y="2596896"/>
            <a:ext cx="2450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기상예보 fcstValue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7808976" y="2944368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‘강수없음’ 값 → NULL</a:t>
            </a:r>
            <a:endParaRPr lang="en-US" sz="860" dirty="0"/>
          </a:p>
        </p:txBody>
      </p:sp>
      <p:sp>
        <p:nvSpPr>
          <p:cNvPr id="19" name="Text 17"/>
          <p:cNvSpPr/>
          <p:nvPr/>
        </p:nvSpPr>
        <p:spPr>
          <a:xfrm>
            <a:off x="713232" y="370332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F5E4E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품질검증 기준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13232" y="4041648"/>
            <a:ext cx="2423160" cy="1170432"/>
          </a:xfrm>
          <a:prstGeom prst="roundRect">
            <a:avLst>
              <a:gd name="adj" fmla="val 6250"/>
            </a:avLst>
          </a:prstGeom>
          <a:solidFill>
            <a:srgbClr val="EEF5EF"/>
          </a:solidFill>
          <a:ln w="12700">
            <a:solidFill>
              <a:srgbClr val="D5D0C5"/>
            </a:solidFill>
            <a:prstDash val="solid"/>
          </a:ln>
          <a:effectLst>
            <a:outerShdw sx="100000" sy="100000" kx="0" ky="0" algn="bl" rotWithShape="0" blurRad="12700" dist="7620" dir="2700000">
              <a:srgbClr val="B7B0A3">
                <a:alpha val="11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59536" y="4288536"/>
            <a:ext cx="2130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Row count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59536" y="4700016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원본·정제·적재 건수 차이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3493008" y="4041648"/>
            <a:ext cx="2423160" cy="1170432"/>
          </a:xfrm>
          <a:prstGeom prst="roundRect">
            <a:avLst>
              <a:gd name="adj" fmla="val 6250"/>
            </a:avLst>
          </a:prstGeom>
          <a:solidFill>
            <a:srgbClr val="EEF5EF"/>
          </a:solidFill>
          <a:ln w="12700">
            <a:solidFill>
              <a:srgbClr val="D5D0C5"/>
            </a:solidFill>
            <a:prstDash val="solid"/>
          </a:ln>
          <a:effectLst>
            <a:outerShdw sx="100000" sy="100000" kx="0" ky="0" algn="bl" rotWithShape="0" blurRad="12700" dist="7620" dir="2700000">
              <a:srgbClr val="B7B0A3">
                <a:alpha val="11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39312" y="4288536"/>
            <a:ext cx="2130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Key uniqueness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39312" y="4700016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식별자·시설명·주소 중복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6272784" y="4041648"/>
            <a:ext cx="2423160" cy="1170432"/>
          </a:xfrm>
          <a:prstGeom prst="roundRect">
            <a:avLst>
              <a:gd name="adj" fmla="val 6250"/>
            </a:avLst>
          </a:prstGeom>
          <a:solidFill>
            <a:srgbClr val="FFFDF8"/>
          </a:solidFill>
          <a:ln w="12700">
            <a:solidFill>
              <a:srgbClr val="D5D0C5"/>
            </a:solidFill>
            <a:prstDash val="solid"/>
          </a:ln>
          <a:effectLst>
            <a:outerShdw sx="100000" sy="100000" kx="0" ky="0" algn="bl" rotWithShape="0" blurRad="12700" dist="7620" dir="2700000">
              <a:srgbClr val="B7B0A3">
                <a:alpha val="11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19088" y="4288536"/>
            <a:ext cx="2130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Required fields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19088" y="4700016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시설명·주소·지역 필수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9052560" y="4041648"/>
            <a:ext cx="2423160" cy="1170432"/>
          </a:xfrm>
          <a:prstGeom prst="roundRect">
            <a:avLst>
              <a:gd name="adj" fmla="val 6250"/>
            </a:avLst>
          </a:prstGeom>
          <a:solidFill>
            <a:srgbClr val="FFFDF8"/>
          </a:solidFill>
          <a:ln w="12700">
            <a:solidFill>
              <a:srgbClr val="D5D0C5"/>
            </a:solidFill>
            <a:prstDash val="solid"/>
          </a:ln>
          <a:effectLst>
            <a:outerShdw sx="100000" sy="100000" kx="0" ky="0" algn="bl" rotWithShape="0" blurRad="12700" dist="7620" dir="2700000">
              <a:srgbClr val="B7B0A3">
                <a:alpha val="11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198864" y="4288536"/>
            <a:ext cx="2130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NULL / Type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198864" y="4700016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NULL 전이·좌표·수치·일시 형식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749808" y="5596128"/>
            <a:ext cx="10680192" cy="502920"/>
          </a:xfrm>
          <a:prstGeom prst="roundRect">
            <a:avLst>
              <a:gd name="adj" fmla="val 14545"/>
            </a:avLst>
          </a:prstGeom>
          <a:solidFill>
            <a:srgbClr val="EEF5EF"/>
          </a:solidFill>
          <a:ln w="12700">
            <a:solidFill>
              <a:srgbClr val="E4D9B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87552" y="5742432"/>
            <a:ext cx="10204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F5E4E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행 수뿐 아니라 “값의 변화”를 추적해, 전처리 과정에서 발생하는 데이터 손실을 확인합니다.</a:t>
            </a:r>
            <a:endParaRPr lang="en-US" sz="920" dirty="0"/>
          </a:p>
        </p:txBody>
      </p:sp>
      <p:sp>
        <p:nvSpPr>
          <p:cNvPr id="34" name="Text 32"/>
          <p:cNvSpPr/>
          <p:nvPr/>
        </p:nvSpPr>
        <p:spPr>
          <a:xfrm>
            <a:off x="11109960" y="649224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9B9F9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10</a:t>
            </a:r>
            <a:endParaRPr lang="en-US" sz="7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F5E4E"/>
          </a:solidFill>
          <a:ln w="12700">
            <a:solidFill>
              <a:srgbClr val="2F5E4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1089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4D7A6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10 · AUTOMATION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" y="713232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파이프라인은 “한 번 실행”이 아니라 “다시 실행 가능”해야 합니다.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21792" y="1271016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스케줄링·재시도·로그·결과 보존을 통해 반복 실행과 장애 대응을 준비했습니다.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21792" y="6537960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9B9F9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MOTIVE · 우심운까</a:t>
            </a:r>
            <a:endParaRPr lang="en-US" sz="680" dirty="0"/>
          </a:p>
        </p:txBody>
      </p:sp>
      <p:sp>
        <p:nvSpPr>
          <p:cNvPr id="7" name="Shape 5"/>
          <p:cNvSpPr/>
          <p:nvPr/>
        </p:nvSpPr>
        <p:spPr>
          <a:xfrm>
            <a:off x="731520" y="1901952"/>
            <a:ext cx="1993392" cy="2011680"/>
          </a:xfrm>
          <a:prstGeom prst="roundRect">
            <a:avLst>
              <a:gd name="adj" fmla="val 3670"/>
            </a:avLst>
          </a:prstGeom>
          <a:solidFill>
            <a:srgbClr val="FFFDF8"/>
          </a:solidFill>
          <a:ln w="12700">
            <a:solidFill>
              <a:srgbClr val="D5D0C5"/>
            </a:solidFill>
            <a:prstDash val="solid"/>
          </a:ln>
          <a:effectLst>
            <a:outerShdw sx="100000" sy="100000" kx="0" ky="0" algn="bl" rotWithShape="0" blurRad="12700" dist="7620" dir="2700000">
              <a:srgbClr val="B7B0A3">
                <a:alpha val="11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408176" y="2148840"/>
            <a:ext cx="640080" cy="640080"/>
          </a:xfrm>
          <a:prstGeom prst="ellipse">
            <a:avLst/>
          </a:prstGeom>
          <a:solidFill>
            <a:srgbClr val="B6534C"/>
          </a:solidFill>
          <a:ln w="12700">
            <a:solidFill>
              <a:srgbClr val="B6534C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999232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Retry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877824" y="3328416"/>
            <a:ext cx="1700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9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502·503·504 및 네트워크 오류</a:t>
            </a:r>
            <a:endParaRPr lang="en-US" sz="790" dirty="0"/>
          </a:p>
          <a:p>
            <a:pPr algn="ctr" indent="0" marL="0">
              <a:buNone/>
            </a:pPr>
            <a:r>
              <a:rPr lang="en-US" sz="79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최대 3회 재시도</a:t>
            </a:r>
            <a:endParaRPr lang="en-US" sz="790" dirty="0"/>
          </a:p>
        </p:txBody>
      </p:sp>
      <p:sp>
        <p:nvSpPr>
          <p:cNvPr id="11" name="Shape 9"/>
          <p:cNvSpPr/>
          <p:nvPr/>
        </p:nvSpPr>
        <p:spPr>
          <a:xfrm>
            <a:off x="3090672" y="1901952"/>
            <a:ext cx="1993392" cy="2011680"/>
          </a:xfrm>
          <a:prstGeom prst="roundRect">
            <a:avLst>
              <a:gd name="adj" fmla="val 3670"/>
            </a:avLst>
          </a:prstGeom>
          <a:solidFill>
            <a:srgbClr val="FFFDF8"/>
          </a:solidFill>
          <a:ln w="12700">
            <a:solidFill>
              <a:srgbClr val="D5D0C5"/>
            </a:solidFill>
            <a:prstDash val="solid"/>
          </a:ln>
          <a:effectLst>
            <a:outerShdw sx="100000" sy="100000" kx="0" ky="0" algn="bl" rotWithShape="0" blurRad="12700" dist="7620" dir="2700000">
              <a:srgbClr val="B7B0A3">
                <a:alpha val="11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67328" y="2148840"/>
            <a:ext cx="640080" cy="640080"/>
          </a:xfrm>
          <a:prstGeom prst="ellipse">
            <a:avLst/>
          </a:prstGeom>
          <a:solidFill>
            <a:srgbClr val="2F5E4E"/>
          </a:solidFill>
          <a:ln w="12700">
            <a:solidFill>
              <a:srgbClr val="2F5E4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55264" y="2999232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Scheduler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3236976" y="3328416"/>
            <a:ext cx="1700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9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APScheduler 또는 cron</a:t>
            </a:r>
            <a:endParaRPr lang="en-US" sz="790" dirty="0"/>
          </a:p>
          <a:p>
            <a:pPr algn="ctr" indent="0" marL="0">
              <a:buNone/>
            </a:pPr>
            <a:r>
              <a:rPr lang="en-US" sz="79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설정 주기로 파이프라인 반복</a:t>
            </a:r>
            <a:endParaRPr lang="en-US" sz="790" dirty="0"/>
          </a:p>
        </p:txBody>
      </p:sp>
      <p:sp>
        <p:nvSpPr>
          <p:cNvPr id="15" name="Shape 13"/>
          <p:cNvSpPr/>
          <p:nvPr/>
        </p:nvSpPr>
        <p:spPr>
          <a:xfrm>
            <a:off x="5449824" y="1901952"/>
            <a:ext cx="1993392" cy="2011680"/>
          </a:xfrm>
          <a:prstGeom prst="roundRect">
            <a:avLst>
              <a:gd name="adj" fmla="val 3670"/>
            </a:avLst>
          </a:prstGeom>
          <a:solidFill>
            <a:srgbClr val="FFFDF8"/>
          </a:solidFill>
          <a:ln w="12700">
            <a:solidFill>
              <a:srgbClr val="D5D0C5"/>
            </a:solidFill>
            <a:prstDash val="solid"/>
          </a:ln>
          <a:effectLst>
            <a:outerShdw sx="100000" sy="100000" kx="0" ky="0" algn="bl" rotWithShape="0" blurRad="12700" dist="7620" dir="2700000">
              <a:srgbClr val="B7B0A3">
                <a:alpha val="11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2148840"/>
            <a:ext cx="640080" cy="640080"/>
          </a:xfrm>
          <a:prstGeom prst="ellipse">
            <a:avLst/>
          </a:prstGeom>
          <a:solidFill>
            <a:srgbClr val="5276A7"/>
          </a:solidFill>
          <a:ln w="12700">
            <a:solidFill>
              <a:srgbClr val="5276A7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14416" y="2999232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Raw Preserve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5596128" y="3328416"/>
            <a:ext cx="1700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9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API 원문을 output/raw에 보존</a:t>
            </a:r>
            <a:endParaRPr lang="en-US" sz="790" dirty="0"/>
          </a:p>
          <a:p>
            <a:pPr algn="ctr" indent="0" marL="0">
              <a:buNone/>
            </a:pPr>
            <a:r>
              <a:rPr lang="en-US" sz="79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전처리 전후 비교 가능</a:t>
            </a:r>
            <a:endParaRPr lang="en-US" sz="790" dirty="0"/>
          </a:p>
        </p:txBody>
      </p:sp>
      <p:sp>
        <p:nvSpPr>
          <p:cNvPr id="19" name="Shape 17"/>
          <p:cNvSpPr/>
          <p:nvPr/>
        </p:nvSpPr>
        <p:spPr>
          <a:xfrm>
            <a:off x="7808976" y="1901952"/>
            <a:ext cx="1993392" cy="2011680"/>
          </a:xfrm>
          <a:prstGeom prst="roundRect">
            <a:avLst>
              <a:gd name="adj" fmla="val 3670"/>
            </a:avLst>
          </a:prstGeom>
          <a:solidFill>
            <a:srgbClr val="FFFDF8"/>
          </a:solidFill>
          <a:ln w="12700">
            <a:solidFill>
              <a:srgbClr val="D5D0C5"/>
            </a:solidFill>
            <a:prstDash val="solid"/>
          </a:ln>
          <a:effectLst>
            <a:outerShdw sx="100000" sy="100000" kx="0" ky="0" algn="bl" rotWithShape="0" blurRad="12700" dist="7620" dir="2700000">
              <a:srgbClr val="B7B0A3">
                <a:alpha val="11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485632" y="2148840"/>
            <a:ext cx="640080" cy="640080"/>
          </a:xfrm>
          <a:prstGeom prst="ellipse">
            <a:avLst/>
          </a:prstGeom>
          <a:solidFill>
            <a:srgbClr val="C96D4B"/>
          </a:solidFill>
          <a:ln w="12700">
            <a:solidFill>
              <a:srgbClr val="C96D4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73568" y="2999232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Logs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7955280" y="3328416"/>
            <a:ext cx="1700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9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run_id·건수·품질상태·오류</a:t>
            </a:r>
            <a:endParaRPr lang="en-US" sz="790" dirty="0"/>
          </a:p>
          <a:p>
            <a:pPr algn="ctr" indent="0" marL="0">
              <a:buNone/>
            </a:pPr>
            <a:r>
              <a:rPr lang="en-US" sz="79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JSON Lines로 기록</a:t>
            </a:r>
            <a:endParaRPr lang="en-US" sz="790" dirty="0"/>
          </a:p>
        </p:txBody>
      </p:sp>
      <p:sp>
        <p:nvSpPr>
          <p:cNvPr id="23" name="Shape 21"/>
          <p:cNvSpPr/>
          <p:nvPr/>
        </p:nvSpPr>
        <p:spPr>
          <a:xfrm>
            <a:off x="10168128" y="1901952"/>
            <a:ext cx="1993392" cy="2011680"/>
          </a:xfrm>
          <a:prstGeom prst="roundRect">
            <a:avLst>
              <a:gd name="adj" fmla="val 3670"/>
            </a:avLst>
          </a:prstGeom>
          <a:solidFill>
            <a:srgbClr val="FFFDF8"/>
          </a:solidFill>
          <a:ln w="12700">
            <a:solidFill>
              <a:srgbClr val="D5D0C5"/>
            </a:solidFill>
            <a:prstDash val="solid"/>
          </a:ln>
          <a:effectLst>
            <a:outerShdw sx="100000" sy="100000" kx="0" ky="0" algn="bl" rotWithShape="0" blurRad="12700" dist="7620" dir="2700000">
              <a:srgbClr val="B7B0A3">
                <a:alpha val="11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0844784" y="2148840"/>
            <a:ext cx="640080" cy="640080"/>
          </a:xfrm>
          <a:prstGeom prst="ellipse">
            <a:avLst/>
          </a:prstGeom>
          <a:solidFill>
            <a:srgbClr val="D9B75B"/>
          </a:solidFill>
          <a:ln w="12700">
            <a:solidFill>
              <a:srgbClr val="D9B75B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32720" y="2999232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Re-run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10314432" y="3328416"/>
            <a:ext cx="1700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9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동일 명령으로</a:t>
            </a:r>
            <a:endParaRPr lang="en-US" sz="790" dirty="0"/>
          </a:p>
          <a:p>
            <a:pPr algn="ctr" indent="0" marL="0">
              <a:buNone/>
            </a:pPr>
            <a:r>
              <a:rPr lang="en-US" sz="79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로컬 재현</a:t>
            </a:r>
            <a:endParaRPr lang="en-US" sz="790" dirty="0"/>
          </a:p>
        </p:txBody>
      </p:sp>
      <p:sp>
        <p:nvSpPr>
          <p:cNvPr id="27" name="Shape 25"/>
          <p:cNvSpPr/>
          <p:nvPr/>
        </p:nvSpPr>
        <p:spPr>
          <a:xfrm>
            <a:off x="1005840" y="4343400"/>
            <a:ext cx="10149840" cy="1170432"/>
          </a:xfrm>
          <a:prstGeom prst="roundRect">
            <a:avLst>
              <a:gd name="adj" fmla="val 6250"/>
            </a:avLst>
          </a:prstGeom>
          <a:solidFill>
            <a:srgbClr val="27332F"/>
          </a:solidFill>
          <a:ln w="12700">
            <a:solidFill>
              <a:srgbClr val="27332F"/>
            </a:solidFill>
            <a:prstDash val="solid"/>
          </a:ln>
          <a:effectLst>
            <a:outerShdw sx="100000" sy="100000" kx="0" ky="0" algn="bl" rotWithShape="0" blurRad="12700" dist="7620" dir="2700000">
              <a:srgbClr val="B7B0A3">
                <a:alpha val="11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280160" y="4608576"/>
            <a:ext cx="9491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DDE7E1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$ python pipeline/run_pipeline.py --region "서울특별시 강남구" --limit 50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1280160" y="4992624"/>
            <a:ext cx="9491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DDE7E1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$ python pipeline/scheduler.py --region "서울특별시 강남구" --interval-hours 6</a:t>
            </a:r>
            <a:endParaRPr lang="en-US" sz="920" dirty="0"/>
          </a:p>
        </p:txBody>
      </p:sp>
      <p:sp>
        <p:nvSpPr>
          <p:cNvPr id="30" name="Text 28"/>
          <p:cNvSpPr/>
          <p:nvPr/>
        </p:nvSpPr>
        <p:spPr>
          <a:xfrm>
            <a:off x="11109960" y="649224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9B9F9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11</a:t>
            </a:r>
            <a:endParaRPr lang="en-US" sz="7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F5E4E"/>
          </a:solidFill>
          <a:ln w="12700">
            <a:solidFill>
              <a:srgbClr val="2F5E4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1089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4D7A6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11 · DATABASE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" y="713232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서비스 데이터와 파이프라인 데이터를 분리해 관리합니다.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21792" y="1271016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회원 경험을 위한 엔터티와 추천용 raw/processed 데이터를 서로 다른 역할로 봅니다.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21792" y="6537960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9B9F9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MOTIVE · 우심운까</a:t>
            </a:r>
            <a:endParaRPr lang="en-US" sz="680" dirty="0"/>
          </a:p>
        </p:txBody>
      </p:sp>
      <p:sp>
        <p:nvSpPr>
          <p:cNvPr id="7" name="Shape 5"/>
          <p:cNvSpPr/>
          <p:nvPr/>
        </p:nvSpPr>
        <p:spPr>
          <a:xfrm>
            <a:off x="713232" y="1883664"/>
            <a:ext cx="6492240" cy="3675888"/>
          </a:xfrm>
          <a:prstGeom prst="roundRect">
            <a:avLst>
              <a:gd name="adj" fmla="val 1990"/>
            </a:avLst>
          </a:prstGeom>
          <a:solidFill>
            <a:srgbClr val="FFFDF8"/>
          </a:solidFill>
          <a:ln w="12700">
            <a:solidFill>
              <a:srgbClr val="D5D0C5"/>
            </a:solidFill>
            <a:prstDash val="solid"/>
          </a:ln>
          <a:effectLst>
            <a:outerShdw sx="100000" sy="100000" kx="0" ky="0" algn="bl" rotWithShape="0" blurRad="12700" dist="7620" dir="2700000">
              <a:srgbClr val="B7B0A3">
                <a:alpha val="11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32688" y="2103120"/>
            <a:ext cx="1078992" cy="256032"/>
          </a:xfrm>
          <a:prstGeom prst="roundRect">
            <a:avLst>
              <a:gd name="adj" fmla="val 17857"/>
            </a:avLst>
          </a:prstGeom>
          <a:solidFill>
            <a:srgbClr val="2F5E4E"/>
          </a:solidFill>
          <a:ln w="12700">
            <a:solidFill>
              <a:srgbClr val="2F5E4E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2156155"/>
            <a:ext cx="9875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SERVICE ENTITIES</a:t>
            </a:r>
            <a:endParaRPr lang="en-US" sz="740" dirty="0"/>
          </a:p>
        </p:txBody>
      </p:sp>
      <p:sp>
        <p:nvSpPr>
          <p:cNvPr id="10" name="Shape 8"/>
          <p:cNvSpPr/>
          <p:nvPr/>
        </p:nvSpPr>
        <p:spPr>
          <a:xfrm>
            <a:off x="960120" y="2743200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FAF6ED"/>
          </a:solidFill>
          <a:ln w="12700">
            <a:solidFill>
              <a:srgbClr val="2F5E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33272" y="2935224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MEMBER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2852928" y="2432304"/>
            <a:ext cx="1691640" cy="566928"/>
          </a:xfrm>
          <a:prstGeom prst="roundRect">
            <a:avLst>
              <a:gd name="adj" fmla="val 12903"/>
            </a:avLst>
          </a:prstGeom>
          <a:solidFill>
            <a:srgbClr val="FAF6ED"/>
          </a:solidFill>
          <a:ln w="12700">
            <a:solidFill>
              <a:srgbClr val="5276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0" y="2624328"/>
            <a:ext cx="1545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WORKOUT_PROGRESS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2852928" y="3355848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FAF6ED"/>
          </a:solidFill>
          <a:ln w="12700">
            <a:solidFill>
              <a:srgbClr val="C96D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0" y="3547872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FRIENDSHIP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4663440" y="2432304"/>
            <a:ext cx="1508760" cy="566928"/>
          </a:xfrm>
          <a:prstGeom prst="roundRect">
            <a:avLst>
              <a:gd name="adj" fmla="val 12903"/>
            </a:avLst>
          </a:prstGeom>
          <a:solidFill>
            <a:srgbClr val="FAF6ED"/>
          </a:solidFill>
          <a:ln w="12700">
            <a:solidFill>
              <a:srgbClr val="D9B75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36592" y="2624328"/>
            <a:ext cx="1362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FRIEND_REQUEST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4663440" y="3355848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FAF6ED"/>
          </a:solidFill>
          <a:ln w="12700">
            <a:solidFill>
              <a:srgbClr val="B653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36592" y="3547872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FRIEND_NOTE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2852928" y="4279392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FAF6ED"/>
          </a:solidFill>
          <a:ln w="12700">
            <a:solidFill>
              <a:srgbClr val="6F776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26080" y="4471416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SITE_VISIT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932688" y="5065776"/>
            <a:ext cx="5349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MEMBER를 중심으로 운동량 · 친구 관계 · 방문 기록을 연결</a:t>
            </a:r>
            <a:endParaRPr lang="en-US" sz="830" dirty="0"/>
          </a:p>
        </p:txBody>
      </p:sp>
      <p:sp>
        <p:nvSpPr>
          <p:cNvPr id="23" name="Shape 21"/>
          <p:cNvSpPr/>
          <p:nvPr/>
        </p:nvSpPr>
        <p:spPr>
          <a:xfrm>
            <a:off x="7571232" y="1883664"/>
            <a:ext cx="3886200" cy="3675888"/>
          </a:xfrm>
          <a:prstGeom prst="roundRect">
            <a:avLst>
              <a:gd name="adj" fmla="val 1990"/>
            </a:avLst>
          </a:prstGeom>
          <a:solidFill>
            <a:srgbClr val="EEF5EF"/>
          </a:solidFill>
          <a:ln w="12700">
            <a:solidFill>
              <a:srgbClr val="B8D0C2"/>
            </a:solidFill>
            <a:prstDash val="solid"/>
          </a:ln>
          <a:effectLst>
            <a:outerShdw sx="100000" sy="100000" kx="0" ky="0" algn="bl" rotWithShape="0" blurRad="12700" dist="7620" dir="2700000">
              <a:srgbClr val="B7B0A3">
                <a:alpha val="11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818120" y="2103120"/>
            <a:ext cx="960120" cy="256032"/>
          </a:xfrm>
          <a:prstGeom prst="roundRect">
            <a:avLst>
              <a:gd name="adj" fmla="val 17857"/>
            </a:avLst>
          </a:prstGeom>
          <a:solidFill>
            <a:srgbClr val="173B31"/>
          </a:solidFill>
          <a:ln w="12700">
            <a:solidFill>
              <a:srgbClr val="173B31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63840" y="2156155"/>
            <a:ext cx="868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PIPELINE DATA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7882128" y="2743200"/>
            <a:ext cx="1335024" cy="960120"/>
          </a:xfrm>
          <a:prstGeom prst="roundRect">
            <a:avLst>
              <a:gd name="adj" fmla="val 7619"/>
            </a:avLst>
          </a:prstGeom>
          <a:solidFill>
            <a:srgbClr val="FFFDF8"/>
          </a:solidFill>
          <a:ln w="12700">
            <a:solidFill>
              <a:srgbClr val="5276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83296" y="2971800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276A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raw.*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028432" y="3319272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원본 보존</a:t>
            </a:r>
            <a:endParaRPr lang="en-US" sz="770" dirty="0"/>
          </a:p>
        </p:txBody>
      </p:sp>
      <p:sp>
        <p:nvSpPr>
          <p:cNvPr id="29" name="Shape 27"/>
          <p:cNvSpPr/>
          <p:nvPr/>
        </p:nvSpPr>
        <p:spPr>
          <a:xfrm>
            <a:off x="9299448" y="3227832"/>
            <a:ext cx="374904" cy="0"/>
          </a:xfrm>
          <a:prstGeom prst="line">
            <a:avLst/>
          </a:prstGeom>
          <a:noFill/>
          <a:ln w="16510">
            <a:solidFill>
              <a:srgbClr val="2F5E4E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747504" y="2743200"/>
            <a:ext cx="1389888" cy="960120"/>
          </a:xfrm>
          <a:prstGeom prst="roundRect">
            <a:avLst>
              <a:gd name="adj" fmla="val 7619"/>
            </a:avLst>
          </a:prstGeom>
          <a:solidFill>
            <a:srgbClr val="FFFDF8"/>
          </a:solidFill>
          <a:ln w="12700">
            <a:solidFill>
              <a:srgbClr val="2F5E4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57232" y="2971800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5E4E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processed.*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893808" y="3319272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정제·서비스</a:t>
            </a:r>
            <a:endParaRPr lang="en-US" sz="770" dirty="0"/>
          </a:p>
        </p:txBody>
      </p:sp>
      <p:sp>
        <p:nvSpPr>
          <p:cNvPr id="33" name="Text 31"/>
          <p:cNvSpPr/>
          <p:nvPr/>
        </p:nvSpPr>
        <p:spPr>
          <a:xfrm>
            <a:off x="7882128" y="416052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DB 우선 추천은 processed 시설·기상·대기질을 조회하고,</a:t>
            </a:r>
            <a:endParaRPr lang="en-US" sz="890" dirty="0"/>
          </a:p>
          <a:p>
            <a:pPr algn="l" indent="0" marL="0">
              <a:buNone/>
            </a:pPr>
            <a:r>
              <a:rPr lang="en-US" sz="890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없을 때 외부 API 또는 백업 CSV로 보완합니다.</a:t>
            </a:r>
            <a:endParaRPr lang="en-US" sz="890" dirty="0"/>
          </a:p>
        </p:txBody>
      </p:sp>
      <p:sp>
        <p:nvSpPr>
          <p:cNvPr id="34" name="Text 32"/>
          <p:cNvSpPr/>
          <p:nvPr/>
        </p:nvSpPr>
        <p:spPr>
          <a:xfrm>
            <a:off x="11109960" y="649224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9B9F9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12</a:t>
            </a:r>
            <a:endParaRPr lang="en-US" sz="7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F5E4E"/>
          </a:solidFill>
          <a:ln w="12700">
            <a:solidFill>
              <a:srgbClr val="2F5E4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1089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4D7A6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12 · RECOMMENDATION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" y="713232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추천 엔진은 “규칙 기반 + 공간 거리 + 환경 가중치”입니다.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21792" y="1271016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현재 저장소에는 별도의 학습 모델이나 학습 파이프라인이 포함되어 있지 않습니다.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21792" y="6537960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9B9F9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MOTIVE · 우심운까</a:t>
            </a:r>
            <a:endParaRPr lang="en-US" sz="680" dirty="0"/>
          </a:p>
        </p:txBody>
      </p:sp>
      <p:sp>
        <p:nvSpPr>
          <p:cNvPr id="7" name="Shape 5"/>
          <p:cNvSpPr/>
          <p:nvPr/>
        </p:nvSpPr>
        <p:spPr>
          <a:xfrm>
            <a:off x="713232" y="2130552"/>
            <a:ext cx="1883664" cy="2121408"/>
          </a:xfrm>
          <a:prstGeom prst="roundRect">
            <a:avLst>
              <a:gd name="adj" fmla="val 3883"/>
            </a:avLst>
          </a:prstGeom>
          <a:solidFill>
            <a:srgbClr val="FFFDF8"/>
          </a:solidFill>
          <a:ln w="12700">
            <a:solidFill>
              <a:srgbClr val="D5D0C5"/>
            </a:solidFill>
            <a:prstDash val="solid"/>
          </a:ln>
          <a:effectLst>
            <a:outerShdw sx="100000" sy="100000" kx="0" ky="0" algn="bl" rotWithShape="0" blurRad="12700" dist="7620" dir="2700000">
              <a:srgbClr val="B7B0A3">
                <a:alpha val="11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35024" y="2359152"/>
            <a:ext cx="640080" cy="265176"/>
          </a:xfrm>
          <a:prstGeom prst="roundRect">
            <a:avLst>
              <a:gd name="adj" fmla="val 27586"/>
            </a:avLst>
          </a:prstGeom>
          <a:solidFill>
            <a:srgbClr val="2F5E4E"/>
          </a:solidFill>
          <a:ln w="12700">
            <a:solidFill>
              <a:srgbClr val="2F5E4E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80744" y="2414016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01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896112" y="2944368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기준 위치</a:t>
            </a: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886968" y="3410712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현재 좌표 또는</a:t>
            </a:r>
            <a:endParaRPr lang="en-US" sz="860" dirty="0"/>
          </a:p>
          <a:p>
            <a:pPr algn="ctr" indent="0" marL="0">
              <a:buNone/>
            </a:pPr>
            <a:r>
              <a:rPr lang="en-US" sz="86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카카오 지역 중심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2624328" y="3163824"/>
            <a:ext cx="228600" cy="0"/>
          </a:xfrm>
          <a:prstGeom prst="line">
            <a:avLst/>
          </a:prstGeom>
          <a:noFill/>
          <a:ln w="15240">
            <a:solidFill>
              <a:srgbClr val="4D7A6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926080" y="2130552"/>
            <a:ext cx="1883664" cy="2121408"/>
          </a:xfrm>
          <a:prstGeom prst="roundRect">
            <a:avLst>
              <a:gd name="adj" fmla="val 3883"/>
            </a:avLst>
          </a:prstGeom>
          <a:solidFill>
            <a:srgbClr val="FFFDF8"/>
          </a:solidFill>
          <a:ln w="12700">
            <a:solidFill>
              <a:srgbClr val="D5D0C5"/>
            </a:solidFill>
            <a:prstDash val="solid"/>
          </a:ln>
          <a:effectLst>
            <a:outerShdw sx="100000" sy="100000" kx="0" ky="0" algn="bl" rotWithShape="0" blurRad="12700" dist="7620" dir="2700000">
              <a:srgbClr val="B7B0A3">
                <a:alpha val="11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547872" y="2359152"/>
            <a:ext cx="640080" cy="265176"/>
          </a:xfrm>
          <a:prstGeom prst="roundRect">
            <a:avLst>
              <a:gd name="adj" fmla="val 27586"/>
            </a:avLst>
          </a:prstGeom>
          <a:solidFill>
            <a:srgbClr val="5276A7"/>
          </a:solidFill>
          <a:ln w="12700">
            <a:solidFill>
              <a:srgbClr val="5276A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93592" y="2414016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02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3108960" y="2944368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시설 후보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3099816" y="3410712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DB 조회 +</a:t>
            </a:r>
            <a:endParaRPr lang="en-US" sz="860" dirty="0"/>
          </a:p>
          <a:p>
            <a:pPr algn="ctr" indent="0" marL="0">
              <a:buNone/>
            </a:pPr>
            <a:r>
              <a:rPr lang="en-US" sz="86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PostGIS 거리 계산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4837176" y="3163824"/>
            <a:ext cx="228600" cy="0"/>
          </a:xfrm>
          <a:prstGeom prst="line">
            <a:avLst/>
          </a:prstGeom>
          <a:noFill/>
          <a:ln w="15240">
            <a:solidFill>
              <a:srgbClr val="4D7A6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138928" y="2130552"/>
            <a:ext cx="1883664" cy="2121408"/>
          </a:xfrm>
          <a:prstGeom prst="roundRect">
            <a:avLst>
              <a:gd name="adj" fmla="val 3883"/>
            </a:avLst>
          </a:prstGeom>
          <a:solidFill>
            <a:srgbClr val="FFFDF8"/>
          </a:solidFill>
          <a:ln w="12700">
            <a:solidFill>
              <a:srgbClr val="D5D0C5"/>
            </a:solidFill>
            <a:prstDash val="solid"/>
          </a:ln>
          <a:effectLst>
            <a:outerShdw sx="100000" sy="100000" kx="0" ky="0" algn="bl" rotWithShape="0" blurRad="12700" dist="7620" dir="2700000">
              <a:srgbClr val="B7B0A3">
                <a:alpha val="11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760720" y="2359152"/>
            <a:ext cx="640080" cy="265176"/>
          </a:xfrm>
          <a:prstGeom prst="roundRect">
            <a:avLst>
              <a:gd name="adj" fmla="val 27586"/>
            </a:avLst>
          </a:prstGeom>
          <a:solidFill>
            <a:srgbClr val="C96D4B"/>
          </a:solidFill>
          <a:ln w="12700">
            <a:solidFill>
              <a:srgbClr val="C96D4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06440" y="2414016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03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5321808" y="2944368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조건 필터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5312664" y="3410712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운동 종목 +</a:t>
            </a:r>
            <a:endParaRPr lang="en-US" sz="860" dirty="0"/>
          </a:p>
          <a:p>
            <a:pPr algn="ctr" indent="0" marL="0">
              <a:buNone/>
            </a:pPr>
            <a:r>
              <a:rPr lang="en-US" sz="86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최대 이동시간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7050024" y="3163824"/>
            <a:ext cx="228600" cy="0"/>
          </a:xfrm>
          <a:prstGeom prst="line">
            <a:avLst/>
          </a:prstGeom>
          <a:noFill/>
          <a:ln w="15240">
            <a:solidFill>
              <a:srgbClr val="4D7A6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351776" y="2130552"/>
            <a:ext cx="1883664" cy="2121408"/>
          </a:xfrm>
          <a:prstGeom prst="roundRect">
            <a:avLst>
              <a:gd name="adj" fmla="val 3883"/>
            </a:avLst>
          </a:prstGeom>
          <a:solidFill>
            <a:srgbClr val="FFFDF8"/>
          </a:solidFill>
          <a:ln w="12700">
            <a:solidFill>
              <a:srgbClr val="D5D0C5"/>
            </a:solidFill>
            <a:prstDash val="solid"/>
          </a:ln>
          <a:effectLst>
            <a:outerShdw sx="100000" sy="100000" kx="0" ky="0" algn="bl" rotWithShape="0" blurRad="12700" dist="7620" dir="2700000">
              <a:srgbClr val="B7B0A3">
                <a:alpha val="11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973568" y="2359152"/>
            <a:ext cx="640080" cy="265176"/>
          </a:xfrm>
          <a:prstGeom prst="roundRect">
            <a:avLst>
              <a:gd name="adj" fmla="val 27586"/>
            </a:avLst>
          </a:prstGeom>
          <a:solidFill>
            <a:srgbClr val="D9B75B"/>
          </a:solidFill>
          <a:ln w="12700">
            <a:solidFill>
              <a:srgbClr val="D9B75B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19288" y="2414016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04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7534656" y="2944368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점수 계산</a:t>
            </a:r>
            <a:endParaRPr lang="en-US" sz="1120" dirty="0"/>
          </a:p>
        </p:txBody>
      </p:sp>
      <p:sp>
        <p:nvSpPr>
          <p:cNvPr id="29" name="Text 27"/>
          <p:cNvSpPr/>
          <p:nvPr/>
        </p:nvSpPr>
        <p:spPr>
          <a:xfrm>
            <a:off x="7525512" y="3410712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거리 + 기상 +</a:t>
            </a:r>
            <a:endParaRPr lang="en-US" sz="860" dirty="0"/>
          </a:p>
          <a:p>
            <a:pPr algn="ctr" indent="0" marL="0">
              <a:buNone/>
            </a:pPr>
            <a:r>
              <a:rPr lang="en-US" sz="86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대기질 가감점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9262872" y="3163824"/>
            <a:ext cx="228600" cy="0"/>
          </a:xfrm>
          <a:prstGeom prst="line">
            <a:avLst/>
          </a:prstGeom>
          <a:noFill/>
          <a:ln w="15240">
            <a:solidFill>
              <a:srgbClr val="4D7A68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564624" y="2130552"/>
            <a:ext cx="1883664" cy="2121408"/>
          </a:xfrm>
          <a:prstGeom prst="roundRect">
            <a:avLst>
              <a:gd name="adj" fmla="val 3883"/>
            </a:avLst>
          </a:prstGeom>
          <a:solidFill>
            <a:srgbClr val="FFFDF8"/>
          </a:solidFill>
          <a:ln w="12700">
            <a:solidFill>
              <a:srgbClr val="D5D0C5"/>
            </a:solidFill>
            <a:prstDash val="solid"/>
          </a:ln>
          <a:effectLst>
            <a:outerShdw sx="100000" sy="100000" kx="0" ky="0" algn="bl" rotWithShape="0" blurRad="12700" dist="7620" dir="2700000">
              <a:srgbClr val="B7B0A3">
                <a:alpha val="11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0186416" y="2359152"/>
            <a:ext cx="640080" cy="265176"/>
          </a:xfrm>
          <a:prstGeom prst="roundRect">
            <a:avLst>
              <a:gd name="adj" fmla="val 27586"/>
            </a:avLst>
          </a:prstGeom>
          <a:solidFill>
            <a:srgbClr val="4D7A68"/>
          </a:solidFill>
          <a:ln w="12700">
            <a:solidFill>
              <a:srgbClr val="4D7A68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232136" y="2414016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05</a:t>
            </a:r>
            <a:endParaRPr lang="en-US" sz="780" dirty="0"/>
          </a:p>
        </p:txBody>
      </p:sp>
      <p:sp>
        <p:nvSpPr>
          <p:cNvPr id="34" name="Text 32"/>
          <p:cNvSpPr/>
          <p:nvPr/>
        </p:nvSpPr>
        <p:spPr>
          <a:xfrm>
            <a:off x="9747504" y="2944368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운영·정렬</a:t>
            </a:r>
            <a:endParaRPr lang="en-US" sz="1120" dirty="0"/>
          </a:p>
        </p:txBody>
      </p:sp>
      <p:sp>
        <p:nvSpPr>
          <p:cNvPr id="35" name="Text 33"/>
          <p:cNvSpPr/>
          <p:nvPr/>
        </p:nvSpPr>
        <p:spPr>
          <a:xfrm>
            <a:off x="9738360" y="3410712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상위 후보 확인 +</a:t>
            </a:r>
            <a:endParaRPr lang="en-US" sz="860" dirty="0"/>
          </a:p>
          <a:p>
            <a:pPr algn="ctr" indent="0" marL="0">
              <a:buNone/>
            </a:pPr>
            <a:r>
              <a:rPr lang="en-US" sz="86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점수/거리 정렬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914400" y="4837176"/>
            <a:ext cx="3310128" cy="749808"/>
          </a:xfrm>
          <a:prstGeom prst="roundRect">
            <a:avLst>
              <a:gd name="adj" fmla="val 9756"/>
            </a:avLst>
          </a:prstGeom>
          <a:solidFill>
            <a:srgbClr val="FAF6ED"/>
          </a:solidFill>
          <a:ln w="12700">
            <a:solidFill>
              <a:srgbClr val="D5D0C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15568" y="5056632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DB 후보가 없으면 카카오 장소 검색으로 보완</a:t>
            </a:r>
            <a:endParaRPr lang="en-US" sz="870" dirty="0"/>
          </a:p>
        </p:txBody>
      </p:sp>
      <p:sp>
        <p:nvSpPr>
          <p:cNvPr id="38" name="Shape 36"/>
          <p:cNvSpPr/>
          <p:nvPr/>
        </p:nvSpPr>
        <p:spPr>
          <a:xfrm>
            <a:off x="4617720" y="4837176"/>
            <a:ext cx="3310128" cy="749808"/>
          </a:xfrm>
          <a:prstGeom prst="roundRect">
            <a:avLst>
              <a:gd name="adj" fmla="val 9756"/>
            </a:avLst>
          </a:prstGeom>
          <a:solidFill>
            <a:srgbClr val="FAF6ED"/>
          </a:solidFill>
          <a:ln w="12700">
            <a:solidFill>
              <a:srgbClr val="D5D0C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18888" y="5056632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이동시간은 현재 거리 기반 도보 추정값</a:t>
            </a:r>
            <a:endParaRPr lang="en-US" sz="870" dirty="0"/>
          </a:p>
        </p:txBody>
      </p:sp>
      <p:sp>
        <p:nvSpPr>
          <p:cNvPr id="40" name="Shape 38"/>
          <p:cNvSpPr/>
          <p:nvPr/>
        </p:nvSpPr>
        <p:spPr>
          <a:xfrm>
            <a:off x="8321040" y="4837176"/>
            <a:ext cx="3310128" cy="749808"/>
          </a:xfrm>
          <a:prstGeom prst="roundRect">
            <a:avLst>
              <a:gd name="adj" fmla="val 9756"/>
            </a:avLst>
          </a:prstGeom>
          <a:solidFill>
            <a:srgbClr val="F4E0D4"/>
          </a:solidFill>
          <a:ln w="12700">
            <a:solidFill>
              <a:srgbClr val="D5D0C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22208" y="5056632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C96D4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추천 점수는 운동 효과나 운영 여부를 보장하는 값이 아님</a:t>
            </a:r>
            <a:endParaRPr lang="en-US" sz="870" dirty="0"/>
          </a:p>
        </p:txBody>
      </p:sp>
      <p:sp>
        <p:nvSpPr>
          <p:cNvPr id="42" name="Text 40"/>
          <p:cNvSpPr/>
          <p:nvPr/>
        </p:nvSpPr>
        <p:spPr>
          <a:xfrm>
            <a:off x="11109960" y="649224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9B9F9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13</a:t>
            </a:r>
            <a:endParaRPr lang="en-US" sz="7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F5E4E"/>
          </a:solidFill>
          <a:ln w="12700">
            <a:solidFill>
              <a:srgbClr val="2F5E4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1089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4D7A6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13 · REQUIREMENTS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" y="713232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요구사항은 “기능”이 아니라 “검증 가능한 항목”으로 연결했습니다.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21792" y="1271016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사용자 요구(UR)와 시스템 요구(SR)를 시연·로그·DB 조회로 확인할 수 있도록 구성했습니다.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21792" y="6537960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9B9F9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MOTIVE · 우심운까</a:t>
            </a:r>
            <a:endParaRPr lang="en-US" sz="680" dirty="0"/>
          </a:p>
        </p:txBody>
      </p:sp>
      <p:sp>
        <p:nvSpPr>
          <p:cNvPr id="7" name="Shape 5"/>
          <p:cNvSpPr/>
          <p:nvPr/>
        </p:nvSpPr>
        <p:spPr>
          <a:xfrm>
            <a:off x="713232" y="1920240"/>
            <a:ext cx="2423160" cy="3337560"/>
          </a:xfrm>
          <a:prstGeom prst="roundRect">
            <a:avLst>
              <a:gd name="adj" fmla="val 3019"/>
            </a:avLst>
          </a:prstGeom>
          <a:solidFill>
            <a:srgbClr val="FFFDF8"/>
          </a:solidFill>
          <a:ln w="12700">
            <a:solidFill>
              <a:srgbClr val="D5D0C5"/>
            </a:solidFill>
            <a:prstDash val="solid"/>
          </a:ln>
          <a:effectLst>
            <a:outerShdw sx="100000" sy="100000" kx="0" ky="0" algn="bl" rotWithShape="0" blurRad="12700" dist="7620" dir="2700000">
              <a:srgbClr val="B7B0A3">
                <a:alpha val="11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13232" y="1920240"/>
            <a:ext cx="2423160" cy="54864"/>
          </a:xfrm>
          <a:prstGeom prst="rect">
            <a:avLst/>
          </a:prstGeom>
          <a:solidFill>
            <a:srgbClr val="2F5E4E"/>
          </a:solidFill>
          <a:ln w="12700">
            <a:solidFill>
              <a:srgbClr val="2F5E4E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2313432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추천 경험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77824" y="288036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2F5E4E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USER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77824" y="3145536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UR-01 · UR-02 · UR-03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77824" y="3712464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2F5E4E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SYSTEM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77824" y="3977640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SR-01 · SR-02 · SR-07 · SR-08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877824" y="455371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2F5E4E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VERIFY</a:t>
            </a:r>
            <a:endParaRPr lang="en-US" sz="740" dirty="0"/>
          </a:p>
        </p:txBody>
      </p:sp>
      <p:sp>
        <p:nvSpPr>
          <p:cNvPr id="15" name="Text 13"/>
          <p:cNvSpPr/>
          <p:nvPr/>
        </p:nvSpPr>
        <p:spPr>
          <a:xfrm>
            <a:off x="877824" y="4800600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추천 화면 · 추천 카드 · 지도 링크</a:t>
            </a:r>
            <a:endParaRPr lang="en-US" sz="790" dirty="0"/>
          </a:p>
        </p:txBody>
      </p:sp>
      <p:sp>
        <p:nvSpPr>
          <p:cNvPr id="16" name="Shape 14"/>
          <p:cNvSpPr/>
          <p:nvPr/>
        </p:nvSpPr>
        <p:spPr>
          <a:xfrm>
            <a:off x="3493008" y="1920240"/>
            <a:ext cx="2423160" cy="3337560"/>
          </a:xfrm>
          <a:prstGeom prst="roundRect">
            <a:avLst>
              <a:gd name="adj" fmla="val 3019"/>
            </a:avLst>
          </a:prstGeom>
          <a:solidFill>
            <a:srgbClr val="FFFDF8"/>
          </a:solidFill>
          <a:ln w="12700">
            <a:solidFill>
              <a:srgbClr val="D5D0C5"/>
            </a:solidFill>
            <a:prstDash val="solid"/>
          </a:ln>
          <a:effectLst>
            <a:outerShdw sx="100000" sy="100000" kx="0" ky="0" algn="bl" rotWithShape="0" blurRad="12700" dist="7620" dir="2700000">
              <a:srgbClr val="B7B0A3">
                <a:alpha val="11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93008" y="1920240"/>
            <a:ext cx="2423160" cy="54864"/>
          </a:xfrm>
          <a:prstGeom prst="rect">
            <a:avLst/>
          </a:prstGeom>
          <a:solidFill>
            <a:srgbClr val="C96D4B"/>
          </a:solidFill>
          <a:ln w="12700">
            <a:solidFill>
              <a:srgbClr val="C96D4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0" y="2313432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운동 기록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0" y="288036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C96D4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USER</a:t>
            </a:r>
            <a:endParaRPr lang="en-US" sz="740" dirty="0"/>
          </a:p>
        </p:txBody>
      </p:sp>
      <p:sp>
        <p:nvSpPr>
          <p:cNvPr id="20" name="Text 18"/>
          <p:cNvSpPr/>
          <p:nvPr/>
        </p:nvSpPr>
        <p:spPr>
          <a:xfrm>
            <a:off x="3657600" y="3145536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UR-04 · UR-05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657600" y="3712464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C96D4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SYSTEM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3657600" y="3977640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SR-11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3657600" y="455371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C96D4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VERIFY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3657600" y="4800600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운동량 API · 홈 화면 · 보상 변화</a:t>
            </a:r>
            <a:endParaRPr lang="en-US" sz="790" dirty="0"/>
          </a:p>
        </p:txBody>
      </p:sp>
      <p:sp>
        <p:nvSpPr>
          <p:cNvPr id="25" name="Shape 23"/>
          <p:cNvSpPr/>
          <p:nvPr/>
        </p:nvSpPr>
        <p:spPr>
          <a:xfrm>
            <a:off x="6272784" y="1920240"/>
            <a:ext cx="2423160" cy="3337560"/>
          </a:xfrm>
          <a:prstGeom prst="roundRect">
            <a:avLst>
              <a:gd name="adj" fmla="val 3019"/>
            </a:avLst>
          </a:prstGeom>
          <a:solidFill>
            <a:srgbClr val="FFFDF8"/>
          </a:solidFill>
          <a:ln w="12700">
            <a:solidFill>
              <a:srgbClr val="D5D0C5"/>
            </a:solidFill>
            <a:prstDash val="solid"/>
          </a:ln>
          <a:effectLst>
            <a:outerShdw sx="100000" sy="100000" kx="0" ky="0" algn="bl" rotWithShape="0" blurRad="12700" dist="7620" dir="2700000">
              <a:srgbClr val="B7B0A3">
                <a:alpha val="11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72784" y="1920240"/>
            <a:ext cx="2423160" cy="54864"/>
          </a:xfrm>
          <a:prstGeom prst="rect">
            <a:avLst/>
          </a:prstGeom>
          <a:solidFill>
            <a:srgbClr val="5276A7"/>
          </a:solidFill>
          <a:ln w="12700">
            <a:solidFill>
              <a:srgbClr val="5276A7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2313432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사용자 기능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37376" y="288036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5276A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USER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6437376" y="3145536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UR-06 · UR-07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37376" y="3712464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5276A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SYSTEM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6437376" y="3977640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SR-12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6437376" y="455371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5276A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VERIFY</a:t>
            </a:r>
            <a:endParaRPr lang="en-US" sz="740" dirty="0"/>
          </a:p>
        </p:txBody>
      </p:sp>
      <p:sp>
        <p:nvSpPr>
          <p:cNvPr id="33" name="Text 31"/>
          <p:cNvSpPr/>
          <p:nvPr/>
        </p:nvSpPr>
        <p:spPr>
          <a:xfrm>
            <a:off x="6437376" y="4800600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프로필 저장 · 친구 화면 시연</a:t>
            </a:r>
            <a:endParaRPr lang="en-US" sz="790" dirty="0"/>
          </a:p>
        </p:txBody>
      </p:sp>
      <p:sp>
        <p:nvSpPr>
          <p:cNvPr id="34" name="Shape 32"/>
          <p:cNvSpPr/>
          <p:nvPr/>
        </p:nvSpPr>
        <p:spPr>
          <a:xfrm>
            <a:off x="9052560" y="1920240"/>
            <a:ext cx="2423160" cy="3337560"/>
          </a:xfrm>
          <a:prstGeom prst="roundRect">
            <a:avLst>
              <a:gd name="adj" fmla="val 3019"/>
            </a:avLst>
          </a:prstGeom>
          <a:solidFill>
            <a:srgbClr val="FFFDF8"/>
          </a:solidFill>
          <a:ln w="12700">
            <a:solidFill>
              <a:srgbClr val="D5D0C5"/>
            </a:solidFill>
            <a:prstDash val="solid"/>
          </a:ln>
          <a:effectLst>
            <a:outerShdw sx="100000" sy="100000" kx="0" ky="0" algn="bl" rotWithShape="0" blurRad="12700" dist="7620" dir="2700000">
              <a:srgbClr val="B7B0A3">
                <a:alpha val="11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9052560" y="1920240"/>
            <a:ext cx="2423160" cy="54864"/>
          </a:xfrm>
          <a:prstGeom prst="rect">
            <a:avLst/>
          </a:prstGeom>
          <a:solidFill>
            <a:srgbClr val="D9B75B"/>
          </a:solidFill>
          <a:ln w="12700">
            <a:solidFill>
              <a:srgbClr val="D9B75B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217152" y="2313432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데이터 운영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217152" y="288036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D9B7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USER</a:t>
            </a:r>
            <a:endParaRPr lang="en-US" sz="740" dirty="0"/>
          </a:p>
        </p:txBody>
      </p:sp>
      <p:sp>
        <p:nvSpPr>
          <p:cNvPr id="38" name="Text 36"/>
          <p:cNvSpPr/>
          <p:nvPr/>
        </p:nvSpPr>
        <p:spPr>
          <a:xfrm>
            <a:off x="9217152" y="3145536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서비스 전반 지원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9217152" y="3712464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D9B7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SYSTEM</a:t>
            </a:r>
            <a:endParaRPr lang="en-US" sz="740" dirty="0"/>
          </a:p>
        </p:txBody>
      </p:sp>
      <p:sp>
        <p:nvSpPr>
          <p:cNvPr id="40" name="Text 38"/>
          <p:cNvSpPr/>
          <p:nvPr/>
        </p:nvSpPr>
        <p:spPr>
          <a:xfrm>
            <a:off x="9217152" y="3977640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SR-03 · 04 · 05 · 06 · 09 · 10</a:t>
            </a:r>
            <a:endParaRPr lang="en-US" sz="820" dirty="0"/>
          </a:p>
        </p:txBody>
      </p:sp>
      <p:sp>
        <p:nvSpPr>
          <p:cNvPr id="41" name="Text 39"/>
          <p:cNvSpPr/>
          <p:nvPr/>
        </p:nvSpPr>
        <p:spPr>
          <a:xfrm>
            <a:off x="9217152" y="455371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D9B7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VERIFY</a:t>
            </a:r>
            <a:endParaRPr lang="en-US" sz="740" dirty="0"/>
          </a:p>
        </p:txBody>
      </p:sp>
      <p:sp>
        <p:nvSpPr>
          <p:cNvPr id="42" name="Text 40"/>
          <p:cNvSpPr/>
          <p:nvPr/>
        </p:nvSpPr>
        <p:spPr>
          <a:xfrm>
            <a:off x="9217152" y="4800600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정제 파일 · DQ · 로그 · 재실행</a:t>
            </a:r>
            <a:endParaRPr lang="en-US" sz="790" dirty="0"/>
          </a:p>
        </p:txBody>
      </p:sp>
      <p:sp>
        <p:nvSpPr>
          <p:cNvPr id="43" name="Text 41"/>
          <p:cNvSpPr/>
          <p:nvPr/>
        </p:nvSpPr>
        <p:spPr>
          <a:xfrm>
            <a:off x="11109960" y="649224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9B9F9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14</a:t>
            </a:r>
            <a:endParaRPr lang="en-US" sz="7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F5E4E"/>
          </a:solidFill>
          <a:ln w="12700">
            <a:solidFill>
              <a:srgbClr val="2F5E4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1089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4D7A6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14 · EVIDENCE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" y="713232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평가자는 “코드가 있다”보다 “실행 결과가 남는다”를 확인합니다.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21792" y="1271016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수집·정제·적재·품질검증 결과를 파일과 로그 위치로 명시했습니다.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21792" y="6537960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9B9F9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MOTIVE · 우심운까</a:t>
            </a:r>
            <a:endParaRPr lang="en-US" sz="680" dirty="0"/>
          </a:p>
        </p:txBody>
      </p:sp>
      <p:sp>
        <p:nvSpPr>
          <p:cNvPr id="7" name="Shape 5"/>
          <p:cNvSpPr/>
          <p:nvPr/>
        </p:nvSpPr>
        <p:spPr>
          <a:xfrm>
            <a:off x="713232" y="1993392"/>
            <a:ext cx="1883664" cy="2487168"/>
          </a:xfrm>
          <a:prstGeom prst="roundRect">
            <a:avLst>
              <a:gd name="adj" fmla="val 3883"/>
            </a:avLst>
          </a:prstGeom>
          <a:solidFill>
            <a:srgbClr val="FFFDF8"/>
          </a:solidFill>
          <a:ln w="12700">
            <a:solidFill>
              <a:srgbClr val="D5D0C5"/>
            </a:solidFill>
            <a:prstDash val="solid"/>
          </a:ln>
          <a:effectLst>
            <a:outerShdw sx="100000" sy="100000" kx="0" ky="0" algn="bl" rotWithShape="0" blurRad="12700" dist="7620" dir="2700000">
              <a:srgbClr val="B7B0A3">
                <a:alpha val="11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50392" y="2212848"/>
            <a:ext cx="1298448" cy="256032"/>
          </a:xfrm>
          <a:prstGeom prst="roundRect">
            <a:avLst>
              <a:gd name="adj" fmla="val 17857"/>
            </a:avLst>
          </a:prstGeom>
          <a:solidFill>
            <a:srgbClr val="5276A7"/>
          </a:solidFill>
          <a:ln w="12700">
            <a:solidFill>
              <a:srgbClr val="5276A7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265883"/>
            <a:ext cx="12070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RAW API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859536" y="2907792"/>
            <a:ext cx="15910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output/raw/*.json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859536" y="3822192"/>
            <a:ext cx="1591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원본 응답 · 요청 시각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926080" y="1993392"/>
            <a:ext cx="1883664" cy="2487168"/>
          </a:xfrm>
          <a:prstGeom prst="roundRect">
            <a:avLst>
              <a:gd name="adj" fmla="val 3883"/>
            </a:avLst>
          </a:prstGeom>
          <a:solidFill>
            <a:srgbClr val="FFFDF8"/>
          </a:solidFill>
          <a:ln w="12700">
            <a:solidFill>
              <a:srgbClr val="D5D0C5"/>
            </a:solidFill>
            <a:prstDash val="solid"/>
          </a:ln>
          <a:effectLst>
            <a:outerShdw sx="100000" sy="100000" kx="0" ky="0" algn="bl" rotWithShape="0" blurRad="12700" dist="7620" dir="2700000">
              <a:srgbClr val="B7B0A3">
                <a:alpha val="11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063240" y="2212848"/>
            <a:ext cx="1298448" cy="256032"/>
          </a:xfrm>
          <a:prstGeom prst="roundRect">
            <a:avLst>
              <a:gd name="adj" fmla="val 17857"/>
            </a:avLst>
          </a:prstGeom>
          <a:solidFill>
            <a:srgbClr val="2F5E4E"/>
          </a:solidFill>
          <a:ln w="12700">
            <a:solidFill>
              <a:srgbClr val="2F5E4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08960" y="2265883"/>
            <a:ext cx="12070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NORMALIZED</a:t>
            </a:r>
            <a:endParaRPr lang="en-US" sz="740" dirty="0"/>
          </a:p>
        </p:txBody>
      </p:sp>
      <p:sp>
        <p:nvSpPr>
          <p:cNvPr id="15" name="Text 13"/>
          <p:cNvSpPr/>
          <p:nvPr/>
        </p:nvSpPr>
        <p:spPr>
          <a:xfrm>
            <a:off x="3072384" y="2907792"/>
            <a:ext cx="15910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output/facilities_normalized.json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output/facilities.csv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3072384" y="3822192"/>
            <a:ext cx="1591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표준 컬럼 · 정제 결과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138928" y="1993392"/>
            <a:ext cx="1883664" cy="2487168"/>
          </a:xfrm>
          <a:prstGeom prst="roundRect">
            <a:avLst>
              <a:gd name="adj" fmla="val 3883"/>
            </a:avLst>
          </a:prstGeom>
          <a:solidFill>
            <a:srgbClr val="FFFDF8"/>
          </a:solidFill>
          <a:ln w="12700">
            <a:solidFill>
              <a:srgbClr val="D5D0C5"/>
            </a:solidFill>
            <a:prstDash val="solid"/>
          </a:ln>
          <a:effectLst>
            <a:outerShdw sx="100000" sy="100000" kx="0" ky="0" algn="bl" rotWithShape="0" blurRad="12700" dist="7620" dir="2700000">
              <a:srgbClr val="B7B0A3">
                <a:alpha val="11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276088" y="2212848"/>
            <a:ext cx="1298448" cy="256032"/>
          </a:xfrm>
          <a:prstGeom prst="roundRect">
            <a:avLst>
              <a:gd name="adj" fmla="val 17857"/>
            </a:avLst>
          </a:prstGeom>
          <a:solidFill>
            <a:srgbClr val="C96D4B"/>
          </a:solidFill>
          <a:ln w="12700">
            <a:solidFill>
              <a:srgbClr val="C96D4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21808" y="2265883"/>
            <a:ext cx="12070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ENRICHMENT</a:t>
            </a:r>
            <a:endParaRPr lang="en-US" sz="740" dirty="0"/>
          </a:p>
        </p:txBody>
      </p:sp>
      <p:sp>
        <p:nvSpPr>
          <p:cNvPr id="20" name="Text 18"/>
          <p:cNvSpPr/>
          <p:nvPr/>
        </p:nvSpPr>
        <p:spPr>
          <a:xfrm>
            <a:off x="5285232" y="2907792"/>
            <a:ext cx="15910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output/facility_enrichment/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5285232" y="3822192"/>
            <a:ext cx="1591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누락정보 조사 리포트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351776" y="1993392"/>
            <a:ext cx="1883664" cy="2487168"/>
          </a:xfrm>
          <a:prstGeom prst="roundRect">
            <a:avLst>
              <a:gd name="adj" fmla="val 3883"/>
            </a:avLst>
          </a:prstGeom>
          <a:solidFill>
            <a:srgbClr val="FFFDF8"/>
          </a:solidFill>
          <a:ln w="12700">
            <a:solidFill>
              <a:srgbClr val="D5D0C5"/>
            </a:solidFill>
            <a:prstDash val="solid"/>
          </a:ln>
          <a:effectLst>
            <a:outerShdw sx="100000" sy="100000" kx="0" ky="0" algn="bl" rotWithShape="0" blurRad="12700" dist="7620" dir="2700000">
              <a:srgbClr val="B7B0A3">
                <a:alpha val="11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488936" y="2212848"/>
            <a:ext cx="1298448" cy="256032"/>
          </a:xfrm>
          <a:prstGeom prst="roundRect">
            <a:avLst>
              <a:gd name="adj" fmla="val 17857"/>
            </a:avLst>
          </a:prstGeom>
          <a:solidFill>
            <a:srgbClr val="B6534C"/>
          </a:solidFill>
          <a:ln w="12700">
            <a:solidFill>
              <a:srgbClr val="B6534C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34656" y="2265883"/>
            <a:ext cx="12070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PIPELINE LOG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7498080" y="2907792"/>
            <a:ext cx="15910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logs/pipeline-YYYYMMDD.jsonl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7498080" y="3822192"/>
            <a:ext cx="1591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건수 · 상태 · 오류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9564624" y="1993392"/>
            <a:ext cx="1883664" cy="2487168"/>
          </a:xfrm>
          <a:prstGeom prst="roundRect">
            <a:avLst>
              <a:gd name="adj" fmla="val 3883"/>
            </a:avLst>
          </a:prstGeom>
          <a:solidFill>
            <a:srgbClr val="FFFDF8"/>
          </a:solidFill>
          <a:ln w="12700">
            <a:solidFill>
              <a:srgbClr val="D5D0C5"/>
            </a:solidFill>
            <a:prstDash val="solid"/>
          </a:ln>
          <a:effectLst>
            <a:outerShdw sx="100000" sy="100000" kx="0" ky="0" algn="bl" rotWithShape="0" blurRad="12700" dist="7620" dir="2700000">
              <a:srgbClr val="B7B0A3">
                <a:alpha val="11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701784" y="2212848"/>
            <a:ext cx="1298448" cy="256032"/>
          </a:xfrm>
          <a:prstGeom prst="roundRect">
            <a:avLst>
              <a:gd name="adj" fmla="val 17857"/>
            </a:avLst>
          </a:prstGeom>
          <a:solidFill>
            <a:srgbClr val="D9B75B"/>
          </a:solidFill>
          <a:ln w="12700">
            <a:solidFill>
              <a:srgbClr val="D9B75B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747504" y="2265883"/>
            <a:ext cx="12070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QUALITY DOC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9710928" y="2907792"/>
            <a:ext cx="15910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docs/assessment/data-quality.md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9710928" y="3822192"/>
            <a:ext cx="1591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품질검증 기준 설명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033272" y="4919472"/>
            <a:ext cx="10104120" cy="804672"/>
          </a:xfrm>
          <a:prstGeom prst="roundRect">
            <a:avLst>
              <a:gd name="adj" fmla="val 9091"/>
            </a:avLst>
          </a:prstGeom>
          <a:solidFill>
            <a:srgbClr val="EEF5EF"/>
          </a:solidFill>
          <a:ln w="12700">
            <a:solidFill>
              <a:srgbClr val="B8D0C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25880" y="514807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2F5E4E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로그 한 줄: run_id · started_at · finished_at · region · collected_count · normalized_count · loaded_count · quality_status · errors</a:t>
            </a:r>
            <a:endParaRPr lang="en-US" sz="890" dirty="0"/>
          </a:p>
        </p:txBody>
      </p:sp>
      <p:sp>
        <p:nvSpPr>
          <p:cNvPr id="34" name="Text 32"/>
          <p:cNvSpPr/>
          <p:nvPr/>
        </p:nvSpPr>
        <p:spPr>
          <a:xfrm>
            <a:off x="11109960" y="649224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9B9F9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15</a:t>
            </a:r>
            <a:endParaRPr lang="en-US" sz="7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F5E4E"/>
          </a:solidFill>
          <a:ln w="12700">
            <a:solidFill>
              <a:srgbClr val="2F5E4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1089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4D7A6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15 · DEMO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" y="713232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시연은 “서비스 → 데이터 파이프라인” 순서로 보여줍니다.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21792" y="1271016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사용자 가치를 먼저 보여준 뒤, 그 결과를 만드는 데이터 흐름을 증빙합니다.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21792" y="6537960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9B9F9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MOTIVE · 우심운까</a:t>
            </a:r>
            <a:endParaRPr lang="en-US" sz="680" dirty="0"/>
          </a:p>
        </p:txBody>
      </p:sp>
      <p:sp>
        <p:nvSpPr>
          <p:cNvPr id="7" name="Shape 5"/>
          <p:cNvSpPr/>
          <p:nvPr/>
        </p:nvSpPr>
        <p:spPr>
          <a:xfrm>
            <a:off x="786384" y="1956816"/>
            <a:ext cx="5102352" cy="896112"/>
          </a:xfrm>
          <a:prstGeom prst="roundRect">
            <a:avLst>
              <a:gd name="adj" fmla="val 8163"/>
            </a:avLst>
          </a:prstGeom>
          <a:solidFill>
            <a:srgbClr val="FFFDF8"/>
          </a:solidFill>
          <a:ln w="12700">
            <a:solidFill>
              <a:srgbClr val="D5D0C5"/>
            </a:solidFill>
            <a:prstDash val="solid"/>
          </a:ln>
          <a:effectLst>
            <a:outerShdw sx="100000" sy="100000" kx="0" ky="0" algn="bl" rotWithShape="0" blurRad="12700" dist="7620" dir="2700000">
              <a:srgbClr val="B7B0A3">
                <a:alpha val="11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87552" y="2157984"/>
            <a:ext cx="475488" cy="475488"/>
          </a:xfrm>
          <a:prstGeom prst="ellipse">
            <a:avLst/>
          </a:prstGeom>
          <a:solidFill>
            <a:srgbClr val="2F5E4E"/>
          </a:solidFill>
          <a:ln w="12700">
            <a:solidFill>
              <a:srgbClr val="2F5E4E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2304288"/>
            <a:ext cx="402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01</a:t>
            </a:r>
            <a:endParaRPr lang="en-US" sz="770" dirty="0"/>
          </a:p>
        </p:txBody>
      </p:sp>
      <p:sp>
        <p:nvSpPr>
          <p:cNvPr id="10" name="Text 8"/>
          <p:cNvSpPr/>
          <p:nvPr/>
        </p:nvSpPr>
        <p:spPr>
          <a:xfrm>
            <a:off x="1636776" y="213055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서버 실행</a:t>
            </a:r>
            <a:endParaRPr lang="en-US" sz="1060" dirty="0"/>
          </a:p>
        </p:txBody>
      </p:sp>
      <p:sp>
        <p:nvSpPr>
          <p:cNvPr id="11" name="Text 9"/>
          <p:cNvSpPr/>
          <p:nvPr/>
        </p:nvSpPr>
        <p:spPr>
          <a:xfrm>
            <a:off x="1636776" y="2441448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시작 화면 · 게스트/회원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786384" y="3127248"/>
            <a:ext cx="5102352" cy="896112"/>
          </a:xfrm>
          <a:prstGeom prst="roundRect">
            <a:avLst>
              <a:gd name="adj" fmla="val 8163"/>
            </a:avLst>
          </a:prstGeom>
          <a:solidFill>
            <a:srgbClr val="FFFDF8"/>
          </a:solidFill>
          <a:ln w="12700">
            <a:solidFill>
              <a:srgbClr val="D5D0C5"/>
            </a:solidFill>
            <a:prstDash val="solid"/>
          </a:ln>
          <a:effectLst>
            <a:outerShdw sx="100000" sy="100000" kx="0" ky="0" algn="bl" rotWithShape="0" blurRad="12700" dist="7620" dir="2700000">
              <a:srgbClr val="B7B0A3">
                <a:alpha val="11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87552" y="3328416"/>
            <a:ext cx="475488" cy="475488"/>
          </a:xfrm>
          <a:prstGeom prst="ellipse">
            <a:avLst/>
          </a:prstGeom>
          <a:solidFill>
            <a:srgbClr val="2F5E4E"/>
          </a:solidFill>
          <a:ln w="12700">
            <a:solidFill>
              <a:srgbClr val="2F5E4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3474720"/>
            <a:ext cx="402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02</a:t>
            </a:r>
            <a:endParaRPr lang="en-US" sz="770" dirty="0"/>
          </a:p>
        </p:txBody>
      </p:sp>
      <p:sp>
        <p:nvSpPr>
          <p:cNvPr id="15" name="Text 13"/>
          <p:cNvSpPr/>
          <p:nvPr/>
        </p:nvSpPr>
        <p:spPr>
          <a:xfrm>
            <a:off x="1636776" y="330098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조건 입력</a:t>
            </a:r>
            <a:endParaRPr lang="en-US" sz="1060" dirty="0"/>
          </a:p>
        </p:txBody>
      </p:sp>
      <p:sp>
        <p:nvSpPr>
          <p:cNvPr id="16" name="Text 14"/>
          <p:cNvSpPr/>
          <p:nvPr/>
        </p:nvSpPr>
        <p:spPr>
          <a:xfrm>
            <a:off x="1636776" y="3611880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지역 · 운동 종목 · 이동 조건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786384" y="4297680"/>
            <a:ext cx="5102352" cy="896112"/>
          </a:xfrm>
          <a:prstGeom prst="roundRect">
            <a:avLst>
              <a:gd name="adj" fmla="val 8163"/>
            </a:avLst>
          </a:prstGeom>
          <a:solidFill>
            <a:srgbClr val="FFFDF8"/>
          </a:solidFill>
          <a:ln w="12700">
            <a:solidFill>
              <a:srgbClr val="D5D0C5"/>
            </a:solidFill>
            <a:prstDash val="solid"/>
          </a:ln>
          <a:effectLst>
            <a:outerShdw sx="100000" sy="100000" kx="0" ky="0" algn="bl" rotWithShape="0" blurRad="12700" dist="7620" dir="2700000">
              <a:srgbClr val="B7B0A3">
                <a:alpha val="11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87552" y="4498848"/>
            <a:ext cx="475488" cy="475488"/>
          </a:xfrm>
          <a:prstGeom prst="ellipse">
            <a:avLst/>
          </a:prstGeom>
          <a:solidFill>
            <a:srgbClr val="2F5E4E"/>
          </a:solidFill>
          <a:ln w="12700">
            <a:solidFill>
              <a:srgbClr val="2F5E4E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4128" y="4645152"/>
            <a:ext cx="402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03</a:t>
            </a:r>
            <a:endParaRPr lang="en-US" sz="770" dirty="0"/>
          </a:p>
        </p:txBody>
      </p:sp>
      <p:sp>
        <p:nvSpPr>
          <p:cNvPr id="20" name="Text 18"/>
          <p:cNvSpPr/>
          <p:nvPr/>
        </p:nvSpPr>
        <p:spPr>
          <a:xfrm>
            <a:off x="1636776" y="4471416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추천 확인</a:t>
            </a:r>
            <a:endParaRPr lang="en-US" sz="1060" dirty="0"/>
          </a:p>
        </p:txBody>
      </p:sp>
      <p:sp>
        <p:nvSpPr>
          <p:cNvPr id="21" name="Text 19"/>
          <p:cNvSpPr/>
          <p:nvPr/>
        </p:nvSpPr>
        <p:spPr>
          <a:xfrm>
            <a:off x="1636776" y="4782312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거리 · 환경 · 추천 이유 · 지도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6437376" y="1956816"/>
            <a:ext cx="5102352" cy="896112"/>
          </a:xfrm>
          <a:prstGeom prst="roundRect">
            <a:avLst>
              <a:gd name="adj" fmla="val 8163"/>
            </a:avLst>
          </a:prstGeom>
          <a:solidFill>
            <a:srgbClr val="FFFDF8"/>
          </a:solidFill>
          <a:ln w="12700">
            <a:solidFill>
              <a:srgbClr val="D5D0C5"/>
            </a:solidFill>
            <a:prstDash val="solid"/>
          </a:ln>
          <a:effectLst>
            <a:outerShdw sx="100000" sy="100000" kx="0" ky="0" algn="bl" rotWithShape="0" blurRad="12700" dist="7620" dir="2700000">
              <a:srgbClr val="B7B0A3">
                <a:alpha val="11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638544" y="2157984"/>
            <a:ext cx="475488" cy="475488"/>
          </a:xfrm>
          <a:prstGeom prst="ellipse">
            <a:avLst/>
          </a:prstGeom>
          <a:solidFill>
            <a:srgbClr val="2F5E4E"/>
          </a:solidFill>
          <a:ln w="12700">
            <a:solidFill>
              <a:srgbClr val="2F5E4E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0" y="2304288"/>
            <a:ext cx="402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04</a:t>
            </a:r>
            <a:endParaRPr lang="en-US" sz="770" dirty="0"/>
          </a:p>
        </p:txBody>
      </p:sp>
      <p:sp>
        <p:nvSpPr>
          <p:cNvPr id="25" name="Text 23"/>
          <p:cNvSpPr/>
          <p:nvPr/>
        </p:nvSpPr>
        <p:spPr>
          <a:xfrm>
            <a:off x="7287768" y="213055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운동 기록</a:t>
            </a:r>
            <a:endParaRPr lang="en-US" sz="1060" dirty="0"/>
          </a:p>
        </p:txBody>
      </p:sp>
      <p:sp>
        <p:nvSpPr>
          <p:cNvPr id="26" name="Text 24"/>
          <p:cNvSpPr/>
          <p:nvPr/>
        </p:nvSpPr>
        <p:spPr>
          <a:xfrm>
            <a:off x="7287768" y="2441448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칼로리 입력 · 운동방 보상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6437376" y="3127248"/>
            <a:ext cx="5102352" cy="896112"/>
          </a:xfrm>
          <a:prstGeom prst="roundRect">
            <a:avLst>
              <a:gd name="adj" fmla="val 8163"/>
            </a:avLst>
          </a:prstGeom>
          <a:solidFill>
            <a:srgbClr val="FFFDF8"/>
          </a:solidFill>
          <a:ln w="12700">
            <a:solidFill>
              <a:srgbClr val="D5D0C5"/>
            </a:solidFill>
            <a:prstDash val="solid"/>
          </a:ln>
          <a:effectLst>
            <a:outerShdw sx="100000" sy="100000" kx="0" ky="0" algn="bl" rotWithShape="0" blurRad="12700" dist="7620" dir="2700000">
              <a:srgbClr val="B7B0A3">
                <a:alpha val="11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638544" y="3328416"/>
            <a:ext cx="475488" cy="475488"/>
          </a:xfrm>
          <a:prstGeom prst="ellipse">
            <a:avLst/>
          </a:prstGeom>
          <a:solidFill>
            <a:srgbClr val="C96D4B"/>
          </a:solidFill>
          <a:ln w="12700">
            <a:solidFill>
              <a:srgbClr val="C96D4B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0" y="3474720"/>
            <a:ext cx="402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05</a:t>
            </a:r>
            <a:endParaRPr lang="en-US" sz="770" dirty="0"/>
          </a:p>
        </p:txBody>
      </p:sp>
      <p:sp>
        <p:nvSpPr>
          <p:cNvPr id="30" name="Text 28"/>
          <p:cNvSpPr/>
          <p:nvPr/>
        </p:nvSpPr>
        <p:spPr>
          <a:xfrm>
            <a:off x="7287768" y="330098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파이프라인 실행</a:t>
            </a:r>
            <a:endParaRPr lang="en-US" sz="1060" dirty="0"/>
          </a:p>
        </p:txBody>
      </p:sp>
      <p:sp>
        <p:nvSpPr>
          <p:cNvPr id="31" name="Text 29"/>
          <p:cNvSpPr/>
          <p:nvPr/>
        </p:nvSpPr>
        <p:spPr>
          <a:xfrm>
            <a:off x="7287768" y="3611880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run_pipeline.py 실행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6437376" y="4297680"/>
            <a:ext cx="5102352" cy="896112"/>
          </a:xfrm>
          <a:prstGeom prst="roundRect">
            <a:avLst>
              <a:gd name="adj" fmla="val 8163"/>
            </a:avLst>
          </a:prstGeom>
          <a:solidFill>
            <a:srgbClr val="FFFDF8"/>
          </a:solidFill>
          <a:ln w="12700">
            <a:solidFill>
              <a:srgbClr val="D5D0C5"/>
            </a:solidFill>
            <a:prstDash val="solid"/>
          </a:ln>
          <a:effectLst>
            <a:outerShdw sx="100000" sy="100000" kx="0" ky="0" algn="bl" rotWithShape="0" blurRad="12700" dist="7620" dir="2700000">
              <a:srgbClr val="B7B0A3">
                <a:alpha val="11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638544" y="4498848"/>
            <a:ext cx="475488" cy="475488"/>
          </a:xfrm>
          <a:prstGeom prst="ellipse">
            <a:avLst/>
          </a:prstGeom>
          <a:solidFill>
            <a:srgbClr val="C96D4B"/>
          </a:solidFill>
          <a:ln w="12700">
            <a:solidFill>
              <a:srgbClr val="C96D4B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4645152"/>
            <a:ext cx="402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06</a:t>
            </a:r>
            <a:endParaRPr lang="en-US" sz="770" dirty="0"/>
          </a:p>
        </p:txBody>
      </p:sp>
      <p:sp>
        <p:nvSpPr>
          <p:cNvPr id="35" name="Text 33"/>
          <p:cNvSpPr/>
          <p:nvPr/>
        </p:nvSpPr>
        <p:spPr>
          <a:xfrm>
            <a:off x="7287768" y="4471416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로그 검증</a:t>
            </a:r>
            <a:endParaRPr lang="en-US" sz="1060" dirty="0"/>
          </a:p>
        </p:txBody>
      </p:sp>
      <p:sp>
        <p:nvSpPr>
          <p:cNvPr id="36" name="Text 34"/>
          <p:cNvSpPr/>
          <p:nvPr/>
        </p:nvSpPr>
        <p:spPr>
          <a:xfrm>
            <a:off x="7287768" y="4782312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output/ · logs/ 건수 확인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749808" y="5724144"/>
            <a:ext cx="10680192" cy="502920"/>
          </a:xfrm>
          <a:prstGeom prst="roundRect">
            <a:avLst>
              <a:gd name="adj" fmla="val 14545"/>
            </a:avLst>
          </a:prstGeom>
          <a:solidFill>
            <a:srgbClr val="F4E0D4"/>
          </a:solidFill>
          <a:ln w="12700">
            <a:solidFill>
              <a:srgbClr val="E4D9B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87552" y="5870448"/>
            <a:ext cx="10204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C96D4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실제 테스트 건수·평균 응답시간은 실행 환경에 따라 달라지므로, 발표 직전 로그의 실제 값으로 교체합니다.</a:t>
            </a:r>
            <a:endParaRPr lang="en-US" sz="920" dirty="0"/>
          </a:p>
        </p:txBody>
      </p:sp>
      <p:sp>
        <p:nvSpPr>
          <p:cNvPr id="39" name="Text 37"/>
          <p:cNvSpPr/>
          <p:nvPr/>
        </p:nvSpPr>
        <p:spPr>
          <a:xfrm>
            <a:off x="11109960" y="649224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9B9F9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16</a:t>
            </a:r>
            <a:endParaRPr lang="en-US" sz="7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F5E4E"/>
          </a:solidFill>
          <a:ln w="12700">
            <a:solidFill>
              <a:srgbClr val="2F5E4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1089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4D7A6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16 · CURRENT / NEXT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" y="713232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현재 구현 범위와 다음 개선 방향을 구분했습니다.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21792" y="1271016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이미 구현된 것과 아직 연결되지 않은 것을 발표에서 명확히 구분합니다.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21792" y="6537960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9B9F9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MOTIVE · 우심운까</a:t>
            </a:r>
            <a:endParaRPr lang="en-US" sz="680" dirty="0"/>
          </a:p>
        </p:txBody>
      </p:sp>
      <p:sp>
        <p:nvSpPr>
          <p:cNvPr id="7" name="Shape 5"/>
          <p:cNvSpPr/>
          <p:nvPr/>
        </p:nvSpPr>
        <p:spPr>
          <a:xfrm>
            <a:off x="676656" y="1856232"/>
            <a:ext cx="10844784" cy="493776"/>
          </a:xfrm>
          <a:prstGeom prst="roundRect">
            <a:avLst>
              <a:gd name="adj" fmla="val 14815"/>
            </a:avLst>
          </a:prstGeom>
          <a:solidFill>
            <a:srgbClr val="173B31"/>
          </a:solidFill>
          <a:ln w="12700">
            <a:solidFill>
              <a:srgbClr val="173B3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01168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영역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2514600" y="201168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현재 구현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6720840" y="2011680"/>
            <a:ext cx="4526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다음 개선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676656" y="2450592"/>
            <a:ext cx="10844784" cy="530352"/>
          </a:xfrm>
          <a:prstGeom prst="roundRect">
            <a:avLst>
              <a:gd name="adj" fmla="val 13793"/>
            </a:avLst>
          </a:prstGeom>
          <a:solidFill>
            <a:srgbClr val="FFFDF8"/>
          </a:solidFill>
          <a:ln w="12700">
            <a:solidFill>
              <a:srgbClr val="E6E0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260604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계정·운동량</a:t>
            </a:r>
            <a:endParaRPr lang="en-US" sz="870" dirty="0"/>
          </a:p>
        </p:txBody>
      </p:sp>
      <p:sp>
        <p:nvSpPr>
          <p:cNvPr id="13" name="Text 11"/>
          <p:cNvSpPr/>
          <p:nvPr/>
        </p:nvSpPr>
        <p:spPr>
          <a:xfrm>
            <a:off x="2542032" y="25786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DB 저장 · 세션 로그인 · 누적 칼로리·레벨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6720840" y="2578608"/>
            <a:ext cx="4553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기록 관리 · 입력 검증 보강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676656" y="3090672"/>
            <a:ext cx="10844784" cy="530352"/>
          </a:xfrm>
          <a:prstGeom prst="roundRect">
            <a:avLst>
              <a:gd name="adj" fmla="val 13793"/>
            </a:avLst>
          </a:prstGeom>
          <a:solidFill>
            <a:srgbClr val="FAF6ED"/>
          </a:solidFill>
          <a:ln w="12700">
            <a:solidFill>
              <a:srgbClr val="E6E0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" y="324612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추천</a:t>
            </a:r>
            <a:endParaRPr lang="en-US" sz="870" dirty="0"/>
          </a:p>
        </p:txBody>
      </p:sp>
      <p:sp>
        <p:nvSpPr>
          <p:cNvPr id="17" name="Text 15"/>
          <p:cNvSpPr/>
          <p:nvPr/>
        </p:nvSpPr>
        <p:spPr>
          <a:xfrm>
            <a:off x="2542032" y="321868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DB 우선 · PostGIS 거리 · 환경 가중치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6720840" y="3218688"/>
            <a:ext cx="4553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종목 분류 · 결측값 처리 · 추천 기준 고도화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676656" y="3730752"/>
            <a:ext cx="10844784" cy="530352"/>
          </a:xfrm>
          <a:prstGeom prst="roundRect">
            <a:avLst>
              <a:gd name="adj" fmla="val 13793"/>
            </a:avLst>
          </a:prstGeom>
          <a:solidFill>
            <a:srgbClr val="FFFDF8"/>
          </a:solidFill>
          <a:ln w="12700">
            <a:solidFill>
              <a:srgbClr val="E6E0D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" y="388620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시간·위치</a:t>
            </a:r>
            <a:endParaRPr lang="en-US" sz="870" dirty="0"/>
          </a:p>
        </p:txBody>
      </p:sp>
      <p:sp>
        <p:nvSpPr>
          <p:cNvPr id="21" name="Text 19"/>
          <p:cNvSpPr/>
          <p:nvPr/>
        </p:nvSpPr>
        <p:spPr>
          <a:xfrm>
            <a:off x="2542032" y="385876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거리 기반 이동시간 · 설정 기상 격자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6720840" y="3858768"/>
            <a:ext cx="4553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실제 이동수단 경로 · 위치별 기상 격자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676656" y="4370832"/>
            <a:ext cx="10844784" cy="530352"/>
          </a:xfrm>
          <a:prstGeom prst="roundRect">
            <a:avLst>
              <a:gd name="adj" fmla="val 13793"/>
            </a:avLst>
          </a:prstGeom>
          <a:solidFill>
            <a:srgbClr val="FAF6ED"/>
          </a:solidFill>
          <a:ln w="12700">
            <a:solidFill>
              <a:srgbClr val="E6E0D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" y="452628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데이터 파이프라인</a:t>
            </a:r>
            <a:endParaRPr lang="en-US" sz="870" dirty="0"/>
          </a:p>
        </p:txBody>
      </p:sp>
      <p:sp>
        <p:nvSpPr>
          <p:cNvPr id="25" name="Text 23"/>
          <p:cNvSpPr/>
          <p:nvPr/>
        </p:nvSpPr>
        <p:spPr>
          <a:xfrm>
            <a:off x="2542032" y="449884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API 수집 · 파일 출력 · 시설 보완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6720840" y="4498848"/>
            <a:ext cx="4553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초기 적재 절차 문서화 · 주기 수집 고도화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676656" y="5010912"/>
            <a:ext cx="10844784" cy="530352"/>
          </a:xfrm>
          <a:prstGeom prst="roundRect">
            <a:avLst>
              <a:gd name="adj" fmla="val 13793"/>
            </a:avLst>
          </a:prstGeom>
          <a:solidFill>
            <a:srgbClr val="FFFDF8"/>
          </a:solidFill>
          <a:ln w="12700">
            <a:solidFill>
              <a:srgbClr val="E6E0D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0392" y="516636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20302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친구·일기</a:t>
            </a:r>
            <a:endParaRPr lang="en-US" sz="870" dirty="0"/>
          </a:p>
        </p:txBody>
      </p:sp>
      <p:sp>
        <p:nvSpPr>
          <p:cNvPr id="29" name="Text 27"/>
          <p:cNvSpPr/>
          <p:nvPr/>
        </p:nvSpPr>
        <p:spPr>
          <a:xfrm>
            <a:off x="2542032" y="513892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데모 데이터 · 브라우저 저장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6720840" y="5138928"/>
            <a:ext cx="4553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F776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실제 회원 관계 · 기록 통합 API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749808" y="5897880"/>
            <a:ext cx="10680192" cy="502920"/>
          </a:xfrm>
          <a:prstGeom prst="roundRect">
            <a:avLst>
              <a:gd name="adj" fmla="val 14545"/>
            </a:avLst>
          </a:prstGeom>
          <a:solidFill>
            <a:srgbClr val="F6E6E3"/>
          </a:solidFill>
          <a:ln w="12700">
            <a:solidFill>
              <a:srgbClr val="E4D9B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87552" y="6044184"/>
            <a:ext cx="10204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B6534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특히 친구·일기·방 배치 일부는 브라우저 체험 상태이며, 회원 계정과 완전 통합된 서버 기능은 다음 단계입니다.</a:t>
            </a:r>
            <a:endParaRPr lang="en-US" sz="920" dirty="0"/>
          </a:p>
        </p:txBody>
      </p:sp>
      <p:sp>
        <p:nvSpPr>
          <p:cNvPr id="33" name="Text 31"/>
          <p:cNvSpPr/>
          <p:nvPr/>
        </p:nvSpPr>
        <p:spPr>
          <a:xfrm>
            <a:off x="11109960" y="649224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9B9F9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17</a:t>
            </a:r>
            <a:endParaRPr lang="en-US" sz="7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432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1089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C7D7C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17 · TAKEAWAY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713232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거창한 시작보다, 오늘의 작은 움직임.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21792" y="1271016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3CEC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우심운까는 사용자 경험과 데이터 엔지니어링을 하나의 흐름으로 연결했습니다.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21792" y="6537960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1968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MOTIVE · 우심운까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749808" y="2057400"/>
            <a:ext cx="2999232" cy="2304288"/>
          </a:xfrm>
          <a:prstGeom prst="roundRect">
            <a:avLst>
              <a:gd name="adj" fmla="val 3175"/>
            </a:avLst>
          </a:prstGeom>
          <a:solidFill>
            <a:srgbClr val="30423C"/>
          </a:solidFill>
          <a:ln w="12700">
            <a:solidFill>
              <a:srgbClr val="44564F"/>
            </a:solidFill>
            <a:prstDash val="solid"/>
          </a:ln>
          <a:effectLst>
            <a:outerShdw sx="100000" sy="100000" kx="0" ky="0" algn="bl" rotWithShape="0" blurRad="12700" dist="7620" dir="2700000">
              <a:srgbClr val="B7B0A3">
                <a:alpha val="11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258568"/>
            <a:ext cx="621792" cy="265176"/>
          </a:xfrm>
          <a:prstGeom prst="roundRect">
            <a:avLst>
              <a:gd name="adj" fmla="val 27586"/>
            </a:avLst>
          </a:prstGeom>
          <a:solidFill>
            <a:srgbClr val="7CB69A"/>
          </a:solidFill>
          <a:ln w="12700">
            <a:solidFill>
              <a:srgbClr val="7CB69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313432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4322E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01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914400" y="2798064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B69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USER VALUE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3264408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위치·운동 취향·환경을</a:t>
            </a:r>
            <a:endParaRPr lang="en-US" sz="1120" dirty="0"/>
          </a:p>
          <a:p>
            <a:pPr algn="l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한 번에 비교하는 추천 경험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4096512" y="2057400"/>
            <a:ext cx="2999232" cy="2304288"/>
          </a:xfrm>
          <a:prstGeom prst="roundRect">
            <a:avLst>
              <a:gd name="adj" fmla="val 3175"/>
            </a:avLst>
          </a:prstGeom>
          <a:solidFill>
            <a:srgbClr val="30423C"/>
          </a:solidFill>
          <a:ln w="12700">
            <a:solidFill>
              <a:srgbClr val="44564F"/>
            </a:solidFill>
            <a:prstDash val="solid"/>
          </a:ln>
          <a:effectLst>
            <a:outerShdw sx="100000" sy="100000" kx="0" ky="0" algn="bl" rotWithShape="0" blurRad="12700" dist="7620" dir="2700000">
              <a:srgbClr val="B7B0A3">
                <a:alpha val="11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61104" y="2258568"/>
            <a:ext cx="621792" cy="265176"/>
          </a:xfrm>
          <a:prstGeom prst="roundRect">
            <a:avLst>
              <a:gd name="adj" fmla="val 27586"/>
            </a:avLst>
          </a:prstGeom>
          <a:solidFill>
            <a:srgbClr val="E49C77"/>
          </a:solidFill>
          <a:ln w="12700">
            <a:solidFill>
              <a:srgbClr val="E49C77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06824" y="2313432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4322E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02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4261104" y="2798064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49C7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DATA VALUE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61104" y="3264408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원본 보존 · 품질검증 · 로그로</a:t>
            </a:r>
            <a:endParaRPr lang="en-US" sz="1120" dirty="0"/>
          </a:p>
          <a:p>
            <a:pPr algn="l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재현 가능한 데이터 흐름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7443216" y="2057400"/>
            <a:ext cx="2999232" cy="2304288"/>
          </a:xfrm>
          <a:prstGeom prst="roundRect">
            <a:avLst>
              <a:gd name="adj" fmla="val 3175"/>
            </a:avLst>
          </a:prstGeom>
          <a:solidFill>
            <a:srgbClr val="30423C"/>
          </a:solidFill>
          <a:ln w="12700">
            <a:solidFill>
              <a:srgbClr val="44564F"/>
            </a:solidFill>
            <a:prstDash val="solid"/>
          </a:ln>
          <a:effectLst>
            <a:outerShdw sx="100000" sy="100000" kx="0" ky="0" algn="bl" rotWithShape="0" blurRad="12700" dist="7620" dir="2700000">
              <a:srgbClr val="B7B0A3">
                <a:alpha val="11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07808" y="2258568"/>
            <a:ext cx="621792" cy="265176"/>
          </a:xfrm>
          <a:prstGeom prst="roundRect">
            <a:avLst>
              <a:gd name="adj" fmla="val 27586"/>
            </a:avLst>
          </a:prstGeom>
          <a:solidFill>
            <a:srgbClr val="D6BD66"/>
          </a:solidFill>
          <a:ln w="12700">
            <a:solidFill>
              <a:srgbClr val="D6BD6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53528" y="2313432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4322E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03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7607808" y="2798064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6BD6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TEAM VALUE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607808" y="3264408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화면 · 데이터 · 백엔드를</a:t>
            </a:r>
            <a:endParaRPr lang="en-US" sz="1120" dirty="0"/>
          </a:p>
          <a:p>
            <a:pPr algn="l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실제 하나의 서비스로 연동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768096" y="513892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Q &amp; A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768096" y="572414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7B8B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우심운까 · MY MOVE CLUB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09960" y="649224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81968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18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anumSquar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anumSquar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MOTIVE · MLOps 2기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우심운까 · 공공데이터 기반 운동 장소 추천 서비스와 자동 학습 데이터 파이프라인</dc:title>
  <dc:subject>우심운까 발표용 README 기반 발표자료 초안</dc:subject>
  <dc:creator>OpenAI</dc:creator>
  <cp:lastModifiedBy>OpenAI</cp:lastModifiedBy>
  <cp:revision>1</cp:revision>
  <dcterms:created xsi:type="dcterms:W3CDTF">2026-09-28T07:17:06Z</dcterms:created>
  <dcterms:modified xsi:type="dcterms:W3CDTF">2026-09-28T07:17:06Z</dcterms:modified>
</cp:coreProperties>
</file>
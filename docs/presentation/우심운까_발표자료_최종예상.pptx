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officeDocument" Target="ppt/presentation.xml"></Relationship><Relationship Id="rId2" Type="http://schemas.openxmlformats.org/package/2006/relationships/metadata/core-properties" Target="docProps/core.xml"></Relationship><Relationship Id="rId3" Type="http://schemas.openxmlformats.org/officeDocument/2006/relationships/extended-properties" Target="docProps/app.xml"></Relationship><Relationship Id="rId5" Type="http://schemas.openxmlformats.org/officeDocument/2006/relationships/custom-properties" Target="docProps/custom.xml"></Relationship></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60" r:id="rId2"/>
  </p:sldMasterIdLst>
  <p:notesMasterIdLst>
    <p:notesMasterId r:id="rId4"/>
  </p:notesMasterIdLst>
  <p:sldIdLst>
    <p:sldId id="256" r:id="rId6"/>
    <p:sldId id="279" r:id="rId8"/>
    <p:sldId id="257" r:id="rId10"/>
    <p:sldId id="258" r:id="rId12"/>
    <p:sldId id="259" r:id="rId14"/>
    <p:sldId id="260" r:id="rId16"/>
    <p:sldId id="261" r:id="rId18"/>
    <p:sldId id="262" r:id="rId20"/>
    <p:sldId id="263" r:id="rId22"/>
    <p:sldId id="264" r:id="rId24"/>
    <p:sldId id="265" r:id="rId26"/>
    <p:sldId id="267" r:id="rId28"/>
    <p:sldId id="278" r:id="rId30"/>
    <p:sldId id="268" r:id="rId32"/>
    <p:sldId id="266" r:id="rId34"/>
    <p:sldId id="273" r:id="rId36"/>
    <p:sldId id="274" r:id="rId38"/>
    <p:sldId id="275" r:id="rId40"/>
    <p:sldId id="276" r:id="rId42"/>
    <p:sldId id="280" r:id="rId44"/>
    <p:sldId id="269" r:id="rId46"/>
    <p:sldId id="281" r:id="rId48"/>
    <p:sldId id="270" r:id="rId50"/>
    <p:sldId id="282" r:id="rId52"/>
    <p:sldId id="277" r:id="rId54"/>
    <p:sldId id="271" r:id="rId56"/>
    <p:sldId id="272" r:id="rId58"/>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Lst>
  </p:showPr>
</p:presentationPr>
</file>

<file path=ppt/_rels/presentation.xml.rels><?xml version="1.0" encoding="UTF-8"?>
<Relationships xmlns="http://schemas.openxmlformats.org/package/2006/relationships"><Relationship Id="rId2" Type="http://schemas.openxmlformats.org/officeDocument/2006/relationships/slideMaster" Target="slideMasters/slideMaster1.xml"></Relationship><Relationship Id="rId3" Type="http://schemas.openxmlformats.org/officeDocument/2006/relationships/theme" Target="theme/theme1.xml"></Relationship><Relationship Id="rId4" Type="http://schemas.openxmlformats.org/officeDocument/2006/relationships/notesMaster" Target="notesMasters/notesMaster1.xml"></Relationship><Relationship Id="rId6" Type="http://schemas.openxmlformats.org/officeDocument/2006/relationships/slide" Target="slides/slide1.xml"></Relationship><Relationship Id="rId8" Type="http://schemas.openxmlformats.org/officeDocument/2006/relationships/slide" Target="slides/slide2.xml"></Relationship><Relationship Id="rId10" Type="http://schemas.openxmlformats.org/officeDocument/2006/relationships/slide" Target="slides/slide3.xml"></Relationship><Relationship Id="rId12" Type="http://schemas.openxmlformats.org/officeDocument/2006/relationships/slide" Target="slides/slide4.xml"></Relationship><Relationship Id="rId14" Type="http://schemas.openxmlformats.org/officeDocument/2006/relationships/slide" Target="slides/slide5.xml"></Relationship><Relationship Id="rId16" Type="http://schemas.openxmlformats.org/officeDocument/2006/relationships/slide" Target="slides/slide6.xml"></Relationship><Relationship Id="rId18" Type="http://schemas.openxmlformats.org/officeDocument/2006/relationships/slide" Target="slides/slide7.xml"></Relationship><Relationship Id="rId20" Type="http://schemas.openxmlformats.org/officeDocument/2006/relationships/slide" Target="slides/slide8.xml"></Relationship><Relationship Id="rId22" Type="http://schemas.openxmlformats.org/officeDocument/2006/relationships/slide" Target="slides/slide9.xml"></Relationship><Relationship Id="rId24" Type="http://schemas.openxmlformats.org/officeDocument/2006/relationships/slide" Target="slides/slide10.xml"></Relationship><Relationship Id="rId26" Type="http://schemas.openxmlformats.org/officeDocument/2006/relationships/slide" Target="slides/slide11.xml"></Relationship><Relationship Id="rId28" Type="http://schemas.openxmlformats.org/officeDocument/2006/relationships/slide" Target="slides/slide12.xml"></Relationship><Relationship Id="rId30" Type="http://schemas.openxmlformats.org/officeDocument/2006/relationships/slide" Target="slides/slide13.xml"></Relationship><Relationship Id="rId32" Type="http://schemas.openxmlformats.org/officeDocument/2006/relationships/slide" Target="slides/slide14.xml"></Relationship><Relationship Id="rId34" Type="http://schemas.openxmlformats.org/officeDocument/2006/relationships/slide" Target="slides/slide15.xml"></Relationship><Relationship Id="rId36" Type="http://schemas.openxmlformats.org/officeDocument/2006/relationships/slide" Target="slides/slide16.xml"></Relationship><Relationship Id="rId38" Type="http://schemas.openxmlformats.org/officeDocument/2006/relationships/slide" Target="slides/slide17.xml"></Relationship><Relationship Id="rId40" Type="http://schemas.openxmlformats.org/officeDocument/2006/relationships/slide" Target="slides/slide18.xml"></Relationship><Relationship Id="rId42" Type="http://schemas.openxmlformats.org/officeDocument/2006/relationships/slide" Target="slides/slide19.xml"></Relationship><Relationship Id="rId44" Type="http://schemas.openxmlformats.org/officeDocument/2006/relationships/slide" Target="slides/slide20.xml"></Relationship><Relationship Id="rId46" Type="http://schemas.openxmlformats.org/officeDocument/2006/relationships/slide" Target="slides/slide21.xml"></Relationship><Relationship Id="rId48" Type="http://schemas.openxmlformats.org/officeDocument/2006/relationships/slide" Target="slides/slide22.xml"></Relationship><Relationship Id="rId50" Type="http://schemas.openxmlformats.org/officeDocument/2006/relationships/slide" Target="slides/slide23.xml"></Relationship><Relationship Id="rId52" Type="http://schemas.openxmlformats.org/officeDocument/2006/relationships/slide" Target="slides/slide24.xml"></Relationship><Relationship Id="rId54" Type="http://schemas.openxmlformats.org/officeDocument/2006/relationships/slide" Target="slides/slide25.xml"></Relationship><Relationship Id="rId56" Type="http://schemas.openxmlformats.org/officeDocument/2006/relationships/slide" Target="slides/slide26.xml"></Relationship><Relationship Id="rId58" Type="http://schemas.openxmlformats.org/officeDocument/2006/relationships/slide" Target="slides/slide27.xml"></Relationship><Relationship Id="rId60" Type="http://schemas.openxmlformats.org/officeDocument/2006/relationships/presProps" Target="presProps.xml"></Relationship></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ayout/>
      <c:barChart>
        <c:barDir val="bar"/>
        <c:grouping val="clustered"/>
        <c:varyColors val="0"/>
        <c:ser>
          <c:idx val="0"/>
          <c:order val="0"/>
          <c:tx>
            <c:v>비율</c:v>
          </c:tx>
          <c:spPr>
            <a:solidFill>
              <a:srgbClr val="2E5A46">
                <a:alpha val="99607"/>
              </a:srgbClr>
            </a:solidFill>
            <a:ln>
              <a:noFill/>
              <a:round/>
            </a:ln>
          </c:spPr>
          <c:dPt>
            <c:idx val="0"/>
            <c:spPr>
              <a:solidFill>
                <a:srgbClr val="2E5A46">
                  <a:alpha val="99607"/>
                </a:srgbClr>
              </a:solidFill>
              <a:ln>
                <a:noFill/>
                <a:round/>
              </a:ln>
            </c:spPr>
          </c:dPt>
          <c:dPt>
            <c:idx val="1"/>
            <c:spPr>
              <a:solidFill>
                <a:srgbClr val="D9A441">
                  <a:alpha val="99607"/>
                </a:srgbClr>
              </a:solidFill>
              <a:ln>
                <a:noFill/>
                <a:round/>
              </a:ln>
            </c:spPr>
          </c:dPt>
          <c:dPt>
            <c:idx val="2"/>
            <c:spPr>
              <a:solidFill>
                <a:srgbClr val="B5654A">
                  <a:alpha val="99607"/>
                </a:srgbClr>
              </a:solidFill>
              <a:ln>
                <a:noFill/>
                <a:round/>
              </a:ln>
            </c:spPr>
          </c:dPt>
          <c:dLbls>
            <c:txPr>
              <a:bodyPr/>
              <a:lstStyle/>
              <a:p>
                <a:pPr>
                  <a:defRPr sz="1600" b="1" i="0" u="none" baseline="0">
                    <a:solidFill>
                      <a:srgbClr val="1e2621"/>
                    </a:solidFill>
                    <a:latin typeface="Malgun Gothic"/>
                    <a:ea typeface="Malgun Gothic"/>
                  </a:defRPr>
                </a:pPr>
                <a:endParaRPr lang="ko-KR"/>
              </a:p>
            </c:txPr>
            <c:dLbl>
              <c:idx val="0"/>
              <c:dLblPos val="outEnd"/>
              <c:showLegendKey val="0"/>
              <c:showCatName val="0"/>
              <c:showPercent val="0"/>
              <c:showVal val="1"/>
              <c:showSerName val="0"/>
              <c:extLst>
                <c:ext xmlns:c15="http://schemas.microsoft.com/office/drawing/2012/chart" uri="{CE6537A1-D6FC-4f65-9D91-7224C49458BB}"/>
              </c:extLst>
            </c:dLbl>
            <c:dLbl>
              <c:idx val="1"/>
              <c:dLblPos val="outEnd"/>
              <c:showLegendKey val="0"/>
              <c:showCatName val="0"/>
              <c:showPercent val="0"/>
              <c:showVal val="1"/>
              <c:showSerName val="0"/>
              <c:extLst>
                <c:ext xmlns:c15="http://schemas.microsoft.com/office/drawing/2012/chart" uri="{CE6537A1-D6FC-4f65-9D91-7224C49458BB}"/>
              </c:extLst>
            </c:dLbl>
            <c:dLbl>
              <c:idx val="2"/>
              <c:dLblPos val="outEnd"/>
              <c:showLegendKey val="0"/>
              <c:showCatName val="0"/>
              <c:showPercent val="0"/>
              <c:showVal val="1"/>
              <c:showSerName val="0"/>
              <c:extLst>
                <c:ext xmlns:c15="http://schemas.microsoft.com/office/drawing/2012/chart" uri="{CE6537A1-D6FC-4f65-9D91-7224C49458BB}"/>
              </c:extLst>
            </c:dLbl>
            <c:numFmt formatCode="#,##0" sourceLinked="0"/>
            <c:dLblPos val="outEnd"/>
            <c:showLegendKey val="0"/>
            <c:showCatName val="0"/>
            <c:showPercent val="0"/>
            <c:showVal val="1"/>
            <c:showSerName val="0"/>
            <c:showLeaderLines val="0"/>
            <c:extLst>
              <c:ext xmlns:c15="http://schemas.microsoft.com/office/drawing/2012/chart" uri="{CE6537A1-D6FC-4f65-9D91-7224C49458BB}">
                <c15:showLeaderLines val="0"/>
              </c:ext>
            </c:extLst>
          </c:dLbls>
          <c:cat>
            <c:strLit>
              <c:ptCount val="3"/>
              <c:pt idx="0">
                <c:v>시간 부족</c:v>
              </c:pt>
              <c:pt idx="1">
                <c:v>흥미 부족</c:v>
              </c:pt>
              <c:pt idx="2">
                <c:v>시설 접근성 부족</c:v>
              </c:pt>
            </c:strLit>
          </c:cat>
          <c:val>
            <c:numLit>
              <c:formatCode/>
              <c:ptCount val="3"/>
              <c:pt idx="0">
                <c:v>61.3</c:v>
              </c:pt>
              <c:pt idx="1">
                <c:v>50.8</c:v>
              </c:pt>
              <c:pt idx="2">
                <c:v>31.3</c:v>
              </c:pt>
            </c:numLit>
          </c:val>
          <c:smooth val="0"/>
        </c:ser>
        <c:gapWidth val="55"/>
        <c:axId val="1111"/>
        <c:axId val="2222"/>
      </c:barChart>
      <c:catAx>
        <c:axId val="1111"/>
        <c:scaling>
          <c:orientation val="maxMin"/>
        </c:scaling>
        <c:delete val="0"/>
        <c:axPos val="l"/>
        <c:majorTickMark val="out"/>
        <c:minorTickMark val="none"/>
        <c:tickLblPos val="nextTo"/>
        <c:spPr>
          <a:noFill/>
          <a:ln>
            <a:noFill/>
            <a:round/>
          </a:ln>
        </c:spPr>
        <c:txPr>
          <a:bodyPr/>
          <a:lstStyle/>
          <a:p>
            <a:pPr>
              <a:defRPr sz="1600" b="1" i="0" u="none" baseline="0">
                <a:solidFill>
                  <a:srgbClr val="1e2621"/>
                </a:solidFill>
                <a:latin typeface="Malgun Gothic"/>
                <a:ea typeface="Malgun Gothic"/>
              </a:defRPr>
            </a:pPr>
            <a:endParaRPr lang="ko-KR"/>
          </a:p>
        </c:txPr>
        <c:crossAx val="2222"/>
        <c:crosses val="autoZero"/>
        <c:auto val="1"/>
        <c:lblAlgn val="ctr"/>
        <c:lblOffset val="100"/>
      </c:catAx>
      <c:valAx>
        <c:axId val="2222"/>
        <c:scaling>
          <c:orientation val="minMax"/>
          <c:max val="75"/>
          <c:min val="0"/>
        </c:scaling>
        <c:delete val="1"/>
        <c:axPos val="t"/>
        <c:numFmt formatCode="General" sourceLinked="1"/>
        <c:majorTickMark val="out"/>
        <c:minorTickMark val="none"/>
        <c:tickLblPos val="low"/>
        <c:spPr>
          <a:noFill/>
          <a:ln w="12700" cap="flat">
            <a:solidFill>
              <a:srgbClr val="888888">
                <a:alpha val="99607"/>
              </a:srgbClr>
            </a:solidFill>
            <a:round/>
            <a:alpha val="99607"/>
          </a:ln>
        </c:spPr>
        <c:txPr>
          <a:bodyPr/>
          <a:lstStyle/>
          <a:p>
            <a:pPr>
              <a:defRPr sz="1200" b="0" i="0" u="none" baseline="0">
                <a:solidFill>
                  <a:srgbClr val="000000"/>
                </a:solidFill>
                <a:latin typeface="Arial"/>
                <a:ea typeface="Arial"/>
              </a:defRPr>
            </a:pPr>
            <a:endParaRPr lang="ko-KR"/>
          </a:p>
        </c:txPr>
        <c:crossAx val="1111"/>
        <c:crosses val="autoZero"/>
        <c:crossBetween val="between"/>
      </c:valAx>
      <c:spPr>
        <a:noFill/>
        <a:ln>
          <a:noFill/>
          <a:round/>
        </a:ln>
      </c:spPr>
    </c:plotArea>
    <c:plotVisOnly val="1"/>
    <c:dispBlanksAs val="span"/>
  </c:chart>
  <c:spPr>
    <a:noFill/>
    <a:ln>
      <a:noFill/>
      <a:round/>
    </a:ln>
  </c:spPr>
  <c:txPr>
    <a:bodyPr/>
    <a:lstStyle/>
    <a:p>
      <a:pPr>
        <a:defRPr sz="1000" b="0" i="0" u="none" baseline="0">
          <a:solidFill>
            <a:srgbClr val="000000"/>
          </a:solidFill>
          <a:latin typeface="맑은 고딕"/>
          <a:ea typeface="맑은 고딕"/>
        </a:defRPr>
      </a:pPr>
      <a:endParaRPr lang="ko-KR"/>
    </a:p>
  </c:txPr>
  <c:printSettings>
    <c:headerFooter/>
    <c:pageMargins b="0.75" l="0.7" r="0.7" t="0.75" header="0.3" footer="0.3"/>
    <c:pageSetup/>
  </c:printSettings>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ko-KR" sz="1800" spc="-1" strike="noStrike">
                <a:solidFill>
                  <a:schemeClr val="dk1"/>
                </a:solidFill>
                <a:latin typeface="Calibri"/>
              </a:rPr>
              <a:t>슬라이드를 이동하려면 클릭하십시오</a:t>
            </a:r>
            <a:r>
              <a:rPr b="0" lang="en-US" sz="1800" spc="-1" strike="noStrike">
                <a:solidFill>
                  <a:schemeClr val="dk1"/>
                </a:solidFill>
                <a:latin typeface="Calibri"/>
              </a:rPr>
              <a:t>.</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ko-KR" sz="2000" spc="-1" strike="noStrike">
                <a:solidFill>
                  <a:srgbClr val="000000"/>
                </a:solidFill>
                <a:latin typeface="Noto Sans KR"/>
              </a:rPr>
              <a:t>메모 서식을 편집하려면 클릭하십시오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Noto Serif KR"/>
              </a:rPr>
              <a:t>&lt;머리글&gt;</a:t>
            </a:r>
            <a:endParaRPr b="0" lang="en-US" sz="1400" spc="-1" strike="noStrike">
              <a:solidFill>
                <a:srgbClr val="000000"/>
              </a:solidFill>
              <a:latin typeface="Noto Serif KR"/>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Noto Serif KR"/>
              </a:defRPr>
            </a:lvl1pPr>
          </a:lstStyle>
          <a:p>
            <a:pPr indent="0" algn="r">
              <a:buNone/>
            </a:pPr>
            <a:r>
              <a:rPr b="0" lang="en-US" sz="1400" spc="-1" strike="noStrike">
                <a:solidFill>
                  <a:srgbClr val="000000"/>
                </a:solidFill>
                <a:latin typeface="Noto Serif KR"/>
              </a:rPr>
              <a:t>&lt;날짜/시간&gt;</a:t>
            </a:r>
            <a:endParaRPr b="0" lang="en-US" sz="1400" spc="-1" strike="noStrike">
              <a:solidFill>
                <a:srgbClr val="000000"/>
              </a:solidFill>
              <a:latin typeface="Noto Serif KR"/>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Noto Serif KR"/>
              </a:defRPr>
            </a:lvl1pPr>
          </a:lstStyle>
          <a:p>
            <a:pPr indent="0">
              <a:buNone/>
            </a:pPr>
            <a:r>
              <a:rPr b="0" lang="en-US" sz="1400" spc="-1" strike="noStrike">
                <a:solidFill>
                  <a:srgbClr val="000000"/>
                </a:solidFill>
                <a:latin typeface="Noto Serif KR"/>
              </a:rPr>
              <a:t>&lt;바닥글&gt;</a:t>
            </a:r>
            <a:endParaRPr b="0" lang="en-US" sz="1400" spc="-1" strike="noStrike">
              <a:solidFill>
                <a:srgbClr val="000000"/>
              </a:solidFill>
              <a:latin typeface="Noto Serif KR"/>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Noto Serif KR"/>
              </a:defRPr>
            </a:lvl1pPr>
          </a:lstStyle>
          <a:p>
            <a:pPr indent="0" algn="r">
              <a:buNone/>
            </a:pPr>
            <a:fld id="{EBFA39F4-EDA7-405A-AA86-F9058B89E7F1}" type="slidenum">
              <a:rPr b="0" lang="en-US" sz="1400" spc="-1" strike="noStrike">
                <a:solidFill>
                  <a:srgbClr val="000000"/>
                </a:solidFill>
                <a:latin typeface="Noto Serif KR"/>
              </a:rPr>
              <a:t>&lt;숫자&gt;</a:t>
            </a:fld>
            <a:endParaRPr b="0" lang="en-US" sz="1400" spc="-1" strike="noStrike">
              <a:solidFill>
                <a:srgbClr val="000000"/>
              </a:solidFill>
              <a:latin typeface="Noto Serif KR"/>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xml"></Relationship></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xml"></Relationship></Relationships>
</file>

<file path=ppt/notesSlides/_rels/notesSlide3.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3.xml"></Relationship></Relationships>
</file>

<file path=ppt/notesSlides/_rels/notesSlide4.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4.xml"></Relationship></Relationships>
</file>

<file path=ppt/notesSlides/_rels/notesSlide5.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5.xml"></Relationship></Relationships>
</file>

<file path=ppt/notesSlides/_rels/notesSlide6.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6.xml"></Relationship></Relationships>
</file>

<file path=ppt/notesSlides/_rels/notesSlide7.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7.xml"></Relationship></Relationships>
</file>

<file path=ppt/notesSlides/_rels/notesSlide8.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8.xml"></Relationship></Relationships>
</file>

<file path=ppt/notesSlides/_rels/notesSlide9.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9.xml"></Relationship></Relationships>
</file>

<file path=ppt/notesSlides/_rels/notesSlide10.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0.xml"></Relationship></Relationships>
</file>

<file path=ppt/notesSlides/_rels/notesSlide11.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1.xml"></Relationship></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2.xml"></Relationship></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3.xml"></Relationship></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4.xml"></Relationship></Relationships>
</file>

<file path=ppt/notesSlides/_rels/notesSlide15.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15.xml"></Relationship></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6.xml"></Relationship></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7.xml"></Relationship></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8.xml"></Relationship></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9.xml"></Relationship></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0.xml"></Relationship></Relationships>
</file>

<file path=ppt/notesSlides/_rels/notesSlide21.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21.xml"></Relationship></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2.xml"></Relationship></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3.xml"></Relationship></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4.xml"></Relationship></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5.xml"></Relationship></Relationships>
</file>

<file path=ppt/notesSlides/_rels/notesSlide26.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26.xml"></Relationship></Relationships>
</file>

<file path=ppt/notesSlides/_rels/notesSlide27.xml.rels><?xml version="1.0" encoding="UTF-8"?>
<Relationships xmlns="http://schemas.openxmlformats.org/package/2006/relationships"><Relationship Id="rId2" Type="http://schemas.openxmlformats.org/officeDocument/2006/relationships/notesMaster" Target="../notesMasters/notesMaster1.xml"></Relationship><Relationship Id="rId3" Type="http://schemas.openxmlformats.org/officeDocument/2006/relationships/slide" Target="../slides/slide27.xml"></Relationship></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685800" y="1143000"/>
            <a:ext cx="5486040" cy="3085920"/>
          </a:xfrm>
          <a:prstGeom prst="rect">
            <a:avLst/>
          </a:prstGeom>
          <a:ln w="0">
            <a:noFill/>
          </a:ln>
        </p:spPr>
      </p:sp>
      <p:sp>
        <p:nvSpPr>
          <p:cNvPr id="60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다시 찾아가고 싶던 나만의 공간을</a:t>
            </a:r>
            <a:r>
              <a:rPr b="0" lang="en-US" sz="2000" spc="-1" strike="noStrike">
                <a:solidFill>
                  <a:srgbClr val="000000"/>
                </a:solidFill>
                <a:latin typeface="Noto Sans KR"/>
              </a:rPr>
              <a:t>, </a:t>
            </a:r>
            <a:r>
              <a:rPr b="0" lang="ko-KR" sz="2000" spc="-1" strike="noStrike">
                <a:solidFill>
                  <a:srgbClr val="000000"/>
                </a:solidFill>
                <a:latin typeface="Noto Sans KR"/>
              </a:rPr>
              <a:t>다시 운동하고 싶은 공간으로 만들었다 — 오늘 발표 전체를 관통하는 메시지입니다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03"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9ACBF8B-8C78-4A63-B2AC-BBED1B7E294A}"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9단계로 진행합니다. 싸이월드의 추억에서 시작해 목표와 데이터가 필요한 이유, 추천 점수를 설명하고, 05~08에서는 데이터를 어떻게 모으고 검증했는지, 실제로 어디까지 동작하는지 보여드린 뒤 마지막으로 서비스를 시연합니다.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685800" y="1143000"/>
            <a:ext cx="5486040" cy="3085920"/>
          </a:xfrm>
          <a:prstGeom prst="rect">
            <a:avLst/>
          </a:prstGeom>
          <a:ln w="0">
            <a:noFill/>
          </a:ln>
        </p:spPr>
      </p:sp>
      <p:sp>
        <p:nvSpPr>
          <p:cNvPr id="60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ko-KR" sz="2000" spc="-1" strike="noStrike">
                <a:solidFill>
                  <a:srgbClr val="000000"/>
                </a:solidFill>
                <a:latin typeface="Noto Sans KR"/>
              </a:rPr>
              <a:t>[핵심 멘트] “다시 찾아오고 싶은 공간을 만들고 싶었습니다.”</a:t>
            </a:r>
            <a:endParaRPr b="0" lang="en-US" sz="2000" spc="-1" strike="noStrike">
              <a:solidFill>
                <a:srgbClr val="000000"/>
              </a:solidFill>
              <a:latin typeface="Noto Sans KR"/>
            </a:endParaRPr>
          </a:p>
          <a:p>
            <a:pPr marL="216000" indent="-216000">
              <a:buNone/>
            </a:pPr>
            <a:r>
              <a:rPr b="0" lang="ko-KR" sz="2000" spc="-1" strike="noStrike">
                <a:solidFill>
                  <a:srgbClr val="000000"/>
                </a:solidFill>
                <a:latin typeface="Noto Sans KR"/>
              </a:rPr>
              <a:t>예전에 미니홈피를 꾸미고</a:t>
            </a:r>
            <a:r>
              <a:rPr b="0" lang="en-US" sz="2000" spc="-1" strike="noStrike">
                <a:solidFill>
                  <a:srgbClr val="000000"/>
                </a:solidFill>
                <a:latin typeface="Noto Sans KR"/>
              </a:rPr>
              <a:t>, </a:t>
            </a:r>
            <a:r>
              <a:rPr b="0" lang="ko-KR" sz="2000" spc="-1" strike="noStrike">
                <a:solidFill>
                  <a:srgbClr val="000000"/>
                </a:solidFill>
                <a:latin typeface="Noto Sans KR"/>
              </a:rPr>
              <a:t>친구의 방을 구경하고</a:t>
            </a:r>
            <a:r>
              <a:rPr b="0" lang="en-US" sz="2000" spc="-1" strike="noStrike">
                <a:solidFill>
                  <a:srgbClr val="000000"/>
                </a:solidFill>
                <a:latin typeface="Noto Sans KR"/>
              </a:rPr>
              <a:t>, </a:t>
            </a:r>
            <a:r>
              <a:rPr b="0" lang="ko-KR" sz="2000" spc="-1" strike="noStrike">
                <a:solidFill>
                  <a:srgbClr val="000000"/>
                </a:solidFill>
                <a:latin typeface="Noto Sans KR"/>
              </a:rPr>
              <a:t>누가 다녀갔는지 확인하던 기억 있으신가요</a:t>
            </a:r>
            <a:r>
              <a:rPr b="0" lang="en-US" sz="2000" spc="-1" strike="noStrike">
                <a:solidFill>
                  <a:srgbClr val="000000"/>
                </a:solidFill>
                <a:latin typeface="Noto Sans KR"/>
              </a:rPr>
              <a:t>? </a:t>
            </a:r>
            <a:r>
              <a:rPr b="0" lang="ko-KR" sz="2000" spc="-1" strike="noStrike">
                <a:solidFill>
                  <a:srgbClr val="000000"/>
                </a:solidFill>
                <a:latin typeface="Noto Sans KR"/>
              </a:rPr>
              <a:t>저희는 그때의 </a:t>
            </a:r>
            <a:r>
              <a:rPr b="0" lang="en-US" sz="2000" spc="-1" strike="noStrike">
                <a:solidFill>
                  <a:srgbClr val="000000"/>
                </a:solidFill>
                <a:latin typeface="Noto Sans KR"/>
              </a:rPr>
              <a:t>'</a:t>
            </a:r>
            <a:r>
              <a:rPr b="0" lang="ko-KR" sz="2000" spc="-1" strike="noStrike">
                <a:solidFill>
                  <a:srgbClr val="000000"/>
                </a:solidFill>
                <a:latin typeface="Noto Sans KR"/>
              </a:rPr>
              <a:t>자꾸 들어가 보고 싶은 마음</a:t>
            </a:r>
            <a:r>
              <a:rPr b="0" lang="en-US" sz="2000" spc="-1" strike="noStrike">
                <a:solidFill>
                  <a:srgbClr val="000000"/>
                </a:solidFill>
                <a:latin typeface="Noto Sans KR"/>
              </a:rPr>
              <a:t>'</a:t>
            </a:r>
            <a:r>
              <a:rPr b="0" lang="ko-KR" sz="2000" spc="-1" strike="noStrike">
                <a:solidFill>
                  <a:srgbClr val="000000"/>
                </a:solidFill>
                <a:latin typeface="Noto Sans KR"/>
              </a:rPr>
              <a:t>을 운동과 연결해보고 싶었습니다</a:t>
            </a:r>
            <a:r>
              <a:rPr b="0" lang="en-US" sz="2000" spc="-1" strike="noStrike">
                <a:solidFill>
                  <a:srgbClr val="000000"/>
                </a:solidFill>
                <a:latin typeface="Noto Sans KR"/>
              </a:rPr>
              <a:t>.</a:t>
            </a:r>
            <a:endParaRPr b="0" lang="en-US" sz="2000" spc="-1" strike="noStrike">
              <a:solidFill>
                <a:srgbClr val="000000"/>
              </a:solidFill>
              <a:latin typeface="Noto Sans KR"/>
            </a:endParaRPr>
          </a:p>
          <a:p>
            <a:pPr marL="216000" indent="0">
              <a:lnSpc>
                <a:spcPct val="100000"/>
              </a:lnSpc>
              <a:buNone/>
            </a:pPr>
            <a:r>
              <a:rPr b="0" lang="en-US" sz="2000" spc="-1" strike="noStrike">
                <a:solidFill>
                  <a:srgbClr val="000000"/>
                </a:solidFill>
                <a:latin typeface="Noto Sans KR"/>
              </a:rPr>
              <a:t>(</a:t>
            </a:r>
            <a:r>
              <a:rPr b="0" lang="ko-KR" sz="2000" spc="-1" strike="noStrike">
                <a:solidFill>
                  <a:srgbClr val="000000"/>
                </a:solidFill>
                <a:latin typeface="Noto Sans KR"/>
              </a:rPr>
              <a:t>싸이월드를 모르는 분께</a:t>
            </a:r>
            <a:r>
              <a:rPr b="0" lang="en-US" sz="2000" spc="-1" strike="noStrike">
                <a:solidFill>
                  <a:srgbClr val="000000"/>
                </a:solidFill>
                <a:latin typeface="Noto Sans KR"/>
              </a:rPr>
              <a:t>) </a:t>
            </a:r>
            <a:r>
              <a:rPr b="0" lang="ko-KR" sz="2000" spc="-1" strike="noStrike">
                <a:solidFill>
                  <a:srgbClr val="000000"/>
                </a:solidFill>
                <a:latin typeface="Noto Sans KR"/>
              </a:rPr>
              <a:t>핵심은 </a:t>
            </a:r>
            <a:r>
              <a:rPr b="0" lang="en-US" sz="2000" spc="-1" strike="noStrike">
                <a:solidFill>
                  <a:srgbClr val="000000"/>
                </a:solidFill>
                <a:latin typeface="Noto Sans KR"/>
              </a:rPr>
              <a:t>'</a:t>
            </a:r>
            <a:r>
              <a:rPr b="0" lang="ko-KR" sz="2000" spc="-1" strike="noStrike">
                <a:solidFill>
                  <a:srgbClr val="000000"/>
                </a:solidFill>
                <a:latin typeface="Noto Sans KR"/>
              </a:rPr>
              <a:t>나만의 공간을 꾸미고 친구와 공유하는 재미</a:t>
            </a:r>
            <a:r>
              <a:rPr b="0" lang="en-US" sz="2000" spc="-1" strike="noStrike">
                <a:solidFill>
                  <a:srgbClr val="000000"/>
                </a:solidFill>
                <a:latin typeface="Noto Sans KR"/>
              </a:rPr>
              <a:t>'</a:t>
            </a:r>
            <a:r>
              <a:rPr b="0" lang="ko-KR" sz="2000" spc="-1" strike="noStrike">
                <a:solidFill>
                  <a:srgbClr val="000000"/>
                </a:solidFill>
                <a:latin typeface="Noto Sans KR"/>
              </a:rPr>
              <a:t>입니다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06"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5D46522-43CE-4A9B-A22E-B7CE13300A94}"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Img"/>
          </p:nvPr>
        </p:nvSpPr>
        <p:spPr>
          <a:xfrm>
            <a:off x="685800" y="1143000"/>
            <a:ext cx="5486040" cy="3085920"/>
          </a:xfrm>
          <a:prstGeom prst="rect">
            <a:avLst/>
          </a:prstGeom>
          <a:ln w="0">
            <a:noFill/>
          </a:ln>
        </p:spPr>
      </p:sp>
      <p:sp>
        <p:nvSpPr>
          <p:cNvPr id="6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Noto Sans KR"/>
              </a:rPr>
              <a:t>2025</a:t>
            </a:r>
            <a:r>
              <a:rPr b="0" lang="ko-KR" sz="2000" spc="-1" strike="noStrike">
                <a:solidFill>
                  <a:srgbClr val="000000"/>
                </a:solidFill>
                <a:latin typeface="Noto Sans KR"/>
              </a:rPr>
              <a:t>년 국민생활체육조사에서 생활체육 참여율은 </a:t>
            </a:r>
            <a:r>
              <a:rPr b="0" lang="en-US" sz="2000" spc="-1" strike="noStrike">
                <a:solidFill>
                  <a:srgbClr val="000000"/>
                </a:solidFill>
                <a:latin typeface="Noto Sans KR"/>
              </a:rPr>
              <a:t>62.9%</a:t>
            </a:r>
            <a:r>
              <a:rPr b="0" lang="ko-KR" sz="2000" spc="-1" strike="noStrike">
                <a:solidFill>
                  <a:srgbClr val="000000"/>
                </a:solidFill>
                <a:latin typeface="Noto Sans KR"/>
              </a:rPr>
              <a:t>지만</a:t>
            </a:r>
            <a:r>
              <a:rPr b="0" lang="en-US" sz="2000" spc="-1" strike="noStrike">
                <a:solidFill>
                  <a:srgbClr val="000000"/>
                </a:solidFill>
                <a:latin typeface="Noto Sans KR"/>
              </a:rPr>
              <a:t>, </a:t>
            </a:r>
            <a:r>
              <a:rPr b="0" lang="ko-KR" sz="2000" spc="-1" strike="noStrike">
                <a:solidFill>
                  <a:srgbClr val="000000"/>
                </a:solidFill>
                <a:latin typeface="Noto Sans KR"/>
              </a:rPr>
              <a:t>시간</a:t>
            </a:r>
            <a:r>
              <a:rPr b="0" lang="en-US" sz="2000" spc="-1" strike="noStrike">
                <a:solidFill>
                  <a:srgbClr val="000000"/>
                </a:solidFill>
                <a:latin typeface="Noto Sans KR"/>
              </a:rPr>
              <a:t>·</a:t>
            </a:r>
            <a:r>
              <a:rPr b="0" lang="ko-KR" sz="2000" spc="-1" strike="noStrike">
                <a:solidFill>
                  <a:srgbClr val="000000"/>
                </a:solidFill>
                <a:latin typeface="Noto Sans KR"/>
              </a:rPr>
              <a:t>흥미</a:t>
            </a:r>
            <a:r>
              <a:rPr b="0" lang="en-US" sz="2000" spc="-1" strike="noStrike">
                <a:solidFill>
                  <a:srgbClr val="000000"/>
                </a:solidFill>
                <a:latin typeface="Noto Sans KR"/>
              </a:rPr>
              <a:t>·</a:t>
            </a:r>
            <a:r>
              <a:rPr b="0" lang="ko-KR" sz="2000" spc="-1" strike="noStrike">
                <a:solidFill>
                  <a:srgbClr val="000000"/>
                </a:solidFill>
                <a:latin typeface="Noto Sans KR"/>
              </a:rPr>
              <a:t>시설 접근성이 규칙적인 운동을 막는 주요 장벽이었습니다</a:t>
            </a:r>
            <a:r>
              <a:rPr b="0" lang="en-US" sz="2000" spc="-1" strike="noStrike">
                <a:solidFill>
                  <a:srgbClr val="000000"/>
                </a:solidFill>
                <a:latin typeface="Noto Sans KR"/>
              </a:rPr>
              <a:t>. </a:t>
            </a:r>
            <a:r>
              <a:rPr b="0" lang="ko-KR" sz="2000" spc="-1" strike="noStrike">
                <a:solidFill>
                  <a:srgbClr val="000000"/>
                </a:solidFill>
                <a:latin typeface="Noto Sans KR"/>
              </a:rPr>
              <a:t>운동을 시작하려면 무엇을 할지</a:t>
            </a:r>
            <a:r>
              <a:rPr b="0" lang="en-US" sz="2000" spc="-1" strike="noStrike">
                <a:solidFill>
                  <a:srgbClr val="000000"/>
                </a:solidFill>
                <a:latin typeface="Noto Sans KR"/>
              </a:rPr>
              <a:t>, </a:t>
            </a:r>
            <a:r>
              <a:rPr b="0" lang="ko-KR" sz="2000" spc="-1" strike="noStrike">
                <a:solidFill>
                  <a:srgbClr val="000000"/>
                </a:solidFill>
                <a:latin typeface="Noto Sans KR"/>
              </a:rPr>
              <a:t>어디서 할지</a:t>
            </a:r>
            <a:r>
              <a:rPr b="0" lang="en-US" sz="2000" spc="-1" strike="noStrike">
                <a:solidFill>
                  <a:srgbClr val="000000"/>
                </a:solidFill>
                <a:latin typeface="Noto Sans KR"/>
              </a:rPr>
              <a:t>, </a:t>
            </a:r>
            <a:r>
              <a:rPr b="0" lang="ko-KR" sz="2000" spc="-1" strike="noStrike">
                <a:solidFill>
                  <a:srgbClr val="000000"/>
                </a:solidFill>
                <a:latin typeface="Noto Sans KR"/>
              </a:rPr>
              <a:t>지금 시간 안에 가능한지를 한꺼번에 판단해야 하고</a:t>
            </a:r>
            <a:r>
              <a:rPr b="0" lang="en-US" sz="2000" spc="-1" strike="noStrike">
                <a:solidFill>
                  <a:srgbClr val="000000"/>
                </a:solidFill>
                <a:latin typeface="Noto Sans KR"/>
              </a:rPr>
              <a:t>, </a:t>
            </a:r>
            <a:r>
              <a:rPr b="0" lang="ko-KR" sz="2000" spc="-1" strike="noStrike">
                <a:solidFill>
                  <a:srgbClr val="000000"/>
                </a:solidFill>
                <a:latin typeface="Noto Sans KR"/>
              </a:rPr>
              <a:t>이 과정이 길수록 운동은 미뤄집니다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09"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6969415-FA21-4673-A8D2-1539638E4EE7}"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PlaceHolder 1"/>
          <p:cNvSpPr>
            <a:spLocks noGrp="1"/>
          </p:cNvSpPr>
          <p:nvPr>
            <p:ph type="sldImg"/>
          </p:nvPr>
        </p:nvSpPr>
        <p:spPr>
          <a:xfrm>
            <a:off x="685800" y="1143000"/>
            <a:ext cx="5486040" cy="3085920"/>
          </a:xfrm>
          <a:prstGeom prst="rect">
            <a:avLst/>
          </a:prstGeom>
          <a:ln w="0">
            <a:noFill/>
          </a:ln>
        </p:spPr>
      </p:sp>
      <p:sp>
        <p:nvSpPr>
          <p:cNvPr id="6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ko-KR" sz="2000" spc="-1" strike="noStrike">
                <a:solidFill>
                  <a:srgbClr val="000000"/>
                </a:solidFill>
                <a:latin typeface="Noto Sans KR"/>
              </a:rPr>
              <a:t>[핵심 멘트] “운동을 시작할 때의 망설임을 줄이고, 이어갈 재미를 제공합니다.”</a:t>
            </a:r>
            <a:endParaRPr b="0" lang="en-US" sz="2000" spc="-1" strike="noStrike">
              <a:solidFill>
                <a:srgbClr val="000000"/>
              </a:solidFill>
              <a:latin typeface="Noto Sans KR"/>
            </a:endParaRPr>
          </a:p>
          <a:p>
            <a:pPr marL="216000" indent="-216000">
              <a:buNone/>
            </a:pPr>
            <a:r>
              <a:rPr b="0" lang="ko-KR" sz="2000" spc="-1" strike="noStrike">
                <a:solidFill>
                  <a:srgbClr val="000000"/>
                </a:solidFill>
                <a:latin typeface="Noto Sans KR"/>
              </a:rPr>
              <a:t>추억을 서비스의 목표로 연결합니다</a:t>
            </a:r>
            <a:r>
              <a:rPr b="0" lang="en-US" sz="2000" spc="-1" strike="noStrike">
                <a:solidFill>
                  <a:srgbClr val="000000"/>
                </a:solidFill>
                <a:latin typeface="Noto Sans KR"/>
              </a:rPr>
              <a:t>. </a:t>
            </a:r>
            <a:r>
              <a:rPr b="0" lang="ko-KR" sz="2000" spc="-1" strike="noStrike">
                <a:solidFill>
                  <a:srgbClr val="000000"/>
                </a:solidFill>
                <a:latin typeface="Noto Sans KR"/>
              </a:rPr>
              <a:t>나만의 운동방은 다시 방문하고 싶은 공간</a:t>
            </a:r>
            <a:r>
              <a:rPr b="0" lang="en-US" sz="2000" spc="-1" strike="noStrike">
                <a:solidFill>
                  <a:srgbClr val="000000"/>
                </a:solidFill>
                <a:latin typeface="Noto Sans KR"/>
              </a:rPr>
              <a:t>, </a:t>
            </a:r>
            <a:r>
              <a:rPr b="0" lang="ko-KR" sz="2000" spc="-1" strike="noStrike">
                <a:solidFill>
                  <a:srgbClr val="000000"/>
                </a:solidFill>
                <a:latin typeface="Noto Sans KR"/>
              </a:rPr>
              <a:t>기록과 보상은 운동한 결과를 눈으로 확인하는 재미</a:t>
            </a:r>
            <a:r>
              <a:rPr b="0" lang="en-US" sz="2000" spc="-1" strike="noStrike">
                <a:solidFill>
                  <a:srgbClr val="000000"/>
                </a:solidFill>
                <a:latin typeface="Noto Sans KR"/>
              </a:rPr>
              <a:t>, </a:t>
            </a:r>
            <a:r>
              <a:rPr b="0" lang="ko-KR" sz="2000" spc="-1" strike="noStrike">
                <a:solidFill>
                  <a:srgbClr val="000000"/>
                </a:solidFill>
                <a:latin typeface="Noto Sans KR"/>
              </a:rPr>
              <a:t>친구 방문은 함께 이어갈 동기</a:t>
            </a:r>
            <a:r>
              <a:rPr b="0" lang="en-US" sz="2000" spc="-1" strike="noStrike">
                <a:solidFill>
                  <a:srgbClr val="000000"/>
                </a:solidFill>
                <a:latin typeface="Noto Sans KR"/>
              </a:rPr>
              <a:t>, </a:t>
            </a:r>
            <a:r>
              <a:rPr b="0" lang="ko-KR" sz="2000" spc="-1" strike="noStrike">
                <a:solidFill>
                  <a:srgbClr val="000000"/>
                </a:solidFill>
                <a:latin typeface="Noto Sans KR"/>
              </a:rPr>
              <a:t>장소 추천은 실제로 운동을 시작할 때 필요한 도움입니다</a:t>
            </a:r>
            <a:r>
              <a:rPr b="0" lang="en-US" sz="2000" spc="-1" strike="noStrike">
                <a:solidFill>
                  <a:srgbClr val="000000"/>
                </a:solidFill>
                <a:latin typeface="Noto Sans KR"/>
              </a:rPr>
              <a:t>.</a:t>
            </a:r>
            <a:endParaRPr b="0" lang="en-US" sz="2000" spc="-1" strike="noStrike">
              <a:solidFill>
                <a:srgbClr val="000000"/>
              </a:solidFill>
              <a:latin typeface="Noto Sans KR"/>
            </a:endParaRPr>
          </a:p>
          <a:p>
            <a:pPr marL="216000" indent="0">
              <a:lnSpc>
                <a:spcPct val="100000"/>
              </a:lnSpc>
              <a:buNone/>
            </a:pPr>
            <a:r>
              <a:rPr b="0" lang="en-US" sz="2000" spc="-1" strike="noStrike">
                <a:solidFill>
                  <a:srgbClr val="000000"/>
                </a:solidFill>
                <a:latin typeface="Noto Sans KR"/>
              </a:rPr>
              <a:t>※ </a:t>
            </a:r>
            <a:r>
              <a:rPr b="0" lang="ko-KR" sz="2000" spc="-1" strike="noStrike">
                <a:solidFill>
                  <a:srgbClr val="000000"/>
                </a:solidFill>
                <a:latin typeface="Noto Sans KR"/>
              </a:rPr>
              <a:t>운동 지속률 효과는 아직 측정 전이므로 </a:t>
            </a:r>
            <a:r>
              <a:rPr b="0" lang="en-US" sz="2000" spc="-1" strike="noStrike">
                <a:solidFill>
                  <a:srgbClr val="000000"/>
                </a:solidFill>
                <a:latin typeface="Noto Sans KR"/>
              </a:rPr>
              <a:t>'</a:t>
            </a:r>
            <a:r>
              <a:rPr b="0" lang="ko-KR" sz="2000" spc="-1" strike="noStrike">
                <a:solidFill>
                  <a:srgbClr val="000000"/>
                </a:solidFill>
                <a:latin typeface="Noto Sans KR"/>
              </a:rPr>
              <a:t>높였다</a:t>
            </a:r>
            <a:r>
              <a:rPr b="0" lang="en-US" sz="2000" spc="-1" strike="noStrike">
                <a:solidFill>
                  <a:srgbClr val="000000"/>
                </a:solidFill>
                <a:latin typeface="Noto Sans KR"/>
              </a:rPr>
              <a:t>'</a:t>
            </a:r>
            <a:r>
              <a:rPr b="0" lang="ko-KR" sz="2000" spc="-1" strike="noStrike">
                <a:solidFill>
                  <a:srgbClr val="000000"/>
                </a:solidFill>
                <a:latin typeface="Noto Sans KR"/>
              </a:rPr>
              <a:t>가 아니라 </a:t>
            </a:r>
            <a:r>
              <a:rPr b="0" lang="en-US" sz="2000" spc="-1" strike="noStrike">
                <a:solidFill>
                  <a:srgbClr val="000000"/>
                </a:solidFill>
                <a:latin typeface="Noto Sans KR"/>
              </a:rPr>
              <a:t>'</a:t>
            </a:r>
            <a:r>
              <a:rPr b="0" lang="ko-KR" sz="2000" spc="-1" strike="noStrike">
                <a:solidFill>
                  <a:srgbClr val="000000"/>
                </a:solidFill>
                <a:latin typeface="Noto Sans KR"/>
              </a:rPr>
              <a:t>돕는 것이 목표</a:t>
            </a:r>
            <a:r>
              <a:rPr b="0" lang="en-US" sz="2000" spc="-1" strike="noStrike">
                <a:solidFill>
                  <a:srgbClr val="000000"/>
                </a:solidFill>
                <a:latin typeface="Noto Sans KR"/>
              </a:rPr>
              <a:t>'</a:t>
            </a:r>
            <a:r>
              <a:rPr b="0" lang="ko-KR" sz="2000" spc="-1" strike="noStrike">
                <a:solidFill>
                  <a:srgbClr val="000000"/>
                </a:solidFill>
                <a:latin typeface="Noto Sans KR"/>
              </a:rPr>
              <a:t>라고 표현합니다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12"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844A256-CB3E-40DE-BAE4-2ADF3A42E991}"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PlaceHolder 1"/>
          <p:cNvSpPr>
            <a:spLocks noGrp="1"/>
          </p:cNvSpPr>
          <p:nvPr>
            <p:ph type="sldImg"/>
          </p:nvPr>
        </p:nvSpPr>
        <p:spPr>
          <a:xfrm>
            <a:off x="685800" y="1143000"/>
            <a:ext cx="5486040" cy="3085920"/>
          </a:xfrm>
          <a:prstGeom prst="rect">
            <a:avLst/>
          </a:prstGeom>
          <a:ln w="0">
            <a:noFill/>
          </a:ln>
        </p:spPr>
      </p:sp>
      <p:sp>
        <p:nvSpPr>
          <p:cNvPr id="6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실제 운동을 기록해야 방 레벨과 소품이 바뀝니다</a:t>
            </a:r>
            <a:r>
              <a:rPr b="0" lang="en-US" sz="2000" spc="-1" strike="noStrike">
                <a:solidFill>
                  <a:srgbClr val="000000"/>
                </a:solidFill>
                <a:latin typeface="Noto Sans KR"/>
              </a:rPr>
              <a:t>. 100·250·450·700·1,000·1,500kcal </a:t>
            </a:r>
            <a:r>
              <a:rPr b="0" lang="ko-KR" sz="2000" spc="-1" strike="noStrike">
                <a:solidFill>
                  <a:srgbClr val="000000"/>
                </a:solidFill>
                <a:latin typeface="Noto Sans KR"/>
              </a:rPr>
              <a:t>구간에서 소품이 해금되고</a:t>
            </a:r>
            <a:r>
              <a:rPr b="0" lang="en-US" sz="2000" spc="-1" strike="noStrike">
                <a:solidFill>
                  <a:srgbClr val="000000"/>
                </a:solidFill>
                <a:latin typeface="Noto Sans KR"/>
              </a:rPr>
              <a:t>, </a:t>
            </a:r>
            <a:r>
              <a:rPr b="0" lang="ko-KR" sz="2000" spc="-1" strike="noStrike">
                <a:solidFill>
                  <a:srgbClr val="000000"/>
                </a:solidFill>
                <a:latin typeface="Noto Sans KR"/>
              </a:rPr>
              <a:t>누적 </a:t>
            </a:r>
            <a:r>
              <a:rPr b="0" lang="en-US" sz="2000" spc="-1" strike="noStrike">
                <a:solidFill>
                  <a:srgbClr val="000000"/>
                </a:solidFill>
                <a:latin typeface="Noto Sans KR"/>
              </a:rPr>
              <a:t>1,500kcal</a:t>
            </a:r>
            <a:r>
              <a:rPr b="0" lang="ko-KR" sz="2000" spc="-1" strike="noStrike">
                <a:solidFill>
                  <a:srgbClr val="000000"/>
                </a:solidFill>
                <a:latin typeface="Noto Sans KR"/>
              </a:rPr>
              <a:t>마다 </a:t>
            </a:r>
            <a:r>
              <a:rPr b="0" lang="en-US" sz="2000" spc="-1" strike="noStrike">
                <a:solidFill>
                  <a:srgbClr val="000000"/>
                </a:solidFill>
                <a:latin typeface="Noto Sans KR"/>
              </a:rPr>
              <a:t>ROOM LEVEL</a:t>
            </a:r>
            <a:r>
              <a:rPr b="0" lang="ko-KR" sz="2000" spc="-1" strike="noStrike">
                <a:solidFill>
                  <a:srgbClr val="000000"/>
                </a:solidFill>
                <a:latin typeface="Noto Sans KR"/>
              </a:rPr>
              <a:t>이 오릅니다</a:t>
            </a:r>
            <a:r>
              <a:rPr b="0" lang="en-US" sz="2000" spc="-1" strike="noStrike">
                <a:solidFill>
                  <a:srgbClr val="000000"/>
                </a:solidFill>
                <a:latin typeface="Noto Sans KR"/>
              </a:rPr>
              <a:t>. LV 5 </a:t>
            </a:r>
            <a:r>
              <a:rPr b="0" lang="ko-KR" sz="2000" spc="-1" strike="noStrike">
                <a:solidFill>
                  <a:srgbClr val="000000"/>
                </a:solidFill>
                <a:latin typeface="Noto Sans KR"/>
              </a:rPr>
              <a:t>한복</a:t>
            </a:r>
            <a:r>
              <a:rPr b="0" lang="en-US" sz="2000" spc="-1" strike="noStrike">
                <a:solidFill>
                  <a:srgbClr val="000000"/>
                </a:solidFill>
                <a:latin typeface="Noto Sans KR"/>
              </a:rPr>
              <a:t>, LV 20 ROCK </a:t>
            </a:r>
            <a:r>
              <a:rPr b="0" lang="ko-KR" sz="2000" spc="-1" strike="noStrike">
                <a:solidFill>
                  <a:srgbClr val="000000"/>
                </a:solidFill>
                <a:latin typeface="Noto Sans KR"/>
              </a:rPr>
              <a:t>캐릭터와 특별 가구</a:t>
            </a:r>
            <a:r>
              <a:rPr b="0" lang="en-US" sz="2000" spc="-1" strike="noStrike">
                <a:solidFill>
                  <a:srgbClr val="000000"/>
                </a:solidFill>
                <a:latin typeface="Noto Sans KR"/>
              </a:rPr>
              <a:t>, LV 50 HIGHEND </a:t>
            </a:r>
            <a:r>
              <a:rPr b="0" lang="ko-KR" sz="2000" spc="-1" strike="noStrike">
                <a:solidFill>
                  <a:srgbClr val="000000"/>
                </a:solidFill>
                <a:latin typeface="Noto Sans KR"/>
              </a:rPr>
              <a:t>캐릭터</a:t>
            </a:r>
            <a:r>
              <a:rPr b="0" lang="en-US" sz="2000" spc="-1" strike="noStrike">
                <a:solidFill>
                  <a:srgbClr val="000000"/>
                </a:solidFill>
                <a:latin typeface="Noto Sans KR"/>
              </a:rPr>
              <a:t>. </a:t>
            </a:r>
            <a:r>
              <a:rPr b="0" lang="ko-KR" sz="2000" spc="-1" strike="noStrike">
                <a:solidFill>
                  <a:srgbClr val="000000"/>
                </a:solidFill>
                <a:latin typeface="Noto Sans KR"/>
              </a:rPr>
              <a:t>보이지 않는 운동 누적을 눈에 보이게 만든 장치입니다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15"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C3E6F8B-8B74-4420-948B-07EAF0E6DE3A}"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sldImg"/>
          </p:nvPr>
        </p:nvSpPr>
        <p:spPr>
          <a:xfrm>
            <a:off x="685800" y="1143000"/>
            <a:ext cx="5486040" cy="3085920"/>
          </a:xfrm>
          <a:prstGeom prst="rect">
            <a:avLst/>
          </a:prstGeom>
          <a:ln w="0">
            <a:noFill/>
          </a:ln>
        </p:spPr>
      </p:sp>
      <p:sp>
        <p:nvSpPr>
          <p:cNvPr id="6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[핵심 멘트] “사용자가 망설이는 이유에 맞춰 데이터를 선택했습니다.”</a:t>
            </a:r>
            <a:endParaRPr b="0" lang="en-US" sz="2000" spc="-1" strike="noStrike">
              <a:solidFill>
                <a:srgbClr val="000000"/>
              </a:solidFill>
              <a:latin typeface="Noto Sans KR"/>
            </a:endParaRPr>
          </a:p>
          <a:p>
            <a:pPr marL="216000" indent="0">
              <a:lnSpc>
                <a:spcPct val="100000"/>
              </a:lnSpc>
              <a:buNone/>
            </a:pPr>
            <a:r>
              <a:rPr b="0" lang="ko-KR" sz="2000" spc="-1" strike="noStrike">
                <a:solidFill>
                  <a:srgbClr val="000000"/>
                </a:solidFill>
                <a:latin typeface="Noto Sans KR"/>
              </a:rPr>
              <a:t>날씨가 나쁘면 무조건 나가게 하는 게 아니라</a:t>
            </a:r>
            <a:r>
              <a:rPr b="0" lang="en-US" sz="2000" spc="-1" strike="noStrike">
                <a:solidFill>
                  <a:srgbClr val="000000"/>
                </a:solidFill>
                <a:latin typeface="Noto Sans KR"/>
              </a:rPr>
              <a:t>, </a:t>
            </a:r>
            <a:r>
              <a:rPr b="0" lang="ko-KR" sz="2000" spc="-1" strike="noStrike">
                <a:solidFill>
                  <a:srgbClr val="000000"/>
                </a:solidFill>
                <a:latin typeface="Noto Sans KR"/>
              </a:rPr>
              <a:t>실내 운동이라는 대안을 주는 것 — 사용자가 망설이는 이유를 줄여준다는 방향으로 설명합니다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18"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2741FB7-1540-499F-A9EA-E88DB515806E}"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type="sldImg"/>
          </p:nvPr>
        </p:nvSpPr>
        <p:spPr>
          <a:xfrm>
            <a:off x="685800" y="1143000"/>
            <a:ext cx="5486040" cy="3085920"/>
          </a:xfrm>
          <a:prstGeom prst="rect">
            <a:avLst/>
          </a:prstGeom>
          <a:ln w="0">
            <a:noFill/>
          </a:ln>
        </p:spPr>
      </p:sp>
      <p:sp>
        <p:nvSpPr>
          <p:cNvPr id="6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시간은 별도의 공공데이터가 아니라 사용자 입력과 거리에서 계산한 값입니다</a:t>
            </a:r>
            <a:r>
              <a:rPr b="0" lang="en-US" sz="2000" spc="-1" strike="noStrike">
                <a:solidFill>
                  <a:srgbClr val="000000"/>
                </a:solidFill>
                <a:latin typeface="Noto Sans KR"/>
              </a:rPr>
              <a:t>. </a:t>
            </a:r>
            <a:r>
              <a:rPr b="0" lang="ko-KR" sz="2000" spc="-1" strike="noStrike">
                <a:solidFill>
                  <a:srgbClr val="000000"/>
                </a:solidFill>
                <a:latin typeface="Noto Sans KR"/>
              </a:rPr>
              <a:t>현재 코드는 거리</a:t>
            </a:r>
            <a:r>
              <a:rPr b="0" lang="en-US" sz="2000" spc="-1" strike="noStrike">
                <a:solidFill>
                  <a:srgbClr val="000000"/>
                </a:solidFill>
                <a:latin typeface="Noto Sans KR"/>
              </a:rPr>
              <a:t>(km) × 20</a:t>
            </a:r>
            <a:r>
              <a:rPr b="0" lang="ko-KR" sz="2000" spc="-1" strike="noStrike">
                <a:solidFill>
                  <a:srgbClr val="000000"/>
                </a:solidFill>
                <a:latin typeface="Noto Sans KR"/>
              </a:rPr>
              <a:t>을 반올림한 예상 이동시간을 사용하므로 실제 길찾기 시간과 구분해서 설명합니다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21"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BAA5533-68D2-4FDD-9C68-DF976C38DDA5}"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sldImg"/>
          </p:nvPr>
        </p:nvSpPr>
        <p:spPr>
          <a:xfrm>
            <a:off x="685800" y="1143000"/>
            <a:ext cx="5486040" cy="3085920"/>
          </a:xfrm>
          <a:prstGeom prst="rect">
            <a:avLst/>
          </a:prstGeom>
          <a:ln w="0">
            <a:noFill/>
          </a:ln>
        </p:spPr>
      </p:sp>
      <p:sp>
        <p:nvSpPr>
          <p:cNvPr id="6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출처는 공공데이터포털</a:t>
            </a:r>
            <a:r>
              <a:rPr b="0" lang="en-US" sz="2000" spc="-1" strike="noStrike">
                <a:solidFill>
                  <a:srgbClr val="000000"/>
                </a:solidFill>
                <a:latin typeface="Noto Sans KR"/>
              </a:rPr>
              <a:t>(OpenAPI)</a:t>
            </a:r>
            <a:r>
              <a:rPr b="0" lang="ko-KR" sz="2000" spc="-1" strike="noStrike">
                <a:solidFill>
                  <a:srgbClr val="000000"/>
                </a:solidFill>
                <a:latin typeface="Noto Sans KR"/>
              </a:rPr>
              <a:t>과 문화빅데이터 플랫폼</a:t>
            </a:r>
            <a:r>
              <a:rPr b="0" lang="en-US" sz="2000" spc="-1" strike="noStrike">
                <a:solidFill>
                  <a:srgbClr val="000000"/>
                </a:solidFill>
                <a:latin typeface="Noto Sans KR"/>
              </a:rPr>
              <a:t>(CSV) </a:t>
            </a:r>
            <a:r>
              <a:rPr b="0" lang="ko-KR" sz="2000" spc="-1" strike="noStrike">
                <a:solidFill>
                  <a:srgbClr val="000000"/>
                </a:solidFill>
                <a:latin typeface="Noto Sans KR"/>
              </a:rPr>
              <a:t>두 곳입니다</a:t>
            </a:r>
            <a:r>
              <a:rPr b="0" lang="en-US" sz="2000" spc="-1" strike="noStrike">
                <a:solidFill>
                  <a:srgbClr val="000000"/>
                </a:solidFill>
                <a:latin typeface="Noto Sans KR"/>
              </a:rPr>
              <a:t>. </a:t>
            </a:r>
            <a:r>
              <a:rPr b="0" lang="ko-KR" sz="2000" spc="-1" strike="noStrike">
                <a:solidFill>
                  <a:srgbClr val="000000"/>
                </a:solidFill>
                <a:latin typeface="Noto Sans KR"/>
              </a:rPr>
              <a:t>핵심은 국민체육진흥공단 전국체육시설 정보이고</a:t>
            </a:r>
            <a:r>
              <a:rPr b="0" lang="en-US" sz="2000" spc="-1" strike="noStrike">
                <a:solidFill>
                  <a:srgbClr val="000000"/>
                </a:solidFill>
                <a:latin typeface="Noto Sans KR"/>
              </a:rPr>
              <a:t>, </a:t>
            </a:r>
            <a:r>
              <a:rPr b="0" lang="ko-KR" sz="2000" spc="-1" strike="noStrike">
                <a:solidFill>
                  <a:srgbClr val="000000"/>
                </a:solidFill>
                <a:latin typeface="Noto Sans KR"/>
              </a:rPr>
              <a:t>기상청</a:t>
            </a:r>
            <a:r>
              <a:rPr b="0" lang="en-US" sz="2000" spc="-1" strike="noStrike">
                <a:solidFill>
                  <a:srgbClr val="000000"/>
                </a:solidFill>
                <a:latin typeface="Noto Sans KR"/>
              </a:rPr>
              <a:t>·</a:t>
            </a:r>
            <a:r>
              <a:rPr b="0" lang="ko-KR" sz="2000" spc="-1" strike="noStrike">
                <a:solidFill>
                  <a:srgbClr val="000000"/>
                </a:solidFill>
                <a:latin typeface="Noto Sans KR"/>
              </a:rPr>
              <a:t>에어코리아 데이터로 환경 조건을 더합니다</a:t>
            </a:r>
            <a:r>
              <a:rPr b="0" lang="en-US" sz="2000" spc="-1" strike="noStrike">
                <a:solidFill>
                  <a:srgbClr val="000000"/>
                </a:solidFill>
                <a:latin typeface="Noto Sans KR"/>
              </a:rPr>
              <a:t>. </a:t>
            </a:r>
            <a:r>
              <a:rPr b="0" lang="ko-KR" sz="2000" spc="-1" strike="noStrike">
                <a:solidFill>
                  <a:srgbClr val="000000"/>
                </a:solidFill>
                <a:latin typeface="Noto Sans KR"/>
              </a:rPr>
              <a:t>문화빅데이터 플랫폼의 국민체육진흥공단 데이터 </a:t>
            </a:r>
            <a:r>
              <a:rPr b="0" lang="en-US" sz="2000" spc="-1" strike="noStrike">
                <a:solidFill>
                  <a:srgbClr val="000000"/>
                </a:solidFill>
                <a:latin typeface="Noto Sans KR"/>
              </a:rPr>
              <a:t>7</a:t>
            </a:r>
            <a:r>
              <a:rPr b="0" lang="ko-KR" sz="2000" spc="-1" strike="noStrike">
                <a:solidFill>
                  <a:srgbClr val="000000"/>
                </a:solidFill>
                <a:latin typeface="Noto Sans KR"/>
              </a:rPr>
              <a:t>종은 </a:t>
            </a:r>
            <a:r>
              <a:rPr b="0" lang="en-US" sz="2000" spc="-1" strike="noStrike">
                <a:solidFill>
                  <a:srgbClr val="000000"/>
                </a:solidFill>
                <a:latin typeface="Noto Sans KR"/>
              </a:rPr>
              <a:t>Selenium</a:t>
            </a:r>
            <a:r>
              <a:rPr b="0" lang="ko-KR" sz="2000" spc="-1" strike="noStrike">
                <a:solidFill>
                  <a:srgbClr val="000000"/>
                </a:solidFill>
                <a:latin typeface="Noto Sans KR"/>
              </a:rPr>
              <a:t>으로 </a:t>
            </a:r>
            <a:r>
              <a:rPr b="0" lang="en-US" sz="2000" spc="-1" strike="noStrike">
                <a:solidFill>
                  <a:srgbClr val="000000"/>
                </a:solidFill>
                <a:latin typeface="Noto Sans KR"/>
              </a:rPr>
              <a:t>CSV </a:t>
            </a:r>
            <a:r>
              <a:rPr b="0" lang="ko-KR" sz="2000" spc="-1" strike="noStrike">
                <a:solidFill>
                  <a:srgbClr val="000000"/>
                </a:solidFill>
                <a:latin typeface="Noto Sans KR"/>
              </a:rPr>
              <a:t>다운로드를 자동화해 수집합니다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24"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BB5966C-4F57-436F-A986-7A83E77C130E}"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685800" y="1143000"/>
            <a:ext cx="5486040" cy="3085920"/>
          </a:xfrm>
          <a:prstGeom prst="rect">
            <a:avLst/>
          </a:prstGeom>
          <a:ln w="0">
            <a:noFill/>
          </a:ln>
        </p:spPr>
      </p:sp>
      <p:sp>
        <p:nvSpPr>
          <p:cNvPr id="6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먼저 운동 종목과 최대 이동시간으로 후보를 거르고</a:t>
            </a:r>
            <a:r>
              <a:rPr b="0" lang="en-US" sz="2000" spc="-1" strike="noStrike">
                <a:solidFill>
                  <a:srgbClr val="000000"/>
                </a:solidFill>
                <a:latin typeface="Noto Sans KR"/>
              </a:rPr>
              <a:t>, </a:t>
            </a:r>
            <a:r>
              <a:rPr b="0" lang="ko-KR" sz="2000" spc="-1" strike="noStrike">
                <a:solidFill>
                  <a:srgbClr val="000000"/>
                </a:solidFill>
                <a:latin typeface="Noto Sans KR"/>
              </a:rPr>
              <a:t>남은 시설에 점수를 매깁니다</a:t>
            </a:r>
            <a:r>
              <a:rPr b="0" lang="en-US" sz="2000" spc="-1" strike="noStrike">
                <a:solidFill>
                  <a:srgbClr val="000000"/>
                </a:solidFill>
                <a:latin typeface="Noto Sans KR"/>
              </a:rPr>
              <a:t>. </a:t>
            </a:r>
            <a:r>
              <a:rPr b="0" lang="ko-KR" sz="2000" spc="-1" strike="noStrike">
                <a:solidFill>
                  <a:srgbClr val="000000"/>
                </a:solidFill>
                <a:latin typeface="Noto Sans KR"/>
              </a:rPr>
              <a:t>기본 </a:t>
            </a:r>
            <a:r>
              <a:rPr b="0" lang="en-US" sz="2000" spc="-1" strike="noStrike">
                <a:solidFill>
                  <a:srgbClr val="000000"/>
                </a:solidFill>
                <a:latin typeface="Noto Sans KR"/>
              </a:rPr>
              <a:t>45</a:t>
            </a:r>
            <a:r>
              <a:rPr b="0" lang="ko-KR" sz="2000" spc="-1" strike="noStrike">
                <a:solidFill>
                  <a:srgbClr val="000000"/>
                </a:solidFill>
                <a:latin typeface="Noto Sans KR"/>
              </a:rPr>
              <a:t>점 </a:t>
            </a:r>
            <a:r>
              <a:rPr b="0" lang="en-US" sz="2000" spc="-1" strike="noStrike">
                <a:solidFill>
                  <a:srgbClr val="000000"/>
                </a:solidFill>
                <a:latin typeface="Noto Sans KR"/>
              </a:rPr>
              <a:t>+ </a:t>
            </a:r>
            <a:r>
              <a:rPr b="0" lang="ko-KR" sz="2000" spc="-1" strike="noStrike">
                <a:solidFill>
                  <a:srgbClr val="000000"/>
                </a:solidFill>
                <a:latin typeface="Noto Sans KR"/>
              </a:rPr>
              <a:t>거리 점수 </a:t>
            </a:r>
            <a:r>
              <a:rPr b="0" lang="en-US" sz="2000" spc="-1" strike="noStrike">
                <a:solidFill>
                  <a:srgbClr val="000000"/>
                </a:solidFill>
                <a:latin typeface="Noto Sans KR"/>
              </a:rPr>
              <a:t>+ </a:t>
            </a:r>
            <a:r>
              <a:rPr b="0" lang="ko-KR" sz="2000" spc="-1" strike="noStrike">
                <a:solidFill>
                  <a:srgbClr val="000000"/>
                </a:solidFill>
                <a:latin typeface="Noto Sans KR"/>
              </a:rPr>
              <a:t>환경 조건 보정 → </a:t>
            </a:r>
            <a:r>
              <a:rPr b="0" lang="en-US" sz="2000" spc="-1" strike="noStrike">
                <a:solidFill>
                  <a:srgbClr val="000000"/>
                </a:solidFill>
                <a:latin typeface="Noto Sans KR"/>
              </a:rPr>
              <a:t>0~99</a:t>
            </a:r>
            <a:r>
              <a:rPr b="0" lang="ko-KR" sz="2000" spc="-1" strike="noStrike">
                <a:solidFill>
                  <a:srgbClr val="000000"/>
                </a:solidFill>
                <a:latin typeface="Noto Sans KR"/>
              </a:rPr>
              <a:t>점으로 제한 → 운영정보 추가 반영</a:t>
            </a:r>
            <a:r>
              <a:rPr b="0" lang="en-US" sz="2000" spc="-1" strike="noStrike">
                <a:solidFill>
                  <a:srgbClr val="000000"/>
                </a:solidFill>
                <a:latin typeface="Noto Sans KR"/>
              </a:rPr>
              <a:t>. </a:t>
            </a:r>
            <a:r>
              <a:rPr b="0" lang="ko-KR" sz="2000" spc="-1" strike="noStrike">
                <a:solidFill>
                  <a:srgbClr val="000000"/>
                </a:solidFill>
                <a:latin typeface="Noto Sans KR"/>
              </a:rPr>
              <a:t>점수는 학습된 </a:t>
            </a:r>
            <a:r>
              <a:rPr b="0" lang="en-US" sz="2000" spc="-1" strike="noStrike">
                <a:solidFill>
                  <a:srgbClr val="000000"/>
                </a:solidFill>
                <a:latin typeface="Noto Sans KR"/>
              </a:rPr>
              <a:t>AI </a:t>
            </a:r>
            <a:r>
              <a:rPr b="0" lang="ko-KR" sz="2000" spc="-1" strike="noStrike">
                <a:solidFill>
                  <a:srgbClr val="000000"/>
                </a:solidFill>
                <a:latin typeface="Noto Sans KR"/>
              </a:rPr>
              <a:t>확률이 아니라 팀이 설정한 규칙 기반 우선순위입니다</a:t>
            </a:r>
            <a:r>
              <a:rPr b="0" lang="en-US" sz="2000" spc="-1" strike="noStrike">
                <a:solidFill>
                  <a:srgbClr val="000000"/>
                </a:solidFill>
                <a:latin typeface="Noto Sans KR"/>
              </a:rPr>
              <a:t>. (</a:t>
            </a:r>
            <a:r>
              <a:rPr b="0" lang="ko-KR" sz="2000" spc="-1" strike="noStrike">
                <a:solidFill>
                  <a:srgbClr val="000000"/>
                </a:solidFill>
                <a:latin typeface="Noto Sans KR"/>
              </a:rPr>
              <a:t>카카오 검색 보완 후보는 별도 점수식</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27"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00C716F-1615-41E5-A39F-D00CE1F62D94}"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sldImg"/>
          </p:nvPr>
        </p:nvSpPr>
        <p:spPr>
          <a:xfrm>
            <a:off x="685800" y="1143000"/>
            <a:ext cx="5486040" cy="3085920"/>
          </a:xfrm>
          <a:prstGeom prst="rect">
            <a:avLst/>
          </a:prstGeom>
          <a:ln w="0">
            <a:noFill/>
          </a:ln>
        </p:spPr>
      </p:sp>
      <p:sp>
        <p:nvSpPr>
          <p:cNvPr id="6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[핵심 멘트] “수집한 데이터가 실제 추천 순서를 결정합니다.”</a:t>
            </a:r>
            <a:endParaRPr b="0" lang="en-US" sz="2000" spc="-1" strike="noStrike">
              <a:solidFill>
                <a:srgbClr val="000000"/>
              </a:solidFill>
              <a:latin typeface="Noto Sans KR"/>
            </a:endParaRPr>
          </a:p>
          <a:p>
            <a:pPr marL="216000" indent="0">
              <a:lnSpc>
                <a:spcPct val="100000"/>
              </a:lnSpc>
              <a:buNone/>
            </a:pPr>
            <a:r>
              <a:rPr b="0" lang="ko-KR" sz="2000" spc="-1" strike="noStrike">
                <a:solidFill>
                  <a:srgbClr val="000000"/>
                </a:solidFill>
                <a:latin typeface="Noto Sans KR"/>
              </a:rPr>
              <a:t>두 시설 모두 </a:t>
            </a:r>
            <a:r>
              <a:rPr b="0" lang="en-US" sz="2000" spc="-1" strike="noStrike">
                <a:solidFill>
                  <a:srgbClr val="000000"/>
                </a:solidFill>
                <a:latin typeface="Noto Sans KR"/>
              </a:rPr>
              <a:t>1km </a:t>
            </a:r>
            <a:r>
              <a:rPr b="0" lang="ko-KR" sz="2000" spc="-1" strike="noStrike">
                <a:solidFill>
                  <a:srgbClr val="000000"/>
                </a:solidFill>
                <a:latin typeface="Noto Sans KR"/>
              </a:rPr>
              <a:t>거리</a:t>
            </a:r>
            <a:r>
              <a:rPr b="0" lang="en-US" sz="2000" spc="-1" strike="noStrike">
                <a:solidFill>
                  <a:srgbClr val="000000"/>
                </a:solidFill>
                <a:latin typeface="Noto Sans KR"/>
              </a:rPr>
              <a:t>, </a:t>
            </a:r>
            <a:r>
              <a:rPr b="0" lang="ko-KR" sz="2000" spc="-1" strike="noStrike">
                <a:solidFill>
                  <a:srgbClr val="000000"/>
                </a:solidFill>
                <a:latin typeface="Noto Sans KR"/>
              </a:rPr>
              <a:t>비가 오고 미세먼지가 높은 상황입니다</a:t>
            </a:r>
            <a:r>
              <a:rPr b="0" lang="en-US" sz="2000" spc="-1" strike="noStrike">
                <a:solidFill>
                  <a:srgbClr val="000000"/>
                </a:solidFill>
                <a:latin typeface="Noto Sans KR"/>
              </a:rPr>
              <a:t>. </a:t>
            </a:r>
            <a:r>
              <a:rPr b="0" lang="ko-KR" sz="2000" spc="-1" strike="noStrike">
                <a:solidFill>
                  <a:srgbClr val="000000"/>
                </a:solidFill>
                <a:latin typeface="Noto Sans KR"/>
              </a:rPr>
              <a:t>거리 점수는 </a:t>
            </a:r>
            <a:r>
              <a:rPr b="0" lang="en-US" sz="2000" spc="-1" strike="noStrike">
                <a:solidFill>
                  <a:srgbClr val="000000"/>
                </a:solidFill>
                <a:latin typeface="Noto Sans KR"/>
              </a:rPr>
              <a:t>40 – 1×18 = 22</a:t>
            </a:r>
            <a:r>
              <a:rPr b="0" lang="ko-KR" sz="2000" spc="-1" strike="noStrike">
                <a:solidFill>
                  <a:srgbClr val="000000"/>
                </a:solidFill>
                <a:latin typeface="Noto Sans KR"/>
              </a:rPr>
              <a:t>점</a:t>
            </a:r>
            <a:r>
              <a:rPr b="0" lang="en-US" sz="2000" spc="-1" strike="noStrike">
                <a:solidFill>
                  <a:srgbClr val="000000"/>
                </a:solidFill>
                <a:latin typeface="Noto Sans KR"/>
              </a:rPr>
              <a:t>. </a:t>
            </a:r>
            <a:r>
              <a:rPr b="0" lang="ko-KR" sz="2000" spc="-1" strike="noStrike">
                <a:solidFill>
                  <a:srgbClr val="000000"/>
                </a:solidFill>
                <a:latin typeface="Noto Sans KR"/>
              </a:rPr>
              <a:t>실내는 </a:t>
            </a:r>
            <a:r>
              <a:rPr b="0" lang="en-US" sz="2000" spc="-1" strike="noStrike">
                <a:solidFill>
                  <a:srgbClr val="000000"/>
                </a:solidFill>
                <a:latin typeface="Noto Sans KR"/>
              </a:rPr>
              <a:t>45+22+8+14 = 89</a:t>
            </a:r>
            <a:r>
              <a:rPr b="0" lang="ko-KR" sz="2000" spc="-1" strike="noStrike">
                <a:solidFill>
                  <a:srgbClr val="000000"/>
                </a:solidFill>
                <a:latin typeface="Noto Sans KR"/>
              </a:rPr>
              <a:t>점</a:t>
            </a:r>
            <a:r>
              <a:rPr b="0" lang="en-US" sz="2000" spc="-1" strike="noStrike">
                <a:solidFill>
                  <a:srgbClr val="000000"/>
                </a:solidFill>
                <a:latin typeface="Noto Sans KR"/>
              </a:rPr>
              <a:t>, </a:t>
            </a:r>
            <a:r>
              <a:rPr b="0" lang="ko-KR" sz="2000" spc="-1" strike="noStrike">
                <a:solidFill>
                  <a:srgbClr val="000000"/>
                </a:solidFill>
                <a:latin typeface="Noto Sans KR"/>
              </a:rPr>
              <a:t>실외는 </a:t>
            </a:r>
            <a:r>
              <a:rPr b="0" lang="en-US" sz="2000" spc="-1" strike="noStrike">
                <a:solidFill>
                  <a:srgbClr val="000000"/>
                </a:solidFill>
                <a:latin typeface="Noto Sans KR"/>
              </a:rPr>
              <a:t>45+22–24 = 43</a:t>
            </a:r>
            <a:r>
              <a:rPr b="0" lang="ko-KR" sz="2000" spc="-1" strike="noStrike">
                <a:solidFill>
                  <a:srgbClr val="000000"/>
                </a:solidFill>
                <a:latin typeface="Noto Sans KR"/>
              </a:rPr>
              <a:t>점</a:t>
            </a:r>
            <a:r>
              <a:rPr b="0" lang="en-US" sz="2000" spc="-1" strike="noStrike">
                <a:solidFill>
                  <a:srgbClr val="000000"/>
                </a:solidFill>
                <a:latin typeface="Noto Sans KR"/>
              </a:rPr>
              <a:t>. </a:t>
            </a:r>
            <a:r>
              <a:rPr b="0" lang="ko-KR" sz="2000" spc="-1" strike="noStrike">
                <a:solidFill>
                  <a:srgbClr val="000000"/>
                </a:solidFill>
                <a:latin typeface="Noto Sans KR"/>
              </a:rPr>
              <a:t>핵심은 </a:t>
            </a:r>
            <a:r>
              <a:rPr b="0" lang="en-US" sz="2000" spc="-1" strike="noStrike">
                <a:solidFill>
                  <a:srgbClr val="000000"/>
                </a:solidFill>
                <a:latin typeface="Noto Sans KR"/>
              </a:rPr>
              <a:t>'</a:t>
            </a:r>
            <a:r>
              <a:rPr b="0" lang="ko-KR" sz="2000" spc="-1" strike="noStrike">
                <a:solidFill>
                  <a:srgbClr val="000000"/>
                </a:solidFill>
                <a:latin typeface="Noto Sans KR"/>
              </a:rPr>
              <a:t>같은 거리여도 오늘의 환경에 맞는 장소를 더 먼저 보여준다</a:t>
            </a:r>
            <a:r>
              <a:rPr b="0" lang="en-US" sz="2000" spc="-1" strike="noStrike">
                <a:solidFill>
                  <a:srgbClr val="000000"/>
                </a:solidFill>
                <a:latin typeface="Noto Sans KR"/>
              </a:rPr>
              <a:t>'</a:t>
            </a:r>
            <a:r>
              <a:rPr b="0" lang="ko-KR" sz="2000" spc="-1" strike="noStrike">
                <a:solidFill>
                  <a:srgbClr val="000000"/>
                </a:solidFill>
                <a:latin typeface="Noto Sans KR"/>
              </a:rPr>
              <a:t>는 점입니다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30"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AC870DC-9D64-4570-BF67-A8695F6BB22F}"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멘트] “필요한 데이터를 반복해서 처리하는 구조를 만들었습니다.”
파이프라인은 7단계입니다. ① 공공데이터 API와 Selenium 크롤링으로 수집하고 ② 오류 유형을 구분해 재시도·복구한 뒤 ③ 원천 데이터를 RAW에 그대로 보존합니다. ④ 정제와 품질검사(DQ)를 거쳐 ⑤ PROCESSED에 적재하고, ⑥ APScheduler가 데이터셋별 주기에 맞춰 이 과정을 자동 실행하며 ⑦ 실행 결과와 DQ 상태를 기록하고 실패·이상 시 Discord로 알립니다. 크롤링·예외처리·결과는 뒤에서 자세히 보여드립니다.
※ 파이프라인 적재 테이블과 추천 서비스 조회 테이블의 연결·동기화는 확인 전이므로, '수집 결과가 곧바로 서비스에 반영된다'고 말하지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수집한 원천 데이터는 정제 전 상태 그대로 RAW에 보존합니다. RAW는 품질검사에서 비교 기준이 되고, 문제가 생겼을 때 다시 처리하는 출발점입니다.
정제는 좌표·결측값·자료형·지역 표기에 공통 원칙을 적용하고, 데이터셋 특성에 맞는 규칙을 추가합니다. 품질검사(DQ)에서는 정제 전후의 행 수와 NULL 변화를 확인해 예상하지 못한 값·행 손실을 찾고, 이상이 있으면 RAW와 비교해 처리 로직을 고친 뒤 회귀 테스트와 재처리를 거칩니다. 정상인 결과만 PROCESSED에 적재합니다.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데이터의 갱신 주기와 수집 비용을 고려해 데이터셋별로 실행 주기를 정했습니다. APScheduler가 데이터셋별 Job을 실행하고, 각 Job은 수집 → RAW → 정제·DQ → PROCESSED 순서로 처리됩니다.
실행 결과와 DQ 결과는 로그와 monitoring.pipeline_run_history에 기록하고, 실패나 이상이 있으면 Discord Webhook으로 팀 채널에 바로 알립니다. 특정 담당자에게 의존하지 않고 팀이 함께 상태를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685800" y="1143000"/>
            <a:ext cx="5486040" cy="3085920"/>
          </a:xfrm>
          <a:prstGeom prst="rect">
            <a:avLst/>
          </a:prstGeom>
          <a:ln w="0">
            <a:noFill/>
          </a:ln>
        </p:spPr>
      </p:sp>
      <p:sp>
        <p:nvSpPr>
          <p:cNvPr id="6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[핵심 멘트] “시설 기본정보만으로 부족한 부분을 보완합니다.”</a:t>
            </a:r>
            <a:endParaRPr b="0" lang="en-US" sz="2000" spc="-1" strike="noStrike">
              <a:solidFill>
                <a:srgbClr val="000000"/>
              </a:solidFill>
              <a:latin typeface="Noto Sans KR"/>
            </a:endParaRPr>
          </a:p>
          <a:p>
            <a:pPr marL="216000" indent="0">
              <a:lnSpc>
                <a:spcPct val="100000"/>
              </a:lnSpc>
              <a:buNone/>
            </a:pPr>
            <a:r>
              <a:rPr b="0" lang="ko-KR" sz="2000" spc="-1" strike="noStrike">
                <a:solidFill>
                  <a:srgbClr val="000000"/>
                </a:solidFill>
                <a:latin typeface="Noto Sans KR"/>
              </a:rPr>
              <a:t>시설 위치와 날씨는 </a:t>
            </a:r>
            <a:r>
              <a:rPr b="0" lang="en-US" sz="2000" spc="-1" strike="noStrike">
                <a:solidFill>
                  <a:srgbClr val="000000"/>
                </a:solidFill>
                <a:latin typeface="Noto Sans KR"/>
              </a:rPr>
              <a:t>API</a:t>
            </a:r>
            <a:r>
              <a:rPr b="0" lang="ko-KR" sz="2000" spc="-1" strike="noStrike">
                <a:solidFill>
                  <a:srgbClr val="000000"/>
                </a:solidFill>
                <a:latin typeface="Noto Sans KR"/>
              </a:rPr>
              <a:t>로 받아오고</a:t>
            </a:r>
            <a:r>
              <a:rPr b="0" lang="en-US" sz="2000" spc="-1" strike="noStrike">
                <a:solidFill>
                  <a:srgbClr val="000000"/>
                </a:solidFill>
                <a:latin typeface="Noto Sans KR"/>
              </a:rPr>
              <a:t>, </a:t>
            </a:r>
            <a:r>
              <a:rPr b="0" lang="ko-KR" sz="2000" spc="-1" strike="noStrike">
                <a:solidFill>
                  <a:srgbClr val="000000"/>
                </a:solidFill>
                <a:latin typeface="Noto Sans KR"/>
              </a:rPr>
              <a:t>공개 웹페이지의 운영시간</a:t>
            </a:r>
            <a:r>
              <a:rPr b="0" lang="en-US" sz="2000" spc="-1" strike="noStrike">
                <a:solidFill>
                  <a:srgbClr val="000000"/>
                </a:solidFill>
                <a:latin typeface="Noto Sans KR"/>
              </a:rPr>
              <a:t>·</a:t>
            </a:r>
            <a:r>
              <a:rPr b="0" lang="ko-KR" sz="2000" spc="-1" strike="noStrike">
                <a:solidFill>
                  <a:srgbClr val="000000"/>
                </a:solidFill>
                <a:latin typeface="Noto Sans KR"/>
              </a:rPr>
              <a:t>휴무</a:t>
            </a:r>
            <a:r>
              <a:rPr b="0" lang="en-US" sz="2000" spc="-1" strike="noStrike">
                <a:solidFill>
                  <a:srgbClr val="000000"/>
                </a:solidFill>
                <a:latin typeface="Noto Sans KR"/>
              </a:rPr>
              <a:t>·</a:t>
            </a:r>
            <a:r>
              <a:rPr b="0" lang="ko-KR" sz="2000" spc="-1" strike="noStrike">
                <a:solidFill>
                  <a:srgbClr val="000000"/>
                </a:solidFill>
                <a:latin typeface="Noto Sans KR"/>
              </a:rPr>
              <a:t>휴관 안내 문구를 보완적으로 확인하는 데 크롤링을 사용했습니다</a:t>
            </a:r>
            <a:r>
              <a:rPr b="0" lang="en-US" sz="2000" spc="-1" strike="noStrike">
                <a:solidFill>
                  <a:srgbClr val="000000"/>
                </a:solidFill>
                <a:latin typeface="Noto Sans KR"/>
              </a:rPr>
              <a:t>. </a:t>
            </a:r>
            <a:r>
              <a:rPr b="0" lang="ko-KR" sz="2000" spc="-1" strike="noStrike">
                <a:solidFill>
                  <a:srgbClr val="000000"/>
                </a:solidFill>
                <a:latin typeface="Noto Sans KR"/>
              </a:rPr>
              <a:t>추천 시점에 상위 후보 중 최대 </a:t>
            </a:r>
            <a:r>
              <a:rPr b="0" lang="en-US" sz="2000" spc="-1" strike="noStrike">
                <a:solidFill>
                  <a:srgbClr val="000000"/>
                </a:solidFill>
                <a:latin typeface="Noto Sans KR"/>
              </a:rPr>
              <a:t>10</a:t>
            </a:r>
            <a:r>
              <a:rPr b="0" lang="ko-KR" sz="2000" spc="-1" strike="noStrike">
                <a:solidFill>
                  <a:srgbClr val="000000"/>
                </a:solidFill>
                <a:latin typeface="Noto Sans KR"/>
              </a:rPr>
              <a:t>개 시설을 확인하고</a:t>
            </a:r>
            <a:r>
              <a:rPr b="0" lang="en-US" sz="2000" spc="-1" strike="noStrike">
                <a:solidFill>
                  <a:srgbClr val="000000"/>
                </a:solidFill>
                <a:latin typeface="Noto Sans KR"/>
              </a:rPr>
              <a:t>, </a:t>
            </a:r>
            <a:r>
              <a:rPr b="0" lang="ko-KR" sz="2000" spc="-1" strike="noStrike">
                <a:solidFill>
                  <a:srgbClr val="000000"/>
                </a:solidFill>
                <a:latin typeface="Noto Sans KR"/>
              </a:rPr>
              <a:t>특정 휴무 문구가 발견되면 점수를 낮춰 다시 정렬합니다</a:t>
            </a:r>
            <a:r>
              <a:rPr b="0" lang="en-US" sz="2000" spc="-1" strike="noStrike">
                <a:solidFill>
                  <a:srgbClr val="000000"/>
                </a:solidFill>
                <a:latin typeface="Noto Sans KR"/>
              </a:rPr>
              <a:t>. </a:t>
            </a:r>
            <a:r>
              <a:rPr b="0" lang="ko-KR" sz="2000" spc="-1" strike="noStrike">
                <a:solidFill>
                  <a:srgbClr val="000000"/>
                </a:solidFill>
                <a:latin typeface="Noto Sans KR"/>
              </a:rPr>
              <a:t>문구 추출 방식이므로 </a:t>
            </a:r>
            <a:r>
              <a:rPr b="0" lang="en-US" sz="2000" spc="-1" strike="noStrike">
                <a:solidFill>
                  <a:srgbClr val="000000"/>
                </a:solidFill>
                <a:latin typeface="Noto Sans KR"/>
              </a:rPr>
              <a:t>'</a:t>
            </a:r>
            <a:r>
              <a:rPr b="0" lang="ko-KR" sz="2000" spc="-1" strike="noStrike">
                <a:solidFill>
                  <a:srgbClr val="000000"/>
                </a:solidFill>
                <a:latin typeface="Noto Sans KR"/>
              </a:rPr>
              <a:t>영업 여부를 완벽히 판별한다</a:t>
            </a:r>
            <a:r>
              <a:rPr b="0" lang="en-US" sz="2000" spc="-1" strike="noStrike">
                <a:solidFill>
                  <a:srgbClr val="000000"/>
                </a:solidFill>
                <a:latin typeface="Noto Sans KR"/>
              </a:rPr>
              <a:t>'</a:t>
            </a:r>
            <a:r>
              <a:rPr b="0" lang="ko-KR" sz="2000" spc="-1" strike="noStrike">
                <a:solidFill>
                  <a:srgbClr val="000000"/>
                </a:solidFill>
                <a:latin typeface="Noto Sans KR"/>
              </a:rPr>
              <a:t>가 아니라 </a:t>
            </a:r>
            <a:r>
              <a:rPr b="0" lang="en-US" sz="2000" spc="-1" strike="noStrike">
                <a:solidFill>
                  <a:srgbClr val="000000"/>
                </a:solidFill>
                <a:latin typeface="Noto Sans KR"/>
              </a:rPr>
              <a:t>'</a:t>
            </a:r>
            <a:r>
              <a:rPr b="0" lang="ko-KR" sz="2000" spc="-1" strike="noStrike">
                <a:solidFill>
                  <a:srgbClr val="000000"/>
                </a:solidFill>
                <a:latin typeface="Noto Sans KR"/>
              </a:rPr>
              <a:t>헛걸음 가능성을 줄이려 했다</a:t>
            </a:r>
            <a:r>
              <a:rPr b="0" lang="en-US" sz="2000" spc="-1" strike="noStrike">
                <a:solidFill>
                  <a:srgbClr val="000000"/>
                </a:solidFill>
                <a:latin typeface="Noto Sans KR"/>
              </a:rPr>
              <a:t>'</a:t>
            </a:r>
            <a:r>
              <a:rPr b="0" lang="ko-KR" sz="2000" spc="-1" strike="noStrike">
                <a:solidFill>
                  <a:srgbClr val="000000"/>
                </a:solidFill>
                <a:latin typeface="Noto Sans KR"/>
              </a:rPr>
              <a:t>고 설명합니다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33"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E0C8B62-BE18-4934-BCA2-0B0BC5FD923B}"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공공데이터포털 API로 받을 수 없는 문화빅데이터 플랫폼의 국민체육진흥공단 데이터는 Selenium으로 수집합니다. 로그인 → CSV 파일 선택 → 활용목적·약관 팝업 처리 → 다운로드 완료 대기 → 검증 후 RAW 적재까지 자동으로 진행하고, 실행 로그 기준 6개 상품을 내려받아 6개 RAW 테이블에 적재했습니다.
앞 장의 운영정보 크롤링과는 대상과 실행 시점이 다릅니다. 정기 수집은 스케줄로, 운영정보 확인은 추천 요청 시점에 실행됩니다.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다운로드가 끝났다고 바로 적재하지 않습니다. HTML 페이지가 받아진 경우, 인코딩 오류, 헤더 이상, 컬럼 수가 다른 행, NUL 문자, 빈 파일을 먼저 걸러냅니다. 적재할 때는 CSV 검증 행 수, COPY 행 수, staging, final, 커밋 후 행 수를 모두 맞춰본 뒤에만 성공으로 처리합니다. 원본 문자열은 빈 문자열만 NULL로 바꾸고 그대로 보존합니다.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멘트] “데이터가 잘못 들어왔을 때의 처리 기준도 마련했습니다.”</a:t>
            </a:r>
            <a:endParaRPr lang="en-US" dirty="0"/>
          </a:p>
          <a:p>
            <a:r>
              <a:rPr lang="en-US" dirty="0"/>
              <a:t>HTTP 200만으로 정상 수집이라고 판단하지 않습니다. 오류를 네 가지로 나눠, 일시적 오류만 3초·5초 간격으로 최대 3회 재시도하고, 호출 한도 초과나 인증키 오류처럼 다시 요청해도 해결되지 않는 오류는 즉시 중단합니다. 없는 연도·행정구역 조합은 그 범위만 건너뛰고, 데이터 없음(03)은 오류가 아니라 0건으로 처리합니다.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재시도 이후에도 실패할 수 있으니, 실패했을 때 데이터를 지키는 장치를 단계별로 뒀습니다. 수집은 체크포인트로 이어서 받고, 적재는 staging 테이블에서 검증한 뒤 transaction으로 한 번에 교체하며, 정제 결과가 비거나 오류가 나면 기존 processed를 그대로 둡니다. 스케줄러는 중복 실행을 막고, 실패한 데이터셋만 건너뛴 채 나머지를 계속 처리하며 Discord로 알립니다.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멘트] “데이터가 잘못 들어왔을 때의 처리 기준도 마련했습니다.”
API 호출 실패 외에도 값 누락, 좌표 오류, 중복을 규칙으로 처리합니다. 제각각인 빈 값은 NULL로 통일하고, 서비스에 쓰는 대표 좌표가 없거나 대한민국 범위를 벗어나면 그 행은 제외합니다. 부가 좌표는 행을 살리고 좌표만 비웁니다. 중복은 검증된 키가 있을 때만 제거합니다.
실제로 AED 원본 100행에 좌표 빈 값 10건, 범위 밖 경도 5건, 중복 3건을 섞어 넣고 돌려보니 103행이 85행이 되었고, 빠진 18행은 모두 설명 가능한 제거였습니다. 설명되지 않는 손실이 생기면 CHECK_FAILED로 기록하고 Discord로 알립니다.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685800" y="1143000"/>
            <a:ext cx="5486040" cy="3085920"/>
          </a:xfrm>
          <a:prstGeom prst="rect">
            <a:avLst/>
          </a:prstGeom>
          <a:ln w="0">
            <a:noFill/>
          </a:ln>
        </p:spPr>
      </p:sp>
      <p:sp>
        <p:nvSpPr>
          <p:cNvPr id="6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[핵심 멘트] “앞에서 설명한 처리가 실제로 동작하는지 보여드립니다.”</a:t>
            </a:r>
            <a:endParaRPr b="0" lang="en-US" sz="2000" spc="-1" strike="noStrike">
              <a:solidFill>
                <a:srgbClr val="000000"/>
              </a:solidFill>
              <a:latin typeface="Noto Sans KR"/>
            </a:endParaRPr>
          </a:p>
          <a:p>
            <a:pPr marL="216000" indent="0">
              <a:lnSpc>
                <a:spcPct val="100000"/>
              </a:lnSpc>
              <a:buNone/>
            </a:pPr>
            <a:r>
              <a:rPr b="0" lang="ko-KR" sz="2000" spc="-1" strike="noStrike">
                <a:solidFill>
                  <a:srgbClr val="000000"/>
                </a:solidFill>
                <a:latin typeface="Noto Sans KR"/>
              </a:rPr>
              <a:t>실행 성공과 데이터 품질은 별개입니다</a:t>
            </a:r>
            <a:r>
              <a:rPr b="0" lang="en-US" sz="2000" spc="-1" strike="noStrike">
                <a:solidFill>
                  <a:srgbClr val="000000"/>
                </a:solidFill>
                <a:latin typeface="Noto Sans KR"/>
              </a:rPr>
              <a:t>. RAW → PROCESSED </a:t>
            </a:r>
            <a:r>
              <a:rPr b="0" lang="ko-KR" sz="2000" spc="-1" strike="noStrike">
                <a:solidFill>
                  <a:srgbClr val="000000"/>
                </a:solidFill>
                <a:latin typeface="Noto Sans KR"/>
              </a:rPr>
              <a:t>과정에서 새로 생긴 </a:t>
            </a:r>
            <a:r>
              <a:rPr b="0" lang="en-US" sz="2000" spc="-1" strike="noStrike">
                <a:solidFill>
                  <a:srgbClr val="000000"/>
                </a:solidFill>
                <a:latin typeface="Noto Sans KR"/>
              </a:rPr>
              <a:t>NULL</a:t>
            </a:r>
            <a:r>
              <a:rPr b="0" lang="ko-KR" sz="2000" spc="-1" strike="noStrike">
                <a:solidFill>
                  <a:srgbClr val="000000"/>
                </a:solidFill>
                <a:latin typeface="Noto Sans KR"/>
              </a:rPr>
              <a:t>을 추적하다가</a:t>
            </a:r>
            <a:r>
              <a:rPr b="0" lang="en-US" sz="2000" spc="-1" strike="noStrike">
                <a:solidFill>
                  <a:srgbClr val="000000"/>
                </a:solidFill>
                <a:latin typeface="Noto Sans KR"/>
              </a:rPr>
              <a:t>, </a:t>
            </a:r>
            <a:r>
              <a:rPr b="0" lang="ko-KR" sz="2000" spc="-1" strike="noStrike">
                <a:solidFill>
                  <a:srgbClr val="000000"/>
                </a:solidFill>
                <a:latin typeface="Noto Sans KR"/>
              </a:rPr>
              <a:t>값의 형태와 맞지 않는 자료형 변환 때문에 정상 값이 사라진 컬럼을 찾았습니다</a:t>
            </a:r>
            <a:r>
              <a:rPr b="0" lang="en-US" sz="2000" spc="-1" strike="noStrike">
                <a:solidFill>
                  <a:srgbClr val="000000"/>
                </a:solidFill>
                <a:latin typeface="Noto Sans KR"/>
              </a:rPr>
              <a:t>. RAW</a:t>
            </a:r>
            <a:r>
              <a:rPr b="0" lang="ko-KR" sz="2000" spc="-1" strike="noStrike">
                <a:solidFill>
                  <a:srgbClr val="000000"/>
                </a:solidFill>
                <a:latin typeface="Noto Sans KR"/>
              </a:rPr>
              <a:t>를 다시 확인해 의미 있는 문자열을 보존하도록 수정하고</a:t>
            </a:r>
            <a:r>
              <a:rPr b="0" lang="en-US" sz="2000" spc="-1" strike="noStrike">
                <a:solidFill>
                  <a:srgbClr val="000000"/>
                </a:solidFill>
                <a:latin typeface="Noto Sans KR"/>
              </a:rPr>
              <a:t>, </a:t>
            </a:r>
            <a:r>
              <a:rPr b="0" lang="ko-KR" sz="2000" spc="-1" strike="noStrike">
                <a:solidFill>
                  <a:srgbClr val="000000"/>
                </a:solidFill>
                <a:latin typeface="Noto Sans KR"/>
              </a:rPr>
              <a:t>이후 </a:t>
            </a:r>
            <a:r>
              <a:rPr b="0" lang="en-US" sz="2000" spc="-1" strike="noStrike">
                <a:solidFill>
                  <a:srgbClr val="000000"/>
                </a:solidFill>
                <a:latin typeface="Noto Sans KR"/>
              </a:rPr>
              <a:t>NULL </a:t>
            </a:r>
            <a:r>
              <a:rPr b="0" lang="ko-KR" sz="2000" spc="-1" strike="noStrike">
                <a:solidFill>
                  <a:srgbClr val="000000"/>
                </a:solidFill>
                <a:latin typeface="Noto Sans KR"/>
              </a:rPr>
              <a:t>변화와 컬럼 상태 변화를 추적하도록 </a:t>
            </a:r>
            <a:r>
              <a:rPr b="0" lang="en-US" sz="2000" spc="-1" strike="noStrike">
                <a:solidFill>
                  <a:srgbClr val="000000"/>
                </a:solidFill>
                <a:latin typeface="Noto Sans KR"/>
              </a:rPr>
              <a:t>DQ</a:t>
            </a:r>
            <a:r>
              <a:rPr b="0" lang="ko-KR" sz="2000" spc="-1" strike="noStrike">
                <a:solidFill>
                  <a:srgbClr val="000000"/>
                </a:solidFill>
                <a:latin typeface="Noto Sans KR"/>
              </a:rPr>
              <a:t>를 보완했습니다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42"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54F7A56-759B-406E-AC4E-61785BD57130}"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멘트] “앞에서 설명한 처리가 실제로 동작하는지 보여드립니다.”
같은 기기 한 건을 원본과 정제 결과에서 비교했습니다. 비어 있던 공휴일 운영시간은 NULL로 바뀌었고, 문자열이던 위도·경도는 숫자형으로 저장됩니다. 우편번호 '030'처럼 앞자리 0이 의미 있는 값은 숫자로 바꾸지 않고 문자열로 유지합니다. 나머지 값은 원본 그대로 보존됩니다.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AED 원본 63,863행에 팀의 정제·DQ 코드를 그대로 실행한 결과입니다. 좌표가 모두 대한민국 범위 안이라 제거된 행은 0건이고, 행 추적과 행 수 대조 모두 PASS로 DQ 결과는 CHECK_PASSED입니다. 빈 문자열 120,661셀은 NULL로 정규화했고, 자료형 변환 과정에서 새로 사라진 값은 0건입니다. 위도·경도는 문자열에서 숫자형으로 바뀌었고 값 범위도 한반도 안에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정상 실행에서는 행 추적과 행 수 대조가 모두 PASS로 CHECK_PASSED가 남고, Selenium 수집은 6개 다운로드·6개 RAW 적재로 끝났습니다.
실패 상황은 일부러 만든 테스트 입력으로 재현했습니다. 좌표 컬럼이 빠지면 정제를 멈추고 PROCESSED에 적재하지 않습니다. 정제 결과가 0건이면 빈 데이터로 덮어쓰지 않고 기존 processed를 그대로 유지합니다. 실패해도 서비스 데이터가 망가지지 않는다는 것을 로그로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정제된 processed 데이터의 실제 모습입니다. 시도·시군구 표기가 통일되고 위도·경도가 숫자형으로 저장됩니다(개인 연락처 컬럼은 화면에서 제외). 아래는 Selenium 수집 실행 로그(6개 다운로드, 6개 RAW 테이블 적재)와 스케줄 등록 데이터셋 수입니다. 오른쪽 다음 단계로 개선할 점을 정리하고 서비스 시연으로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sldImg"/>
          </p:nvPr>
        </p:nvSpPr>
        <p:spPr>
          <a:xfrm>
            <a:off x="685800" y="1143000"/>
            <a:ext cx="5486040" cy="3085920"/>
          </a:xfrm>
          <a:prstGeom prst="rect">
            <a:avLst/>
          </a:prstGeom>
          <a:ln w="0">
            <a:noFill/>
          </a:ln>
        </p:spPr>
      </p:sp>
      <p:sp>
        <p:nvSpPr>
          <p:cNvPr id="6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[핵심 멘트] “이 데이터가 사용자 경험으로 이어집니다.”</a:t>
            </a:r>
            <a:endParaRPr b="0" lang="en-US" sz="2000" spc="-1" strike="noStrike">
              <a:solidFill>
                <a:srgbClr val="000000"/>
              </a:solidFill>
              <a:latin typeface="Noto Sans KR"/>
            </a:endParaRPr>
          </a:p>
          <a:p>
            <a:pPr marL="216000" indent="0">
              <a:lnSpc>
                <a:spcPct val="100000"/>
              </a:lnSpc>
              <a:buNone/>
            </a:pPr>
            <a:r>
              <a:rPr b="0" lang="ko-KR" sz="2000" spc="-1" strike="noStrike">
                <a:solidFill>
                  <a:srgbClr val="000000"/>
                </a:solidFill>
                <a:latin typeface="Noto Sans KR"/>
              </a:rPr>
              <a:t>처음 보여준 운동방으로 돌아옵니다</a:t>
            </a:r>
            <a:r>
              <a:rPr b="0" lang="en-US" sz="2000" spc="-1" strike="noStrike">
                <a:solidFill>
                  <a:srgbClr val="000000"/>
                </a:solidFill>
                <a:latin typeface="Noto Sans KR"/>
              </a:rPr>
              <a:t>. ① </a:t>
            </a:r>
            <a:r>
              <a:rPr b="0" lang="ko-KR" sz="2000" spc="-1" strike="noStrike">
                <a:solidFill>
                  <a:srgbClr val="000000"/>
                </a:solidFill>
                <a:latin typeface="Noto Sans KR"/>
              </a:rPr>
              <a:t>운동방 → ② 지역</a:t>
            </a:r>
            <a:r>
              <a:rPr b="0" lang="en-US" sz="2000" spc="-1" strike="noStrike">
                <a:solidFill>
                  <a:srgbClr val="000000"/>
                </a:solidFill>
                <a:latin typeface="Noto Sans KR"/>
              </a:rPr>
              <a:t>·</a:t>
            </a:r>
            <a:r>
              <a:rPr b="0" lang="ko-KR" sz="2000" spc="-1" strike="noStrike">
                <a:solidFill>
                  <a:srgbClr val="000000"/>
                </a:solidFill>
                <a:latin typeface="Noto Sans KR"/>
              </a:rPr>
              <a:t>운동 종목</a:t>
            </a:r>
            <a:r>
              <a:rPr b="0" lang="en-US" sz="2000" spc="-1" strike="noStrike">
                <a:solidFill>
                  <a:srgbClr val="000000"/>
                </a:solidFill>
                <a:latin typeface="Noto Sans KR"/>
              </a:rPr>
              <a:t>·</a:t>
            </a:r>
            <a:r>
              <a:rPr b="0" lang="ko-KR" sz="2000" spc="-1" strike="noStrike">
                <a:solidFill>
                  <a:srgbClr val="000000"/>
                </a:solidFill>
                <a:latin typeface="Noto Sans KR"/>
              </a:rPr>
              <a:t>이동시간 입력 → ③ 추천 결과에서 거리와 환경 조건이 추천 이유로 나타나는지 확인 → ④ 운동 기록 후 보상</a:t>
            </a:r>
            <a:r>
              <a:rPr b="0" lang="en-US" sz="2000" spc="-1" strike="noStrike">
                <a:solidFill>
                  <a:srgbClr val="000000"/>
                </a:solidFill>
                <a:latin typeface="Noto Sans KR"/>
              </a:rPr>
              <a:t>·</a:t>
            </a:r>
            <a:r>
              <a:rPr b="0" lang="ko-KR" sz="2000" spc="-1" strike="noStrike">
                <a:solidFill>
                  <a:srgbClr val="000000"/>
                </a:solidFill>
                <a:latin typeface="Noto Sans KR"/>
              </a:rPr>
              <a:t>운동방 변화 → ⑤ 친구 방문으로 마무리</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48"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7166A73-D8AE-4491-8C04-33C156EE9217}"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685800" y="1143000"/>
            <a:ext cx="5486040" cy="3085920"/>
          </a:xfrm>
          <a:prstGeom prst="rect">
            <a:avLst/>
          </a:prstGeom>
          <a:ln w="0">
            <a:noFill/>
          </a:ln>
        </p:spPr>
      </p:sp>
      <p:sp>
        <p:nvSpPr>
          <p:cNvPr id="6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ko-KR" sz="2000" spc="-1" strike="noStrike">
                <a:solidFill>
                  <a:srgbClr val="000000"/>
                </a:solidFill>
                <a:latin typeface="Noto Sans KR"/>
              </a:rPr>
              <a:t>예전에는 내 방을 꾸미려고 접속했다면</a:t>
            </a:r>
            <a:r>
              <a:rPr b="0" lang="en-US" sz="2000" spc="-1" strike="noStrike">
                <a:solidFill>
                  <a:srgbClr val="000000"/>
                </a:solidFill>
                <a:latin typeface="Noto Sans KR"/>
              </a:rPr>
              <a:t>, </a:t>
            </a:r>
            <a:r>
              <a:rPr b="0" lang="ko-KR" sz="2000" spc="-1" strike="noStrike">
                <a:solidFill>
                  <a:srgbClr val="000000"/>
                </a:solidFill>
                <a:latin typeface="Noto Sans KR"/>
              </a:rPr>
              <a:t>이제는 운동으로 내 방을 채우는 경험을 만들고 싶었습니다</a:t>
            </a:r>
            <a:r>
              <a:rPr b="0" lang="en-US" sz="2000" spc="-1" strike="noStrike">
                <a:solidFill>
                  <a:srgbClr val="000000"/>
                </a:solidFill>
                <a:latin typeface="Noto Sans KR"/>
              </a:rPr>
              <a:t>. </a:t>
            </a:r>
            <a:r>
              <a:rPr b="0" lang="ko-KR" sz="2000" spc="-1" strike="noStrike">
                <a:solidFill>
                  <a:srgbClr val="000000"/>
                </a:solidFill>
                <a:latin typeface="Noto Sans KR"/>
              </a:rPr>
              <a:t>감사합니다</a:t>
            </a:r>
            <a:r>
              <a:rPr b="0" lang="en-US" sz="2000" spc="-1" strike="noStrike">
                <a:solidFill>
                  <a:srgbClr val="000000"/>
                </a:solidFill>
                <a:latin typeface="Noto Sans KR"/>
              </a:rPr>
              <a:t>.</a:t>
            </a:r>
            <a:endParaRPr b="0" lang="en-US" sz="2000" spc="-1" strike="noStrike">
              <a:solidFill>
                <a:srgbClr val="000000"/>
              </a:solidFill>
              <a:latin typeface="Noto Sans KR"/>
            </a:endParaRPr>
          </a:p>
        </p:txBody>
      </p:sp>
      <p:sp>
        <p:nvSpPr>
          <p:cNvPr id="651"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E7EECF2-1E4C-47AC-B2E8-F40B447FF9E0}" type="slidenum">
              <a:rPr b="0" lang="en-US" sz="1200" spc="-1" strike="noStrike">
                <a:solidFill>
                  <a:schemeClr val="dk1"/>
                </a:solidFill>
                <a:latin typeface="+mn-lt"/>
                <a:ea typeface="+mn-ea"/>
              </a:rPr>
              <a:t>&lt;숫자&gt;</a:t>
            </a:fld>
            <a:endParaRPr b="0" lang="en-US" sz="1200" spc="-1" strike="noStrike">
              <a:solidFill>
                <a:srgbClr val="000000"/>
              </a:solidFill>
              <a:latin typeface="Noto Serif KR"/>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ko-KR" sz="1800" spc="-1" strike="noStrike">
                <a:solidFill>
                  <a:schemeClr val="dk1"/>
                </a:solidFill>
                <a:latin typeface="Calibri"/>
              </a:rPr>
              <a:t>제목 텍스트의 서식을 편집하려면 클릭하십시오</a:t>
            </a:r>
            <a:r>
              <a:rPr b="0" lang="en-US" sz="1800" spc="-1" strike="noStrike">
                <a:solidFill>
                  <a:schemeClr val="dk1"/>
                </a:solidFill>
                <a:latin typeface="Calibri"/>
              </a:rPr>
              <a:t>.</a:t>
            </a:r>
            <a:endParaRPr b="0" lang="en-US"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ko-KR" sz="3200" spc="-1" strike="noStrike">
                <a:solidFill>
                  <a:schemeClr val="dk1"/>
                </a:solidFill>
                <a:latin typeface="Calibri"/>
              </a:rPr>
              <a:t>개요 텍스트의 서식을 편집하려면 클릭하십시오</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2</a:t>
            </a:r>
            <a:r>
              <a:rPr b="0" lang="ko-KR" sz="2400" spc="-1" strike="noStrike">
                <a:solidFill>
                  <a:schemeClr val="dk1"/>
                </a:solidFill>
                <a:latin typeface="Calibri"/>
              </a:rPr>
              <a:t>번째 개요 수준</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3</a:t>
            </a:r>
            <a:r>
              <a:rPr b="0" lang="ko-KR" sz="2000" spc="-1" strike="noStrike">
                <a:solidFill>
                  <a:schemeClr val="dk1"/>
                </a:solidFill>
                <a:latin typeface="Calibri"/>
              </a:rPr>
              <a:t>번째 개요 수준</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4</a:t>
            </a:r>
            <a:r>
              <a:rPr b="0" lang="ko-KR" sz="2000" spc="-1" strike="noStrike">
                <a:solidFill>
                  <a:schemeClr val="dk1"/>
                </a:solidFill>
                <a:latin typeface="Calibri"/>
              </a:rPr>
              <a:t>번째 개요 수준</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5</a:t>
            </a:r>
            <a:r>
              <a:rPr b="0" lang="ko-KR" sz="2000" spc="-1" strike="noStrike">
                <a:solidFill>
                  <a:schemeClr val="dk1"/>
                </a:solidFill>
                <a:latin typeface="Calibri"/>
              </a:rPr>
              <a:t>번째 개요 수준</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6</a:t>
            </a:r>
            <a:r>
              <a:rPr b="0" lang="ko-KR" sz="2000" spc="-1" strike="noStrike">
                <a:solidFill>
                  <a:schemeClr val="dk1"/>
                </a:solidFill>
                <a:latin typeface="Calibri"/>
              </a:rPr>
              <a:t>번째 개요 수준</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7</a:t>
            </a:r>
            <a:r>
              <a:rPr b="0" lang="ko-KR" sz="2000" spc="-1" strike="noStrike">
                <a:solidFill>
                  <a:schemeClr val="dk1"/>
                </a:solidFill>
                <a:latin typeface="Calibri"/>
              </a:rPr>
              <a:t>번째 개요 수준</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Relationship Id="rId3" Type="http://schemas.openxmlformats.org/officeDocument/2006/relationships/notesSlide" Target="../notesSlides/notesSlide1.xml"></Relationship><Relationship Id="rId4" Type="http://schemas.openxmlformats.org/officeDocument/2006/relationships/slideLayout" Target="../slideLayouts/slideLayout1.xml"></Relationship></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Relationship Id="rId2" Type="http://schemas.openxmlformats.org/officeDocument/2006/relationships/notesSlide" Target="../notesSlides/notesSlide2.xml"></Relationship></Relationships>
</file>

<file path=ppt/slides/_rels/slide3.xml.rels><?xml version="1.0" encoding="UTF-8"?>
<Relationships xmlns="http://schemas.openxmlformats.org/package/2006/relationships"><Relationship Id="rId1" Type="http://schemas.openxmlformats.org/officeDocument/2006/relationships/image" Target="../media/image1.jpeg"></Relationship><Relationship Id="rId2" Type="http://schemas.openxmlformats.org/officeDocument/2006/relationships/image" Target="../media/image2.png"></Relationship><Relationship Id="rId3" Type="http://schemas.openxmlformats.org/officeDocument/2006/relationships/image" Target="../media/image3.png"></Relationship><Relationship Id="rId4" Type="http://schemas.openxmlformats.org/officeDocument/2006/relationships/image" Target="../media/image4.png"></Relationship><Relationship Id="rId6" Type="http://schemas.openxmlformats.org/officeDocument/2006/relationships/notesSlide" Target="../notesSlides/notesSlide3.xml"></Relationship><Relationship Id="rId7" Type="http://schemas.openxmlformats.org/officeDocument/2006/relationships/slideLayout" Target="../slideLayouts/slideLayout1.xml"></Relationship></Relationships>
</file>

<file path=ppt/slides/_rels/slide4.xml.rels><?xml version="1.0" encoding="UTF-8"?>
<Relationships xmlns="http://schemas.openxmlformats.org/package/2006/relationships"><Relationship Id="rId1" Type="http://schemas.openxmlformats.org/officeDocument/2006/relationships/chart" Target="../charts/chart1.xml"></Relationship><Relationship Id="rId3" Type="http://schemas.openxmlformats.org/officeDocument/2006/relationships/notesSlide" Target="../notesSlides/notesSlide4.xml"></Relationship><Relationship Id="rId4" Type="http://schemas.openxmlformats.org/officeDocument/2006/relationships/slideLayout" Target="../slideLayouts/slideLayout1.xml"></Relationship></Relationships>
</file>

<file path=ppt/slides/_rels/slide5.xml.rels><?xml version="1.0" encoding="UTF-8"?>
<Relationships xmlns="http://schemas.openxmlformats.org/package/2006/relationships"><Relationship Id="rId1" Type="http://schemas.openxmlformats.org/officeDocument/2006/relationships/image" Target="../media/image5.png"></Relationship><Relationship Id="rId2" Type="http://schemas.openxmlformats.org/officeDocument/2006/relationships/image" Target="../media/image6.png"></Relationship><Relationship Id="rId3" Type="http://schemas.openxmlformats.org/officeDocument/2006/relationships/image" Target="../media/image7.png"></Relationship><Relationship Id="rId4" Type="http://schemas.openxmlformats.org/officeDocument/2006/relationships/image" Target="../media/image8.png"></Relationship><Relationship Id="rId6" Type="http://schemas.openxmlformats.org/officeDocument/2006/relationships/notesSlide" Target="../notesSlides/notesSlide5.xml"></Relationship><Relationship Id="rId7" Type="http://schemas.openxmlformats.org/officeDocument/2006/relationships/slideLayout" Target="../slideLayouts/slideLayout1.xml"></Relationship></Relationships>
</file>

<file path=ppt/slides/_rels/slide6.xml.rels><?xml version="1.0" encoding="UTF-8"?>
<Relationships xmlns="http://schemas.openxmlformats.org/package/2006/relationships"><Relationship Id="rId1" Type="http://schemas.openxmlformats.org/officeDocument/2006/relationships/image" Target="../media/image9.jpeg"></Relationship><Relationship Id="rId2" Type="http://schemas.openxmlformats.org/officeDocument/2006/relationships/image" Target="../media/image10.jpeg"></Relationship><Relationship Id="rId4" Type="http://schemas.openxmlformats.org/officeDocument/2006/relationships/notesSlide" Target="../notesSlides/notesSlide6.xml"></Relationship><Relationship Id="rId5" Type="http://schemas.openxmlformats.org/officeDocument/2006/relationships/slideLayout" Target="../slideLayouts/slideLayout1.xml"></Relationship></Relationships>
</file>

<file path=ppt/slides/_rels/slide7.xml.rels><?xml version="1.0" encoding="UTF-8"?>
<Relationships xmlns="http://schemas.openxmlformats.org/package/2006/relationships"><Relationship Id="rId1" Type="http://schemas.openxmlformats.org/officeDocument/2006/relationships/image" Target="../media/image11.png"></Relationship><Relationship Id="rId2" Type="http://schemas.openxmlformats.org/officeDocument/2006/relationships/image" Target="../media/image12.png"></Relationship><Relationship Id="rId3" Type="http://schemas.openxmlformats.org/officeDocument/2006/relationships/image" Target="../media/image13.png"></Relationship><Relationship Id="rId5" Type="http://schemas.openxmlformats.org/officeDocument/2006/relationships/notesSlide" Target="../notesSlides/notesSlide7.xml"></Relationship><Relationship Id="rId6" Type="http://schemas.openxmlformats.org/officeDocument/2006/relationships/slideLayout" Target="../slideLayouts/slideLayout1.xml"></Relationship></Relationships>
</file>

<file path=ppt/slides/_rels/slide8.xml.rels><?xml version="1.0" encoding="UTF-8"?>
<Relationships xmlns="http://schemas.openxmlformats.org/package/2006/relationships"><Relationship Id="rId1" Type="http://schemas.openxmlformats.org/officeDocument/2006/relationships/image" Target="../media/image11.png"></Relationship><Relationship Id="rId2" Type="http://schemas.openxmlformats.org/officeDocument/2006/relationships/image" Target="../media/image14.png"></Relationship><Relationship Id="rId3" Type="http://schemas.openxmlformats.org/officeDocument/2006/relationships/image" Target="../media/image15.png"></Relationship><Relationship Id="rId4" Type="http://schemas.openxmlformats.org/officeDocument/2006/relationships/image" Target="../media/image12.png"></Relationship><Relationship Id="rId5" Type="http://schemas.openxmlformats.org/officeDocument/2006/relationships/image" Target="../media/image16.png"></Relationship><Relationship Id="rId7" Type="http://schemas.openxmlformats.org/officeDocument/2006/relationships/notesSlide" Target="../notesSlides/notesSlide8.xml"></Relationship><Relationship Id="rId8" Type="http://schemas.openxmlformats.org/officeDocument/2006/relationships/slideLayout" Target="../slideLayouts/slideLayout1.xml"></Relationship></Relationships>
</file>

<file path=ppt/slides/_rels/slide9.xml.rels><?xml version="1.0" encoding="UTF-8"?>
<Relationships xmlns="http://schemas.openxmlformats.org/package/2006/relationships"><Relationship Id="rId1" Type="http://schemas.openxmlformats.org/officeDocument/2006/relationships/image" Target="../media/image17.png"></Relationship><Relationship Id="rId2" Type="http://schemas.openxmlformats.org/officeDocument/2006/relationships/image" Target="../media/image18.png"></Relationship><Relationship Id="rId4" Type="http://schemas.openxmlformats.org/officeDocument/2006/relationships/notesSlide" Target="../notesSlides/notesSlide9.xml"></Relationship><Relationship Id="rId5" Type="http://schemas.openxmlformats.org/officeDocument/2006/relationships/slideLayout" Target="../slideLayouts/slideLayout1.xml"></Relationship></Relationships>
</file>

<file path=ppt/slides/_rels/slide10.xml.rels><?xml version="1.0" encoding="UTF-8"?>
<Relationships xmlns="http://schemas.openxmlformats.org/package/2006/relationships"><Relationship Id="rId2" Type="http://schemas.openxmlformats.org/officeDocument/2006/relationships/notesSlide" Target="../notesSlides/notesSlide10.xml"></Relationship><Relationship Id="rId3" Type="http://schemas.openxmlformats.org/officeDocument/2006/relationships/slideLayout" Target="../slideLayouts/slideLayout1.xml"></Relationship></Relationships>
</file>

<file path=ppt/slides/_rels/slide11.xml.rels><?xml version="1.0" encoding="UTF-8"?>
<Relationships xmlns="http://schemas.openxmlformats.org/package/2006/relationships"><Relationship Id="rId2" Type="http://schemas.openxmlformats.org/officeDocument/2006/relationships/notesSlide" Target="../notesSlides/notesSlide11.xml"></Relationship><Relationship Id="rId3" Type="http://schemas.openxmlformats.org/officeDocument/2006/relationships/slideLayout" Target="../slideLayouts/slideLayout1.xml"></Relationship></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Relationship Id="rId2" Type="http://schemas.openxmlformats.org/officeDocument/2006/relationships/notesSlide" Target="../notesSlides/notesSlide12.xml"></Relationship></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Relationship Id="rId2" Type="http://schemas.openxmlformats.org/officeDocument/2006/relationships/notesSlide" Target="../notesSlides/notesSlide13.xml"></Relationship></Relationships>
</file>

<file path=ppt/slides/_rels/slide14.xml.rels><?xml version="1.0" encoding="UTF-8"?>
<Relationships xmlns="http://schemas.openxmlformats.org/package/2006/relationships"><Relationship Id="rId1" Type="http://schemas.openxmlformats.org/officeDocument/2006/relationships/image" Target="../media/patch_12_image-3-1.png"></Relationship><Relationship Id="rId2" Type="http://schemas.openxmlformats.org/officeDocument/2006/relationships/image" Target="../media/patch_12_image-3-2.png"></Relationship><Relationship Id="rId3" Type="http://schemas.openxmlformats.org/officeDocument/2006/relationships/slideLayout" Target="../slideLayouts/slideLayout1.xml"></Relationship><Relationship Id="rId4" Type="http://schemas.openxmlformats.org/officeDocument/2006/relationships/notesSlide" Target="../notesSlides/notesSlide14.xml"></Relationship></Relationships>
</file>

<file path=ppt/slides/_rels/slide15.xml.rels><?xml version="1.0" encoding="UTF-8"?>
<Relationships xmlns="http://schemas.openxmlformats.org/package/2006/relationships"><Relationship Id="rId1" Type="http://schemas.openxmlformats.org/officeDocument/2006/relationships/image" Target="../media/image19.jpeg"></Relationship><Relationship Id="rId3" Type="http://schemas.openxmlformats.org/officeDocument/2006/relationships/notesSlide" Target="../notesSlides/notesSlide15.xml"></Relationship><Relationship Id="rId4" Type="http://schemas.openxmlformats.org/officeDocument/2006/relationships/slideLayout" Target="../slideLayouts/slideLayout1.xml"></Relationship></Relationships>
</file>

<file path=ppt/slides/_rels/slide16.xml.rels><?xml version="1.0" encoding="UTF-8"?>
<Relationships xmlns="http://schemas.openxmlformats.org/package/2006/relationships"><Relationship Id="rId2" Type="http://schemas.openxmlformats.org/officeDocument/2006/relationships/notesSlide" Target="../notesSlides/notesSlide16.xml"></Relationship><Relationship Id="rId3" Type="http://schemas.openxmlformats.org/officeDocument/2006/relationships/slideLayout" Target="../slideLayouts/slideLayout1.xml"></Relationship></Relationships>
</file>

<file path=ppt/slides/_rels/slide17.xml.rels><?xml version="1.0" encoding="UTF-8"?>
<Relationships xmlns="http://schemas.openxmlformats.org/package/2006/relationships"><Relationship Id="rId1" Type="http://schemas.openxmlformats.org/officeDocument/2006/relationships/image" Target="../media/patch_19_image-2-1.png"></Relationship><Relationship Id="rId2" Type="http://schemas.openxmlformats.org/officeDocument/2006/relationships/image" Target="../media/patch_19_image-2-2.png"></Relationship><Relationship Id="rId3" Type="http://schemas.openxmlformats.org/officeDocument/2006/relationships/image" Target="../media/patch_19_image-2-3.png"></Relationship><Relationship Id="rId4" Type="http://schemas.openxmlformats.org/officeDocument/2006/relationships/image" Target="../media/patch_19_image-2-4.png"></Relationship><Relationship Id="rId5" Type="http://schemas.openxmlformats.org/officeDocument/2006/relationships/image" Target="../media/patch_19_image-2-5.png"></Relationship><Relationship Id="rId6" Type="http://schemas.openxmlformats.org/officeDocument/2006/relationships/image" Target="../media/patch_19_image-2-6.png"></Relationship><Relationship Id="rId8" Type="http://schemas.openxmlformats.org/officeDocument/2006/relationships/notesSlide" Target="../notesSlides/notesSlide17.xml"></Relationship><Relationship Id="rId9" Type="http://schemas.openxmlformats.org/officeDocument/2006/relationships/slideLayout" Target="../slideLayouts/slideLayout1.xml"></Relationship></Relationships>
</file>

<file path=ppt/slides/_rels/slide18.xml.rels><?xml version="1.0" encoding="UTF-8"?>
<Relationships xmlns="http://schemas.openxmlformats.org/package/2006/relationships"><Relationship Id="rId2" Type="http://schemas.openxmlformats.org/officeDocument/2006/relationships/notesSlide" Target="../notesSlides/notesSlide18.xml"></Relationship><Relationship Id="rId3" Type="http://schemas.openxmlformats.org/officeDocument/2006/relationships/slideLayout" Target="../slideLayouts/slideLayout1.xml"></Relationship></Relationships>
</file>

<file path=ppt/slides/_rels/slide19.xml.rels><?xml version="1.0" encoding="UTF-8"?>
<Relationships xmlns="http://schemas.openxmlformats.org/package/2006/relationships"><Relationship Id="rId1" Type="http://schemas.openxmlformats.org/officeDocument/2006/relationships/image" Target="../media/patch_21_image-4-1.png"></Relationship><Relationship Id="rId2" Type="http://schemas.openxmlformats.org/officeDocument/2006/relationships/image" Target="../media/patch_21_image-4-2.png"></Relationship><Relationship Id="rId3" Type="http://schemas.openxmlformats.org/officeDocument/2006/relationships/image" Target="../media/patch_21_image-4-3.png"></Relationship><Relationship Id="rId5" Type="http://schemas.openxmlformats.org/officeDocument/2006/relationships/notesSlide" Target="../notesSlides/notesSlide19.xml"></Relationship><Relationship Id="rId6" Type="http://schemas.openxmlformats.org/officeDocument/2006/relationships/slideLayout" Target="../slideLayouts/slideLayout1.xml"></Relationship></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Relationship Id="rId2" Type="http://schemas.openxmlformats.org/officeDocument/2006/relationships/notesSlide" Target="../notesSlides/notesSlide20.xml"></Relationship></Relationships>
</file>

<file path=ppt/slides/_rels/slide21.xml.rels><?xml version="1.0" encoding="UTF-8"?>
<Relationships xmlns="http://schemas.openxmlformats.org/package/2006/relationships"><Relationship Id="rId2" Type="http://schemas.openxmlformats.org/officeDocument/2006/relationships/notesSlide" Target="../notesSlides/notesSlide21.xml"></Relationship><Relationship Id="rId3" Type="http://schemas.openxmlformats.org/officeDocument/2006/relationships/slideLayout" Target="../slideLayouts/slideLayout1.xml"></Relationship></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Relationship Id="rId2" Type="http://schemas.openxmlformats.org/officeDocument/2006/relationships/notesSlide" Target="../notesSlides/notesSlide22.xml"></Relationship></Relationships>
</file>

<file path=ppt/slides/_rels/slide23.xml.rels><?xml version="1.0" encoding="UTF-8"?>
<Relationships xmlns="http://schemas.openxmlformats.org/package/2006/relationships"><Relationship Id="rId2" Type="http://schemas.openxmlformats.org/officeDocument/2006/relationships/notesSlide" Target="../notesSlides/notesSlide23.xml"></Relationship><Relationship Id="rId3" Type="http://schemas.openxmlformats.org/officeDocument/2006/relationships/slideLayout" Target="../slideLayouts/slideLayout1.xml"></Relationship></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Relationship Id="rId2" Type="http://schemas.openxmlformats.org/officeDocument/2006/relationships/notesSlide" Target="../notesSlides/notesSlide24.xml"></Relationship></Relationships>
</file>

<file path=ppt/slides/_rels/slide25.xml.rels><?xml version="1.0" encoding="UTF-8"?>
<Relationships xmlns="http://schemas.openxmlformats.org/package/2006/relationships"><Relationship Id="rId2" Type="http://schemas.openxmlformats.org/officeDocument/2006/relationships/notesSlide" Target="../notesSlides/notesSlide25.xml"></Relationship><Relationship Id="rId3" Type="http://schemas.openxmlformats.org/officeDocument/2006/relationships/slideLayout" Target="../slideLayouts/slideLayout1.xml"></Relationship></Relationships>
</file>

<file path=ppt/slides/_rels/slide26.xml.rels><?xml version="1.0" encoding="UTF-8"?>
<Relationships xmlns="http://schemas.openxmlformats.org/package/2006/relationships"><Relationship Id="rId1" Type="http://schemas.openxmlformats.org/officeDocument/2006/relationships/image" Target="../media/image30.jpeg"></Relationship><Relationship Id="rId2" Type="http://schemas.openxmlformats.org/officeDocument/2006/relationships/image" Target="../media/image31.jpeg"></Relationship><Relationship Id="rId3" Type="http://schemas.openxmlformats.org/officeDocument/2006/relationships/image" Target="../media/image32.jpeg"></Relationship><Relationship Id="rId4" Type="http://schemas.openxmlformats.org/officeDocument/2006/relationships/image" Target="../media/image33.jpeg"></Relationship><Relationship Id="rId5" Type="http://schemas.openxmlformats.org/officeDocument/2006/relationships/image" Target="../media/image34.jpeg"></Relationship><Relationship Id="rId7" Type="http://schemas.openxmlformats.org/officeDocument/2006/relationships/notesSlide" Target="../notesSlides/notesSlide26.xml"></Relationship><Relationship Id="rId8" Type="http://schemas.openxmlformats.org/officeDocument/2006/relationships/slideLayout" Target="../slideLayouts/slideLayout1.xml"></Relationship></Relationships>
</file>

<file path=ppt/slides/_rels/slide27.xml.rels><?xml version="1.0" encoding="UTF-8"?>
<Relationships xmlns="http://schemas.openxmlformats.org/package/2006/relationships"><Relationship Id="rId1" Type="http://schemas.openxmlformats.org/officeDocument/2006/relationships/image" Target="../media/image9.jpeg"></Relationship><Relationship Id="rId4" Type="http://schemas.openxmlformats.org/officeDocument/2006/relationships/notesSlide" Target="../notesSlides/notesSlide27.xml"></Relationship><Relationship Id="rId5" Type="http://schemas.openxmlformats.org/officeDocument/2006/relationships/image" Target="../media/fImage1342766105441.png"></Relationship><Relationship Id="rId6" Type="http://schemas.openxmlformats.org/officeDocument/2006/relationships/slideLayout" Target="../slideLayouts/slideLayout1.xml"></Relationship></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3B2F"/>
        </a:solidFill>
      </p:bgPr>
    </p:bg>
    <p:spTree>
      <p:nvGrpSpPr>
        <p:cNvPr id="1" name=""/>
        <p:cNvGrpSpPr/>
        <p:nvPr/>
      </p:nvGrpSpPr>
      <p:grpSpPr>
        <a:xfrm>
          <a:off x="0" y="0"/>
          <a:ext cx="0" cy="0"/>
          <a:chOff x="0" y="0"/>
          <a:chExt cx="0" cy="0"/>
        </a:xfrm>
      </p:grpSpPr>
      <p:sp>
        <p:nvSpPr>
          <p:cNvPr id="8" name="Text 0"/>
          <p:cNvSpPr/>
          <p:nvPr/>
        </p:nvSpPr>
        <p:spPr>
          <a:xfrm>
            <a:off x="640080" y="731520"/>
            <a:ext cx="5668645" cy="3651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99" strike="noStrike">
                <a:solidFill>
                  <a:srgbClr val="d9a441"/>
                </a:solidFill>
                <a:latin typeface="Malgun Gothic"/>
                <a:ea typeface="Malgun Gothic"/>
              </a:rPr>
              <a:t>MOTIVE  ·  </a:t>
            </a:r>
            <a:r>
              <a:rPr b="1" lang="ko-KR" sz="1400" spc="199" strike="noStrike">
                <a:solidFill>
                  <a:srgbClr val="d9a441"/>
                </a:solidFill>
                <a:latin typeface="Malgun Gothic"/>
                <a:ea typeface="Malgun Gothic"/>
              </a:rPr>
              <a:t>공공데이터 기반 운동 장소 추천 서비스</a:t>
            </a:r>
            <a:endParaRPr b="0" lang="en-US" sz="1400" spc="-1" strike="noStrike">
              <a:solidFill>
                <a:srgbClr val="ffffff"/>
              </a:solidFill>
              <a:latin typeface="Noto Sans KR"/>
            </a:endParaRPr>
          </a:p>
        </p:txBody>
      </p:sp>
      <p:sp>
        <p:nvSpPr>
          <p:cNvPr id="9" name="Text 1"/>
          <p:cNvSpPr/>
          <p:nvPr/>
        </p:nvSpPr>
        <p:spPr>
          <a:xfrm>
            <a:off x="640080" y="1188720"/>
            <a:ext cx="5668645" cy="13252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8000" spc="-1" strike="noStrike">
                <a:solidFill>
                  <a:srgbClr val="f7f1e6"/>
                </a:solidFill>
                <a:latin typeface="Malgun Gothic"/>
                <a:ea typeface="Malgun Gothic"/>
              </a:rPr>
              <a:t>우심운까</a:t>
            </a:r>
            <a:endParaRPr b="0" lang="en-US" sz="8000" spc="-1" strike="noStrike">
              <a:solidFill>
                <a:srgbClr val="ffffff"/>
              </a:solidFill>
              <a:latin typeface="Noto Sans KR"/>
            </a:endParaRPr>
          </a:p>
        </p:txBody>
      </p:sp>
      <p:sp>
        <p:nvSpPr>
          <p:cNvPr id="10" name="Text 2"/>
          <p:cNvSpPr/>
          <p:nvPr/>
        </p:nvSpPr>
        <p:spPr>
          <a:xfrm>
            <a:off x="640080" y="2514600"/>
            <a:ext cx="5668645" cy="50228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400" spc="-1" strike="noStrike">
                <a:solidFill>
                  <a:srgbClr val="f2b8a2"/>
                </a:solidFill>
                <a:latin typeface="Malgun Gothic"/>
                <a:ea typeface="Malgun Gothic"/>
              </a:rPr>
              <a:t>우리 심심한데 운동이나 할까</a:t>
            </a:r>
            <a:r>
              <a:rPr b="1" lang="en-US" sz="2400" spc="-1" strike="noStrike">
                <a:solidFill>
                  <a:srgbClr val="f2b8a2"/>
                </a:solidFill>
                <a:latin typeface="Malgun Gothic"/>
                <a:ea typeface="Malgun Gothic"/>
              </a:rPr>
              <a:t>?</a:t>
            </a:r>
            <a:endParaRPr b="0" lang="en-US" sz="2400" spc="-1" strike="noStrike">
              <a:solidFill>
                <a:srgbClr val="ffffff"/>
              </a:solidFill>
              <a:latin typeface="Noto Sans KR"/>
            </a:endParaRPr>
          </a:p>
        </p:txBody>
      </p:sp>
      <p:sp>
        <p:nvSpPr>
          <p:cNvPr id="11" name="Text 3"/>
          <p:cNvSpPr/>
          <p:nvPr/>
        </p:nvSpPr>
        <p:spPr>
          <a:xfrm>
            <a:off x="640080" y="3429000"/>
            <a:ext cx="5668645" cy="1096645"/>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ko-KR" sz="2600" spc="-1" strike="noStrike">
                <a:solidFill>
                  <a:srgbClr val="f7f1e6"/>
                </a:solidFill>
                <a:latin typeface="Malgun Gothic"/>
                <a:ea typeface="Malgun Gothic"/>
              </a:rPr>
              <a:t>다시 찾아가고 싶던 나만의 공간을</a:t>
            </a:r>
            <a:r>
              <a:rPr b="1" lang="en-US" sz="2600" spc="-1" strike="noStrike">
                <a:solidFill>
                  <a:srgbClr val="f7f1e6"/>
                </a:solidFill>
                <a:latin typeface="Malgun Gothic"/>
                <a:ea typeface="Malgun Gothic"/>
              </a:rPr>
              <a:t>,</a:t>
            </a:r>
            <a:endParaRPr b="0" lang="en-US" sz="2600" spc="-1" strike="noStrike">
              <a:solidFill>
                <a:srgbClr val="ffffff"/>
              </a:solidFill>
              <a:latin typeface="Noto Sans KR"/>
            </a:endParaRPr>
          </a:p>
          <a:p>
            <a:pPr defTabSz="914400">
              <a:lnSpc>
                <a:spcPct val="115000"/>
              </a:lnSpc>
              <a:tabLst>
                <a:tab algn="l" pos="0"/>
              </a:tabLst>
            </a:pPr>
            <a:r>
              <a:rPr b="1" lang="ko-KR" sz="2600" spc="-1" strike="noStrike">
                <a:solidFill>
                  <a:srgbClr val="d9a441"/>
                </a:solidFill>
                <a:latin typeface="Malgun Gothic"/>
                <a:ea typeface="Malgun Gothic"/>
              </a:rPr>
              <a:t>다시 운동하고 싶은 공간으로</a:t>
            </a:r>
            <a:endParaRPr b="0" lang="en-US" sz="2600" spc="-1" strike="noStrike">
              <a:solidFill>
                <a:srgbClr val="ffffff"/>
              </a:solidFill>
              <a:latin typeface="Noto Sans KR"/>
            </a:endParaRPr>
          </a:p>
        </p:txBody>
      </p:sp>
      <p:sp>
        <p:nvSpPr>
          <p:cNvPr id="12" name="Text 4"/>
          <p:cNvSpPr/>
          <p:nvPr/>
        </p:nvSpPr>
        <p:spPr>
          <a:xfrm>
            <a:off x="640080" y="5715000"/>
            <a:ext cx="566864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b9cfc2"/>
                </a:solidFill>
                <a:latin typeface="Malgun Gothic"/>
                <a:ea typeface="Malgun Gothic"/>
              </a:rPr>
              <a:t>팀 </a:t>
            </a:r>
            <a:r>
              <a:rPr b="1" lang="en-US" sz="1400" spc="-1" strike="noStrike">
                <a:solidFill>
                  <a:srgbClr val="b9cfc2"/>
                </a:solidFill>
                <a:latin typeface="Malgun Gothic"/>
                <a:ea typeface="Malgun Gothic"/>
              </a:rPr>
              <a:t>MOTIVE   </a:t>
            </a:r>
            <a:r>
              <a:rPr b="1" lang="ko-KR" sz="1400" spc="-1" strike="noStrike">
                <a:solidFill>
                  <a:srgbClr val="b9cfc2"/>
                </a:solidFill>
                <a:latin typeface="Malgun Gothic"/>
                <a:ea typeface="Malgun Gothic"/>
              </a:rPr>
              <a:t>신경호 </a:t>
            </a:r>
            <a:r>
              <a:rPr b="1" lang="en-US" sz="1400" spc="-1" strike="noStrike">
                <a:solidFill>
                  <a:srgbClr val="b9cfc2"/>
                </a:solidFill>
                <a:latin typeface="Malgun Gothic"/>
                <a:ea typeface="Malgun Gothic"/>
              </a:rPr>
              <a:t>· </a:t>
            </a:r>
            <a:r>
              <a:rPr b="1" lang="ko-KR" sz="1400" spc="-1" strike="noStrike">
                <a:solidFill>
                  <a:srgbClr val="b9cfc2"/>
                </a:solidFill>
                <a:latin typeface="Malgun Gothic"/>
                <a:ea typeface="Malgun Gothic"/>
              </a:rPr>
              <a:t>류지예 </a:t>
            </a:r>
            <a:r>
              <a:rPr b="1" lang="en-US" sz="1400" spc="-1" strike="noStrike">
                <a:solidFill>
                  <a:srgbClr val="b9cfc2"/>
                </a:solidFill>
                <a:latin typeface="Malgun Gothic"/>
                <a:ea typeface="Malgun Gothic"/>
              </a:rPr>
              <a:t>· </a:t>
            </a:r>
            <a:r>
              <a:rPr b="1" lang="ko-KR" sz="1400" spc="-1" strike="noStrike">
                <a:solidFill>
                  <a:srgbClr val="b9cfc2"/>
                </a:solidFill>
                <a:latin typeface="Malgun Gothic"/>
                <a:ea typeface="Malgun Gothic"/>
              </a:rPr>
              <a:t>백선영 </a:t>
            </a:r>
            <a:r>
              <a:rPr b="1" lang="en-US" sz="1400" spc="-1" strike="noStrike">
                <a:solidFill>
                  <a:srgbClr val="b9cfc2"/>
                </a:solidFill>
                <a:latin typeface="Malgun Gothic"/>
                <a:ea typeface="Malgun Gothic"/>
              </a:rPr>
              <a:t>· </a:t>
            </a:r>
            <a:r>
              <a:rPr b="1" lang="ko-KR" sz="1400" spc="-1" strike="noStrike">
                <a:solidFill>
                  <a:srgbClr val="b9cfc2"/>
                </a:solidFill>
                <a:latin typeface="Malgun Gothic"/>
                <a:ea typeface="Malgun Gothic"/>
              </a:rPr>
              <a:t>김형준</a:t>
            </a:r>
            <a:endParaRPr b="0" lang="en-US" sz="1400" spc="-1" strike="noStrike">
              <a:solidFill>
                <a:srgbClr val="ffffff"/>
              </a:solidFill>
              <a:latin typeface="Noto Sans KR"/>
            </a:endParaRPr>
          </a:p>
        </p:txBody>
      </p:sp>
      <p:sp>
        <p:nvSpPr>
          <p:cNvPr id="13" name="Shape 5"/>
          <p:cNvSpPr/>
          <p:nvPr/>
        </p:nvSpPr>
        <p:spPr>
          <a:xfrm>
            <a:off x="6428105" y="960120"/>
            <a:ext cx="5293995" cy="3286760"/>
          </a:xfrm>
          <a:prstGeom prst="roundRect">
            <a:avLst>
              <a:gd name="adj" fmla="val 3895"/>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4" name="Shape 6"/>
          <p:cNvSpPr/>
          <p:nvPr/>
        </p:nvSpPr>
        <p:spPr>
          <a:xfrm>
            <a:off x="6556375" y="107886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5" name="Shape 7"/>
          <p:cNvSpPr/>
          <p:nvPr/>
        </p:nvSpPr>
        <p:spPr>
          <a:xfrm>
            <a:off x="6720840" y="107886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6" name="Shape 8"/>
          <p:cNvSpPr/>
          <p:nvPr/>
        </p:nvSpPr>
        <p:spPr>
          <a:xfrm>
            <a:off x="6885305" y="107886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7" name="Text 9"/>
          <p:cNvSpPr/>
          <p:nvPr/>
        </p:nvSpPr>
        <p:spPr>
          <a:xfrm>
            <a:off x="7105015" y="1014730"/>
            <a:ext cx="443420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5e5b52"/>
                </a:solidFill>
                <a:latin typeface="Malgun Gothic"/>
                <a:ea typeface="Malgun Gothic"/>
              </a:rPr>
              <a:t>MY MOVE HOME · </a:t>
            </a:r>
            <a:r>
              <a:rPr b="1" lang="ko-KR" sz="1100" spc="199" strike="noStrike">
                <a:solidFill>
                  <a:srgbClr val="5e5b52"/>
                </a:solidFill>
                <a:latin typeface="Malgun Gothic"/>
                <a:ea typeface="Malgun Gothic"/>
              </a:rPr>
              <a:t>우심이의 작은 방</a:t>
            </a:r>
            <a:endParaRPr b="0" lang="en-US" sz="1100" spc="-1" strike="noStrike">
              <a:solidFill>
                <a:srgbClr val="ffffff"/>
              </a:solidFill>
              <a:latin typeface="Noto Sans KR"/>
            </a:endParaRPr>
          </a:p>
        </p:txBody>
      </p:sp>
      <p:pic>
        <p:nvPicPr>
          <p:cNvPr id="18" name="Image 0"/>
          <p:cNvPicPr/>
          <p:nvPr/>
        </p:nvPicPr>
        <p:blipFill>
          <a:blip r:embed="rId1"/>
          <a:stretch/>
        </p:blipFill>
        <p:spPr>
          <a:xfrm>
            <a:off x="6537960" y="1417320"/>
            <a:ext cx="5074285" cy="2719705"/>
          </a:xfrm>
          <a:prstGeom prst="rect">
            <a:avLst/>
          </a:prstGeom>
          <a:ln w="0">
            <a:noFill/>
          </a:ln>
        </p:spPr>
      </p:pic>
      <p:sp>
        <p:nvSpPr>
          <p:cNvPr id="19" name="Shape 10"/>
          <p:cNvSpPr/>
          <p:nvPr/>
        </p:nvSpPr>
        <p:spPr>
          <a:xfrm>
            <a:off x="9098280" y="4754880"/>
            <a:ext cx="2513965" cy="420370"/>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0" name="Text 11"/>
          <p:cNvSpPr/>
          <p:nvPr/>
        </p:nvSpPr>
        <p:spPr>
          <a:xfrm>
            <a:off x="9098280" y="4754880"/>
            <a:ext cx="2513965"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ffffff"/>
                </a:solidFill>
                <a:latin typeface="Malgun Gothic"/>
                <a:ea typeface="Malgun Gothic"/>
              </a:rPr>
              <a:t>TODAY 12  |  TOTAL 321</a:t>
            </a:r>
            <a:endParaRPr b="0" lang="en-US" sz="1400" spc="-1" strike="noStrike">
              <a:solidFill>
                <a:srgbClr val="ffffff"/>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7F1E6"/>
        </a:solidFill>
      </p:bgPr>
    </p:bg>
    <p:spTree>
      <p:nvGrpSpPr>
        <p:cNvPr id="1" name=""/>
        <p:cNvGrpSpPr/>
        <p:nvPr/>
      </p:nvGrpSpPr>
      <p:grpSpPr>
        <a:xfrm>
          <a:off x="0" y="0"/>
          <a:ext cx="0" cy="0"/>
          <a:chOff x="0" y="0"/>
          <a:chExt cx="0" cy="0"/>
        </a:xfrm>
      </p:grpSpPr>
      <p:sp>
        <p:nvSpPr>
          <p:cNvPr id="2" name="Text 0"/>
          <p:cNvSpPr txBox="1"/>
          <p:nvPr/>
        </p:nvSpPr>
        <p:spPr>
          <a:xfrm>
            <a:off x="548640" y="384048"/>
            <a:ext cx="5486400" cy="384048"/>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AGENDA · 발표 순서</a:t>
            </a:r>
            <a:endParaRPr lang="en-US" sz="1400" dirty="0"/>
          </a:p>
        </p:txBody>
      </p:sp>
      <p:sp>
        <p:nvSpPr>
          <p:cNvPr id="3" name="Text 1"/>
          <p:cNvSpPr txBox="1"/>
          <p:nvPr/>
        </p:nvSpPr>
        <p:spPr>
          <a:xfrm>
            <a:off x="548640" y="896112"/>
            <a:ext cx="11064240" cy="731520"/>
          </a:xfrm>
          <a:prstGeom prst="rect">
            <a:avLst/>
          </a:prstGeom>
          <a:noFill/>
          <a:ln/>
        </p:spPr>
        <p:txBody>
          <a:bodyPr wrap="square" lIns="0" tIns="0" rIns="0" bIns="0" rtlCol="0" anchor="ctr"/>
          <a:lstStyle/>
          <a:p>
            <a:pPr indent="0" marL="0">
              <a:buNone/>
            </a:pPr>
            <a:r>
              <a:rPr lang="en-US" sz="3200" b="1" dirty="0">
                <a:solidFill>
                  <a:srgbClr val="1E2621"/>
                </a:solidFill>
                <a:latin typeface="Malgun Gothic" pitchFamily="34" charset="0"/>
                <a:ea typeface="Malgun Gothic" pitchFamily="34" charset="-122"/>
                <a:cs typeface="Malgun Gothic" pitchFamily="34" charset="-120"/>
              </a:rPr>
              <a:t>9단계로, 추억에서 데이터까지 이어집니다</a:t>
            </a:r>
            <a:endParaRPr lang="en-US" sz="3200" dirty="0"/>
          </a:p>
        </p:txBody>
      </p:sp>
      <p:sp>
        <p:nvSpPr>
          <p:cNvPr id="4" name="Text 2"/>
          <p:cNvSpPr txBox="1"/>
          <p:nvPr/>
        </p:nvSpPr>
        <p:spPr>
          <a:xfrm>
            <a:off x="3017520" y="1627632"/>
            <a:ext cx="3657600" cy="274320"/>
          </a:xfrm>
          <a:prstGeom prst="rect">
            <a:avLst/>
          </a:prstGeom>
          <a:noFill/>
          <a:ln/>
        </p:spPr>
        <p:txBody>
          <a:bodyPr wrap="square" lIns="0" tIns="0" rIns="0" bIns="0" rtlCol="0" anchor="t"/>
          <a:lstStyle/>
          <a:p>
            <a:pPr indent="0" marL="0">
              <a:buNone/>
            </a:pPr>
            <a:r>
              <a:rPr lang="en-US" sz="1150" b="1" dirty="0">
                <a:solidFill>
                  <a:srgbClr val="5E5B52"/>
                </a:solidFill>
                <a:latin typeface="Malgun Gothic" pitchFamily="34" charset="0"/>
                <a:ea typeface="Malgun Gothic" pitchFamily="34" charset="-122"/>
                <a:cs typeface="Malgun Gothic" pitchFamily="34" charset="-120"/>
              </a:rPr>
              <a:t>발표 내용</a:t>
            </a:r>
            <a:endParaRPr lang="en-US" sz="1150" dirty="0"/>
          </a:p>
        </p:txBody>
      </p:sp>
      <p:sp>
        <p:nvSpPr>
          <p:cNvPr id="5" name="Text 3"/>
          <p:cNvSpPr txBox="1"/>
          <p:nvPr/>
        </p:nvSpPr>
        <p:spPr>
          <a:xfrm>
            <a:off x="6812280" y="1627632"/>
            <a:ext cx="3657600" cy="274320"/>
          </a:xfrm>
          <a:prstGeom prst="rect">
            <a:avLst/>
          </a:prstGeom>
          <a:noFill/>
          <a:ln/>
        </p:spPr>
        <p:txBody>
          <a:bodyPr wrap="square" lIns="0" tIns="0" rIns="0" bIns="0" rtlCol="0" anchor="t"/>
          <a:lstStyle/>
          <a:p>
            <a:pPr indent="0" marL="0">
              <a:buNone/>
            </a:pPr>
            <a:r>
              <a:rPr lang="en-US" sz="1150" b="1" dirty="0">
                <a:solidFill>
                  <a:srgbClr val="5E5B52"/>
                </a:solidFill>
                <a:latin typeface="Malgun Gothic" pitchFamily="34" charset="0"/>
                <a:ea typeface="Malgun Gothic" pitchFamily="34" charset="-122"/>
                <a:cs typeface="Malgun Gothic" pitchFamily="34" charset="-120"/>
              </a:rPr>
              <a:t>핵심 메시지</a:t>
            </a:r>
            <a:endParaRPr lang="en-US" sz="1150" dirty="0"/>
          </a:p>
        </p:txBody>
      </p:sp>
      <p:sp>
        <p:nvSpPr>
          <p:cNvPr id="6" name="Shape 4"/>
          <p:cNvSpPr/>
          <p:nvPr/>
        </p:nvSpPr>
        <p:spPr>
          <a:xfrm>
            <a:off x="548640" y="1938528"/>
            <a:ext cx="11091672" cy="438912"/>
          </a:xfrm>
          <a:prstGeom prst="roundRect">
            <a:avLst>
              <a:gd name="adj" fmla="val 16667"/>
            </a:avLst>
          </a:prstGeom>
          <a:solidFill>
            <a:srgbClr val="FFFCF6"/>
          </a:solidFill>
          <a:ln w="12700">
            <a:solidFill>
              <a:srgbClr val="FFFCF6"/>
            </a:solidFill>
            <a:prstDash val="solid"/>
          </a:ln>
        </p:spPr>
      </p:sp>
      <p:sp>
        <p:nvSpPr>
          <p:cNvPr id="7" name="Shape 5"/>
          <p:cNvSpPr/>
          <p:nvPr/>
        </p:nvSpPr>
        <p:spPr>
          <a:xfrm>
            <a:off x="658368" y="2002536"/>
            <a:ext cx="329184" cy="329184"/>
          </a:xfrm>
          <a:prstGeom prst="ellipse">
            <a:avLst/>
          </a:prstGeom>
          <a:solidFill>
            <a:srgbClr val="2E5A46"/>
          </a:solidFill>
          <a:ln w="12700">
            <a:solidFill>
              <a:srgbClr val="2E5A46"/>
            </a:solidFill>
            <a:prstDash val="solid"/>
          </a:ln>
        </p:spPr>
      </p:sp>
      <p:sp>
        <p:nvSpPr>
          <p:cNvPr id="8" name="Text 6"/>
          <p:cNvSpPr txBox="1"/>
          <p:nvPr/>
        </p:nvSpPr>
        <p:spPr>
          <a:xfrm>
            <a:off x="658368" y="20025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01</a:t>
            </a:r>
            <a:endParaRPr lang="en-US" sz="1100" dirty="0"/>
          </a:p>
        </p:txBody>
      </p:sp>
      <p:sp>
        <p:nvSpPr>
          <p:cNvPr id="9" name="Text 7"/>
          <p:cNvSpPr txBox="1"/>
          <p:nvPr/>
        </p:nvSpPr>
        <p:spPr>
          <a:xfrm>
            <a:off x="1143000" y="1938528"/>
            <a:ext cx="1783080" cy="438912"/>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프로젝트 소개</a:t>
            </a:r>
            <a:endParaRPr lang="en-US" sz="1500" dirty="0"/>
          </a:p>
        </p:txBody>
      </p:sp>
      <p:sp>
        <p:nvSpPr>
          <p:cNvPr id="10" name="Text 8"/>
          <p:cNvSpPr txBox="1"/>
          <p:nvPr/>
        </p:nvSpPr>
        <p:spPr>
          <a:xfrm>
            <a:off x="3017520" y="1938528"/>
            <a:ext cx="3703320" cy="438912"/>
          </a:xfrm>
          <a:prstGeom prst="rect">
            <a:avLst/>
          </a:prstGeom>
          <a:noFill/>
          <a:ln/>
        </p:spPr>
        <p:txBody>
          <a:bodyPr wrap="square" lIns="0" tIns="0" rIns="0" bIns="0" rtlCol="0" anchor="ct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싸이월드의 추억, 미니룸과 친구 방문</a:t>
            </a:r>
            <a:endParaRPr lang="en-US" sz="1200" dirty="0"/>
          </a:p>
        </p:txBody>
      </p:sp>
      <p:sp>
        <p:nvSpPr>
          <p:cNvPr id="11" name="Text 9"/>
          <p:cNvSpPr txBox="1"/>
          <p:nvPr/>
        </p:nvSpPr>
        <p:spPr>
          <a:xfrm>
            <a:off x="6812280" y="1938528"/>
            <a:ext cx="4754880" cy="438912"/>
          </a:xfrm>
          <a:prstGeom prst="rect">
            <a:avLst/>
          </a:prstGeom>
          <a:noFill/>
          <a:ln/>
        </p:spPr>
        <p:txBody>
          <a:bodyPr wrap="square" lIns="0" tIns="0" rIns="0" bIns="0" rtlCol="0" anchor="ctr"/>
          <a:lstStyle/>
          <a:p>
            <a:pPr indent="0" marL="0">
              <a:buNone/>
            </a:pPr>
            <a:r>
              <a:rPr lang="en-US" sz="1250" b="1" dirty="0">
                <a:solidFill>
                  <a:srgbClr val="2E5A46"/>
                </a:solidFill>
                <a:latin typeface="Malgun Gothic" pitchFamily="34" charset="0"/>
                <a:ea typeface="Malgun Gothic" pitchFamily="34" charset="-122"/>
                <a:cs typeface="Malgun Gothic" pitchFamily="34" charset="-120"/>
              </a:rPr>
              <a:t>“다시 찾아오고 싶은 공간을 만들고 싶었습니다.”</a:t>
            </a:r>
            <a:endParaRPr lang="en-US" sz="1250" dirty="0"/>
          </a:p>
        </p:txBody>
      </p:sp>
      <p:sp>
        <p:nvSpPr>
          <p:cNvPr id="12" name="Shape 10"/>
          <p:cNvSpPr/>
          <p:nvPr/>
        </p:nvSpPr>
        <p:spPr>
          <a:xfrm>
            <a:off x="658368" y="2478024"/>
            <a:ext cx="329184" cy="329184"/>
          </a:xfrm>
          <a:prstGeom prst="ellipse">
            <a:avLst/>
          </a:prstGeom>
          <a:solidFill>
            <a:srgbClr val="2E5A46"/>
          </a:solidFill>
          <a:ln w="12700">
            <a:solidFill>
              <a:srgbClr val="2E5A46"/>
            </a:solidFill>
            <a:prstDash val="solid"/>
          </a:ln>
        </p:spPr>
      </p:sp>
      <p:sp>
        <p:nvSpPr>
          <p:cNvPr id="13" name="Text 11"/>
          <p:cNvSpPr txBox="1"/>
          <p:nvPr/>
        </p:nvSpPr>
        <p:spPr>
          <a:xfrm>
            <a:off x="658368" y="24780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02</a:t>
            </a:r>
            <a:endParaRPr lang="en-US" sz="1100" dirty="0"/>
          </a:p>
        </p:txBody>
      </p:sp>
      <p:sp>
        <p:nvSpPr>
          <p:cNvPr id="14" name="Text 12"/>
          <p:cNvSpPr txBox="1"/>
          <p:nvPr/>
        </p:nvSpPr>
        <p:spPr>
          <a:xfrm>
            <a:off x="1143000" y="2414016"/>
            <a:ext cx="1783080" cy="438912"/>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목표</a:t>
            </a:r>
            <a:endParaRPr lang="en-US" sz="1500" dirty="0"/>
          </a:p>
        </p:txBody>
      </p:sp>
      <p:sp>
        <p:nvSpPr>
          <p:cNvPr id="15" name="Text 13"/>
          <p:cNvSpPr txBox="1"/>
          <p:nvPr/>
        </p:nvSpPr>
        <p:spPr>
          <a:xfrm>
            <a:off x="3017520" y="2414016"/>
            <a:ext cx="3703320" cy="438912"/>
          </a:xfrm>
          <a:prstGeom prst="rect">
            <a:avLst/>
          </a:prstGeom>
          <a:noFill/>
          <a:ln/>
        </p:spPr>
        <p:txBody>
          <a:bodyPr wrap="square" lIns="0" tIns="0" rIns="0" bIns="0" rtlCol="0" anchor="ct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운동 추천과 기록 · 꾸미기의 연결</a:t>
            </a:r>
            <a:endParaRPr lang="en-US" sz="1200" dirty="0"/>
          </a:p>
        </p:txBody>
      </p:sp>
      <p:sp>
        <p:nvSpPr>
          <p:cNvPr id="16" name="Text 14"/>
          <p:cNvSpPr txBox="1"/>
          <p:nvPr/>
        </p:nvSpPr>
        <p:spPr>
          <a:xfrm>
            <a:off x="6812280" y="2414016"/>
            <a:ext cx="4754880" cy="438912"/>
          </a:xfrm>
          <a:prstGeom prst="rect">
            <a:avLst/>
          </a:prstGeom>
          <a:noFill/>
          <a:ln/>
        </p:spPr>
        <p:txBody>
          <a:bodyPr wrap="square" lIns="0" tIns="0" rIns="0" bIns="0" rtlCol="0" anchor="ctr"/>
          <a:lstStyle/>
          <a:p>
            <a:pPr indent="0" marL="0">
              <a:buNone/>
            </a:pPr>
            <a:r>
              <a:rPr lang="en-US" sz="1250" b="1" dirty="0">
                <a:solidFill>
                  <a:srgbClr val="2E5A46"/>
                </a:solidFill>
                <a:latin typeface="Malgun Gothic" pitchFamily="34" charset="0"/>
                <a:ea typeface="Malgun Gothic" pitchFamily="34" charset="-122"/>
                <a:cs typeface="Malgun Gothic" pitchFamily="34" charset="-120"/>
              </a:rPr>
              <a:t>“운동을 시작할 때의 망설임을 줄이고, 이어갈 재미를 제공합니다.”</a:t>
            </a:r>
            <a:endParaRPr lang="en-US" sz="1250" dirty="0"/>
          </a:p>
        </p:txBody>
      </p:sp>
      <p:sp>
        <p:nvSpPr>
          <p:cNvPr id="17" name="Shape 15"/>
          <p:cNvSpPr/>
          <p:nvPr/>
        </p:nvSpPr>
        <p:spPr>
          <a:xfrm>
            <a:off x="548640" y="2889504"/>
            <a:ext cx="11091672" cy="438912"/>
          </a:xfrm>
          <a:prstGeom prst="roundRect">
            <a:avLst>
              <a:gd name="adj" fmla="val 16667"/>
            </a:avLst>
          </a:prstGeom>
          <a:solidFill>
            <a:srgbClr val="FFFCF6"/>
          </a:solidFill>
          <a:ln w="12700">
            <a:solidFill>
              <a:srgbClr val="FFFCF6"/>
            </a:solidFill>
            <a:prstDash val="solid"/>
          </a:ln>
        </p:spPr>
      </p:sp>
      <p:sp>
        <p:nvSpPr>
          <p:cNvPr id="18" name="Shape 16"/>
          <p:cNvSpPr/>
          <p:nvPr/>
        </p:nvSpPr>
        <p:spPr>
          <a:xfrm>
            <a:off x="658368" y="2953512"/>
            <a:ext cx="329184" cy="329184"/>
          </a:xfrm>
          <a:prstGeom prst="ellipse">
            <a:avLst/>
          </a:prstGeom>
          <a:solidFill>
            <a:srgbClr val="2E5A46"/>
          </a:solidFill>
          <a:ln w="12700">
            <a:solidFill>
              <a:srgbClr val="2E5A46"/>
            </a:solidFill>
            <a:prstDash val="solid"/>
          </a:ln>
        </p:spPr>
      </p:sp>
      <p:sp>
        <p:nvSpPr>
          <p:cNvPr id="19" name="Text 17"/>
          <p:cNvSpPr txBox="1"/>
          <p:nvPr/>
        </p:nvSpPr>
        <p:spPr>
          <a:xfrm>
            <a:off x="658368" y="29535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03</a:t>
            </a:r>
            <a:endParaRPr lang="en-US" sz="1100" dirty="0"/>
          </a:p>
        </p:txBody>
      </p:sp>
      <p:sp>
        <p:nvSpPr>
          <p:cNvPr id="20" name="Text 18"/>
          <p:cNvSpPr txBox="1"/>
          <p:nvPr/>
        </p:nvSpPr>
        <p:spPr>
          <a:xfrm>
            <a:off x="1143000" y="2889504"/>
            <a:ext cx="1783080" cy="438912"/>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데이터 필요성</a:t>
            </a:r>
            <a:endParaRPr lang="en-US" sz="1500" dirty="0"/>
          </a:p>
        </p:txBody>
      </p:sp>
      <p:sp>
        <p:nvSpPr>
          <p:cNvPr id="21" name="Text 19"/>
          <p:cNvSpPr txBox="1"/>
          <p:nvPr/>
        </p:nvSpPr>
        <p:spPr>
          <a:xfrm>
            <a:off x="3017520" y="2889504"/>
            <a:ext cx="3703320" cy="438912"/>
          </a:xfrm>
          <a:prstGeom prst="rect">
            <a:avLst/>
          </a:prstGeom>
          <a:noFill/>
          <a:ln/>
        </p:spPr>
        <p:txBody>
          <a:bodyPr wrap="square" lIns="0" tIns="0" rIns="0" bIns="0" rtlCol="0" anchor="ct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날씨 · 시간 · 장소 때문에 운동을 미루는 상황</a:t>
            </a:r>
            <a:endParaRPr lang="en-US" sz="1200" dirty="0"/>
          </a:p>
        </p:txBody>
      </p:sp>
      <p:sp>
        <p:nvSpPr>
          <p:cNvPr id="22" name="Text 20"/>
          <p:cNvSpPr txBox="1"/>
          <p:nvPr/>
        </p:nvSpPr>
        <p:spPr>
          <a:xfrm>
            <a:off x="6812280" y="2889504"/>
            <a:ext cx="4754880" cy="438912"/>
          </a:xfrm>
          <a:prstGeom prst="rect">
            <a:avLst/>
          </a:prstGeom>
          <a:noFill/>
          <a:ln/>
        </p:spPr>
        <p:txBody>
          <a:bodyPr wrap="square" lIns="0" tIns="0" rIns="0" bIns="0" rtlCol="0" anchor="ctr"/>
          <a:lstStyle/>
          <a:p>
            <a:pPr indent="0" marL="0">
              <a:buNone/>
            </a:pPr>
            <a:r>
              <a:rPr lang="en-US" sz="1250" b="1" dirty="0">
                <a:solidFill>
                  <a:srgbClr val="2E5A46"/>
                </a:solidFill>
                <a:latin typeface="Malgun Gothic" pitchFamily="34" charset="0"/>
                <a:ea typeface="Malgun Gothic" pitchFamily="34" charset="-122"/>
                <a:cs typeface="Malgun Gothic" pitchFamily="34" charset="-120"/>
              </a:rPr>
              <a:t>“사용자가 망설이는 이유에 맞춰 데이터를 선택했습니다.”</a:t>
            </a:r>
            <a:endParaRPr lang="en-US" sz="1250" dirty="0"/>
          </a:p>
        </p:txBody>
      </p:sp>
      <p:sp>
        <p:nvSpPr>
          <p:cNvPr id="23" name="Shape 21"/>
          <p:cNvSpPr/>
          <p:nvPr/>
        </p:nvSpPr>
        <p:spPr>
          <a:xfrm>
            <a:off x="658368" y="3429000"/>
            <a:ext cx="329184" cy="329184"/>
          </a:xfrm>
          <a:prstGeom prst="ellipse">
            <a:avLst/>
          </a:prstGeom>
          <a:solidFill>
            <a:srgbClr val="2E5A46"/>
          </a:solidFill>
          <a:ln w="12700">
            <a:solidFill>
              <a:srgbClr val="2E5A46"/>
            </a:solidFill>
            <a:prstDash val="solid"/>
          </a:ln>
        </p:spPr>
      </p:sp>
      <p:sp>
        <p:nvSpPr>
          <p:cNvPr id="24" name="Text 22"/>
          <p:cNvSpPr txBox="1"/>
          <p:nvPr/>
        </p:nvSpPr>
        <p:spPr>
          <a:xfrm>
            <a:off x="658368" y="34290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04</a:t>
            </a:r>
            <a:endParaRPr lang="en-US" sz="1100" dirty="0"/>
          </a:p>
        </p:txBody>
      </p:sp>
      <p:sp>
        <p:nvSpPr>
          <p:cNvPr id="25" name="Text 23"/>
          <p:cNvSpPr txBox="1"/>
          <p:nvPr/>
        </p:nvSpPr>
        <p:spPr>
          <a:xfrm>
            <a:off x="1143000" y="3364992"/>
            <a:ext cx="1783080" cy="438912"/>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추천 점수</a:t>
            </a:r>
            <a:endParaRPr lang="en-US" sz="1500" dirty="0"/>
          </a:p>
        </p:txBody>
      </p:sp>
      <p:sp>
        <p:nvSpPr>
          <p:cNvPr id="26" name="Text 24"/>
          <p:cNvSpPr txBox="1"/>
          <p:nvPr/>
        </p:nvSpPr>
        <p:spPr>
          <a:xfrm>
            <a:off x="3017520" y="3364992"/>
            <a:ext cx="3703320" cy="438912"/>
          </a:xfrm>
          <a:prstGeom prst="rect">
            <a:avLst/>
          </a:prstGeom>
          <a:noFill/>
          <a:ln/>
        </p:spPr>
        <p:txBody>
          <a:bodyPr wrap="square" lIns="0" tIns="0" rIns="0" bIns="0" rtlCol="0" anchor="ct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거리 · 날씨 · 대기질이 점수에 반영되는 예시</a:t>
            </a:r>
            <a:endParaRPr lang="en-US" sz="1200" dirty="0"/>
          </a:p>
        </p:txBody>
      </p:sp>
      <p:sp>
        <p:nvSpPr>
          <p:cNvPr id="27" name="Text 25"/>
          <p:cNvSpPr txBox="1"/>
          <p:nvPr/>
        </p:nvSpPr>
        <p:spPr>
          <a:xfrm>
            <a:off x="6812280" y="3364992"/>
            <a:ext cx="4754880" cy="438912"/>
          </a:xfrm>
          <a:prstGeom prst="rect">
            <a:avLst/>
          </a:prstGeom>
          <a:noFill/>
          <a:ln/>
        </p:spPr>
        <p:txBody>
          <a:bodyPr wrap="square" lIns="0" tIns="0" rIns="0" bIns="0" rtlCol="0" anchor="ctr"/>
          <a:lstStyle/>
          <a:p>
            <a:pPr indent="0" marL="0">
              <a:buNone/>
            </a:pPr>
            <a:r>
              <a:rPr lang="en-US" sz="1250" b="1" dirty="0">
                <a:solidFill>
                  <a:srgbClr val="2E5A46"/>
                </a:solidFill>
                <a:latin typeface="Malgun Gothic" pitchFamily="34" charset="0"/>
                <a:ea typeface="Malgun Gothic" pitchFamily="34" charset="-122"/>
                <a:cs typeface="Malgun Gothic" pitchFamily="34" charset="-120"/>
              </a:rPr>
              <a:t>“수집한 데이터가 실제 추천 순서를 결정합니다.”</a:t>
            </a:r>
            <a:endParaRPr lang="en-US" sz="1250" dirty="0"/>
          </a:p>
        </p:txBody>
      </p:sp>
      <p:sp>
        <p:nvSpPr>
          <p:cNvPr id="28" name="Shape 26"/>
          <p:cNvSpPr/>
          <p:nvPr/>
        </p:nvSpPr>
        <p:spPr>
          <a:xfrm>
            <a:off x="548640" y="3840480"/>
            <a:ext cx="11091672" cy="438912"/>
          </a:xfrm>
          <a:prstGeom prst="roundRect">
            <a:avLst>
              <a:gd name="adj" fmla="val 16667"/>
            </a:avLst>
          </a:prstGeom>
          <a:solidFill>
            <a:srgbClr val="FFFCF6"/>
          </a:solidFill>
          <a:ln w="12700">
            <a:solidFill>
              <a:srgbClr val="FFFCF6"/>
            </a:solidFill>
            <a:prstDash val="solid"/>
          </a:ln>
        </p:spPr>
      </p:sp>
      <p:sp>
        <p:nvSpPr>
          <p:cNvPr id="29" name="Shape 27"/>
          <p:cNvSpPr/>
          <p:nvPr/>
        </p:nvSpPr>
        <p:spPr>
          <a:xfrm>
            <a:off x="658368" y="3904488"/>
            <a:ext cx="329184" cy="329184"/>
          </a:xfrm>
          <a:prstGeom prst="ellipse">
            <a:avLst/>
          </a:prstGeom>
          <a:solidFill>
            <a:srgbClr val="B5654A"/>
          </a:solidFill>
          <a:ln w="12700">
            <a:solidFill>
              <a:srgbClr val="B5654A"/>
            </a:solidFill>
            <a:prstDash val="solid"/>
          </a:ln>
        </p:spPr>
      </p:sp>
      <p:sp>
        <p:nvSpPr>
          <p:cNvPr id="30" name="Text 28"/>
          <p:cNvSpPr txBox="1"/>
          <p:nvPr/>
        </p:nvSpPr>
        <p:spPr>
          <a:xfrm>
            <a:off x="658368" y="39044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05</a:t>
            </a:r>
            <a:endParaRPr lang="en-US" sz="1100" dirty="0"/>
          </a:p>
        </p:txBody>
      </p:sp>
      <p:sp>
        <p:nvSpPr>
          <p:cNvPr id="31" name="Text 29"/>
          <p:cNvSpPr txBox="1"/>
          <p:nvPr/>
        </p:nvSpPr>
        <p:spPr>
          <a:xfrm>
            <a:off x="1143000" y="3840480"/>
            <a:ext cx="1783080" cy="438912"/>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파이프라인</a:t>
            </a:r>
            <a:endParaRPr lang="en-US" sz="1500" dirty="0"/>
          </a:p>
        </p:txBody>
      </p:sp>
      <p:sp>
        <p:nvSpPr>
          <p:cNvPr id="32" name="Text 30"/>
          <p:cNvSpPr txBox="1"/>
          <p:nvPr/>
        </p:nvSpPr>
        <p:spPr>
          <a:xfrm>
            <a:off x="3017520" y="3840480"/>
            <a:ext cx="3703320" cy="438912"/>
          </a:xfrm>
          <a:prstGeom prst="rect">
            <a:avLst/>
          </a:prstGeom>
          <a:noFill/>
          <a:ln/>
        </p:spPr>
        <p:txBody>
          <a:bodyPr wrap="square" lIns="0" tIns="0" rIns="0" bIns="0" rtlCol="0" anchor="ct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수집 → 전처리 → 검증 → 적재 · 주기 실행</a:t>
            </a:r>
            <a:endParaRPr lang="en-US" sz="1200" dirty="0"/>
          </a:p>
        </p:txBody>
      </p:sp>
      <p:sp>
        <p:nvSpPr>
          <p:cNvPr id="33" name="Text 31"/>
          <p:cNvSpPr txBox="1"/>
          <p:nvPr/>
        </p:nvSpPr>
        <p:spPr>
          <a:xfrm>
            <a:off x="6812280" y="3840480"/>
            <a:ext cx="4754880" cy="438912"/>
          </a:xfrm>
          <a:prstGeom prst="rect">
            <a:avLst/>
          </a:prstGeom>
          <a:noFill/>
          <a:ln/>
        </p:spPr>
        <p:txBody>
          <a:bodyPr wrap="square" lIns="0" tIns="0" rIns="0" bIns="0" rtlCol="0" anchor="ctr"/>
          <a:lstStyle/>
          <a:p>
            <a:pPr indent="0" marL="0">
              <a:buNone/>
            </a:pPr>
            <a:r>
              <a:rPr lang="en-US" sz="1250" b="1" dirty="0">
                <a:solidFill>
                  <a:srgbClr val="2E5A46"/>
                </a:solidFill>
                <a:latin typeface="Malgun Gothic" pitchFamily="34" charset="0"/>
                <a:ea typeface="Malgun Gothic" pitchFamily="34" charset="-122"/>
                <a:cs typeface="Malgun Gothic" pitchFamily="34" charset="-120"/>
              </a:rPr>
              <a:t>“필요한 데이터를 반복해서 처리하는 구조를 만들었습니다.”</a:t>
            </a:r>
            <a:endParaRPr lang="en-US" sz="1250" dirty="0"/>
          </a:p>
        </p:txBody>
      </p:sp>
      <p:sp>
        <p:nvSpPr>
          <p:cNvPr id="34" name="Shape 32"/>
          <p:cNvSpPr/>
          <p:nvPr/>
        </p:nvSpPr>
        <p:spPr>
          <a:xfrm>
            <a:off x="658368" y="4379976"/>
            <a:ext cx="329184" cy="329184"/>
          </a:xfrm>
          <a:prstGeom prst="ellipse">
            <a:avLst/>
          </a:prstGeom>
          <a:solidFill>
            <a:srgbClr val="B5654A"/>
          </a:solidFill>
          <a:ln w="12700">
            <a:solidFill>
              <a:srgbClr val="B5654A"/>
            </a:solidFill>
            <a:prstDash val="solid"/>
          </a:ln>
        </p:spPr>
      </p:sp>
      <p:sp>
        <p:nvSpPr>
          <p:cNvPr id="35" name="Text 33"/>
          <p:cNvSpPr txBox="1"/>
          <p:nvPr/>
        </p:nvSpPr>
        <p:spPr>
          <a:xfrm>
            <a:off x="658368" y="437997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06</a:t>
            </a:r>
            <a:endParaRPr lang="en-US" sz="1100" dirty="0"/>
          </a:p>
        </p:txBody>
      </p:sp>
      <p:sp>
        <p:nvSpPr>
          <p:cNvPr id="36" name="Text 34"/>
          <p:cNvSpPr txBox="1"/>
          <p:nvPr/>
        </p:nvSpPr>
        <p:spPr>
          <a:xfrm>
            <a:off x="1143000" y="4315968"/>
            <a:ext cx="1783080" cy="438912"/>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크롤링</a:t>
            </a:r>
            <a:endParaRPr lang="en-US" sz="1500" dirty="0"/>
          </a:p>
        </p:txBody>
      </p:sp>
      <p:sp>
        <p:nvSpPr>
          <p:cNvPr id="37" name="Text 35"/>
          <p:cNvSpPr txBox="1"/>
          <p:nvPr/>
        </p:nvSpPr>
        <p:spPr>
          <a:xfrm>
            <a:off x="3017520" y="4315968"/>
            <a:ext cx="3703320" cy="438912"/>
          </a:xfrm>
          <a:prstGeom prst="rect">
            <a:avLst/>
          </a:prstGeom>
          <a:noFill/>
          <a:ln/>
        </p:spPr>
        <p:txBody>
          <a:bodyPr wrap="square" lIns="0" tIns="0" rIns="0" bIns="0" rtlCol="0" anchor="ct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추천 시점의 운영 · 휴무 공지 확인</a:t>
            </a:r>
            <a:endParaRPr lang="en-US" sz="1200" dirty="0"/>
          </a:p>
        </p:txBody>
      </p:sp>
      <p:sp>
        <p:nvSpPr>
          <p:cNvPr id="38" name="Text 36"/>
          <p:cNvSpPr txBox="1"/>
          <p:nvPr/>
        </p:nvSpPr>
        <p:spPr>
          <a:xfrm>
            <a:off x="6812280" y="4315968"/>
            <a:ext cx="4754880" cy="438912"/>
          </a:xfrm>
          <a:prstGeom prst="rect">
            <a:avLst/>
          </a:prstGeom>
          <a:noFill/>
          <a:ln/>
        </p:spPr>
        <p:txBody>
          <a:bodyPr wrap="square" lIns="0" tIns="0" rIns="0" bIns="0" rtlCol="0" anchor="ctr"/>
          <a:lstStyle/>
          <a:p>
            <a:pPr indent="0" marL="0">
              <a:buNone/>
            </a:pPr>
            <a:r>
              <a:rPr lang="en-US" sz="1250" b="1" dirty="0">
                <a:solidFill>
                  <a:srgbClr val="2E5A46"/>
                </a:solidFill>
                <a:latin typeface="Malgun Gothic" pitchFamily="34" charset="0"/>
                <a:ea typeface="Malgun Gothic" pitchFamily="34" charset="-122"/>
                <a:cs typeface="Malgun Gothic" pitchFamily="34" charset="-120"/>
              </a:rPr>
              <a:t>“시설 기본정보만으로 부족한 부분을 보완합니다.”</a:t>
            </a:r>
            <a:endParaRPr lang="en-US" sz="1250" dirty="0"/>
          </a:p>
        </p:txBody>
      </p:sp>
      <p:sp>
        <p:nvSpPr>
          <p:cNvPr id="39" name="Shape 37"/>
          <p:cNvSpPr/>
          <p:nvPr/>
        </p:nvSpPr>
        <p:spPr>
          <a:xfrm>
            <a:off x="548640" y="4791456"/>
            <a:ext cx="11091672" cy="438912"/>
          </a:xfrm>
          <a:prstGeom prst="roundRect">
            <a:avLst>
              <a:gd name="adj" fmla="val 16667"/>
            </a:avLst>
          </a:prstGeom>
          <a:solidFill>
            <a:srgbClr val="FFFCF6"/>
          </a:solidFill>
          <a:ln w="12700">
            <a:solidFill>
              <a:srgbClr val="FFFCF6"/>
            </a:solidFill>
            <a:prstDash val="solid"/>
          </a:ln>
        </p:spPr>
      </p:sp>
      <p:sp>
        <p:nvSpPr>
          <p:cNvPr id="40" name="Shape 38"/>
          <p:cNvSpPr/>
          <p:nvPr/>
        </p:nvSpPr>
        <p:spPr>
          <a:xfrm>
            <a:off x="658368" y="4855464"/>
            <a:ext cx="329184" cy="329184"/>
          </a:xfrm>
          <a:prstGeom prst="ellipse">
            <a:avLst/>
          </a:prstGeom>
          <a:solidFill>
            <a:srgbClr val="B5654A"/>
          </a:solidFill>
          <a:ln w="12700">
            <a:solidFill>
              <a:srgbClr val="B5654A"/>
            </a:solidFill>
            <a:prstDash val="solid"/>
          </a:ln>
        </p:spPr>
      </p:sp>
      <p:sp>
        <p:nvSpPr>
          <p:cNvPr id="41" name="Text 39"/>
          <p:cNvSpPr txBox="1"/>
          <p:nvPr/>
        </p:nvSpPr>
        <p:spPr>
          <a:xfrm>
            <a:off x="658368" y="485546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07</a:t>
            </a:r>
            <a:endParaRPr lang="en-US" sz="1100" dirty="0"/>
          </a:p>
        </p:txBody>
      </p:sp>
      <p:sp>
        <p:nvSpPr>
          <p:cNvPr id="42" name="Text 40"/>
          <p:cNvSpPr txBox="1"/>
          <p:nvPr/>
        </p:nvSpPr>
        <p:spPr>
          <a:xfrm>
            <a:off x="1143000" y="4791456"/>
            <a:ext cx="1783080" cy="438912"/>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예외 처리</a:t>
            </a:r>
            <a:endParaRPr lang="en-US" sz="1500" dirty="0"/>
          </a:p>
        </p:txBody>
      </p:sp>
      <p:sp>
        <p:nvSpPr>
          <p:cNvPr id="43" name="Text 41"/>
          <p:cNvSpPr txBox="1"/>
          <p:nvPr/>
        </p:nvSpPr>
        <p:spPr>
          <a:xfrm>
            <a:off x="3017520" y="4791456"/>
            <a:ext cx="3703320" cy="438912"/>
          </a:xfrm>
          <a:prstGeom prst="rect">
            <a:avLst/>
          </a:prstGeom>
          <a:noFill/>
          <a:ln/>
        </p:spPr>
        <p:txBody>
          <a:bodyPr wrap="square" lIns="0" tIns="0" rIns="0" bIns="0" rtlCol="0" anchor="ct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API 실패, 누락 · 중복, 좌표 오류 대응</a:t>
            </a:r>
            <a:endParaRPr lang="en-US" sz="1200" dirty="0"/>
          </a:p>
        </p:txBody>
      </p:sp>
      <p:sp>
        <p:nvSpPr>
          <p:cNvPr id="44" name="Text 42"/>
          <p:cNvSpPr txBox="1"/>
          <p:nvPr/>
        </p:nvSpPr>
        <p:spPr>
          <a:xfrm>
            <a:off x="6812280" y="4791456"/>
            <a:ext cx="4754880" cy="438912"/>
          </a:xfrm>
          <a:prstGeom prst="rect">
            <a:avLst/>
          </a:prstGeom>
          <a:noFill/>
          <a:ln/>
        </p:spPr>
        <p:txBody>
          <a:bodyPr wrap="square" lIns="0" tIns="0" rIns="0" bIns="0" rtlCol="0" anchor="ctr"/>
          <a:lstStyle/>
          <a:p>
            <a:pPr indent="0" marL="0">
              <a:buNone/>
            </a:pPr>
            <a:r>
              <a:rPr lang="en-US" sz="1250" b="1" dirty="0">
                <a:solidFill>
                  <a:srgbClr val="2E5A46"/>
                </a:solidFill>
                <a:latin typeface="Malgun Gothic" pitchFamily="34" charset="0"/>
                <a:ea typeface="Malgun Gothic" pitchFamily="34" charset="-122"/>
                <a:cs typeface="Malgun Gothic" pitchFamily="34" charset="-120"/>
              </a:rPr>
              <a:t>“데이터가 잘못 들어왔을 때의 처리 기준도 마련했습니다.”</a:t>
            </a:r>
            <a:endParaRPr lang="en-US" sz="1250" dirty="0"/>
          </a:p>
        </p:txBody>
      </p:sp>
      <p:sp>
        <p:nvSpPr>
          <p:cNvPr id="45" name="Shape 43"/>
          <p:cNvSpPr/>
          <p:nvPr/>
        </p:nvSpPr>
        <p:spPr>
          <a:xfrm>
            <a:off x="658368" y="5330952"/>
            <a:ext cx="329184" cy="329184"/>
          </a:xfrm>
          <a:prstGeom prst="ellipse">
            <a:avLst/>
          </a:prstGeom>
          <a:solidFill>
            <a:srgbClr val="B5654A"/>
          </a:solidFill>
          <a:ln w="12700">
            <a:solidFill>
              <a:srgbClr val="B5654A"/>
            </a:solidFill>
            <a:prstDash val="solid"/>
          </a:ln>
        </p:spPr>
      </p:sp>
      <p:sp>
        <p:nvSpPr>
          <p:cNvPr id="46" name="Text 44"/>
          <p:cNvSpPr txBox="1"/>
          <p:nvPr/>
        </p:nvSpPr>
        <p:spPr>
          <a:xfrm>
            <a:off x="658368" y="533095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08</a:t>
            </a:r>
            <a:endParaRPr lang="en-US" sz="1100" dirty="0"/>
          </a:p>
        </p:txBody>
      </p:sp>
      <p:sp>
        <p:nvSpPr>
          <p:cNvPr id="47" name="Text 45"/>
          <p:cNvSpPr txBox="1"/>
          <p:nvPr/>
        </p:nvSpPr>
        <p:spPr>
          <a:xfrm>
            <a:off x="1143000" y="5266944"/>
            <a:ext cx="1783080" cy="438912"/>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실행 결과</a:t>
            </a:r>
            <a:endParaRPr lang="en-US" sz="1500" dirty="0"/>
          </a:p>
        </p:txBody>
      </p:sp>
      <p:sp>
        <p:nvSpPr>
          <p:cNvPr id="48" name="Text 46"/>
          <p:cNvSpPr txBox="1"/>
          <p:nvPr/>
        </p:nvSpPr>
        <p:spPr>
          <a:xfrm>
            <a:off x="3017520" y="5266944"/>
            <a:ext cx="3703320" cy="438912"/>
          </a:xfrm>
          <a:prstGeom prst="rect">
            <a:avLst/>
          </a:prstGeom>
          <a:noFill/>
          <a:ln/>
        </p:spPr>
        <p:txBody>
          <a:bodyPr wrap="square" lIns="0" tIns="0" rIns="0" bIns="0" rtlCol="0" anchor="ct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원본 · 정제 비교, 실제 건수, 정상 · 실패 로그</a:t>
            </a:r>
            <a:endParaRPr lang="en-US" sz="1200" dirty="0"/>
          </a:p>
        </p:txBody>
      </p:sp>
      <p:sp>
        <p:nvSpPr>
          <p:cNvPr id="49" name="Text 47"/>
          <p:cNvSpPr txBox="1"/>
          <p:nvPr/>
        </p:nvSpPr>
        <p:spPr>
          <a:xfrm>
            <a:off x="6812280" y="5266944"/>
            <a:ext cx="4754880" cy="438912"/>
          </a:xfrm>
          <a:prstGeom prst="rect">
            <a:avLst/>
          </a:prstGeom>
          <a:noFill/>
          <a:ln/>
        </p:spPr>
        <p:txBody>
          <a:bodyPr wrap="square" lIns="0" tIns="0" rIns="0" bIns="0" rtlCol="0" anchor="ctr"/>
          <a:lstStyle/>
          <a:p>
            <a:pPr indent="0" marL="0">
              <a:buNone/>
            </a:pPr>
            <a:r>
              <a:rPr lang="en-US" sz="1250" b="1" dirty="0">
                <a:solidFill>
                  <a:srgbClr val="2E5A46"/>
                </a:solidFill>
                <a:latin typeface="Malgun Gothic" pitchFamily="34" charset="0"/>
                <a:ea typeface="Malgun Gothic" pitchFamily="34" charset="-122"/>
                <a:cs typeface="Malgun Gothic" pitchFamily="34" charset="-120"/>
              </a:rPr>
              <a:t>“앞에서 설명한 처리가 실제로 동작하는지 보여드립니다.”</a:t>
            </a:r>
            <a:endParaRPr lang="en-US" sz="1250" dirty="0"/>
          </a:p>
        </p:txBody>
      </p:sp>
      <p:sp>
        <p:nvSpPr>
          <p:cNvPr id="50" name="Shape 48"/>
          <p:cNvSpPr/>
          <p:nvPr/>
        </p:nvSpPr>
        <p:spPr>
          <a:xfrm>
            <a:off x="548640" y="5742432"/>
            <a:ext cx="11091672" cy="438912"/>
          </a:xfrm>
          <a:prstGeom prst="roundRect">
            <a:avLst>
              <a:gd name="adj" fmla="val 16667"/>
            </a:avLst>
          </a:prstGeom>
          <a:solidFill>
            <a:srgbClr val="FFFCF6"/>
          </a:solidFill>
          <a:ln w="12700">
            <a:solidFill>
              <a:srgbClr val="FFFCF6"/>
            </a:solidFill>
            <a:prstDash val="solid"/>
          </a:ln>
        </p:spPr>
      </p:sp>
      <p:sp>
        <p:nvSpPr>
          <p:cNvPr id="51" name="Shape 49"/>
          <p:cNvSpPr/>
          <p:nvPr/>
        </p:nvSpPr>
        <p:spPr>
          <a:xfrm>
            <a:off x="658368" y="5806440"/>
            <a:ext cx="329184" cy="329184"/>
          </a:xfrm>
          <a:prstGeom prst="ellipse">
            <a:avLst/>
          </a:prstGeom>
          <a:solidFill>
            <a:srgbClr val="2E5A46"/>
          </a:solidFill>
          <a:ln w="12700">
            <a:solidFill>
              <a:srgbClr val="2E5A46"/>
            </a:solidFill>
            <a:prstDash val="solid"/>
          </a:ln>
        </p:spPr>
      </p:sp>
      <p:sp>
        <p:nvSpPr>
          <p:cNvPr id="52" name="Text 50"/>
          <p:cNvSpPr txBox="1"/>
          <p:nvPr/>
        </p:nvSpPr>
        <p:spPr>
          <a:xfrm>
            <a:off x="658368" y="5806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09</a:t>
            </a:r>
            <a:endParaRPr lang="en-US" sz="1100" dirty="0"/>
          </a:p>
        </p:txBody>
      </p:sp>
      <p:sp>
        <p:nvSpPr>
          <p:cNvPr id="53" name="Text 51"/>
          <p:cNvSpPr txBox="1"/>
          <p:nvPr/>
        </p:nvSpPr>
        <p:spPr>
          <a:xfrm>
            <a:off x="1143000" y="5742432"/>
            <a:ext cx="1783080" cy="438912"/>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서비스 시연</a:t>
            </a:r>
            <a:endParaRPr lang="en-US" sz="1500" dirty="0"/>
          </a:p>
        </p:txBody>
      </p:sp>
      <p:sp>
        <p:nvSpPr>
          <p:cNvPr id="54" name="Text 52"/>
          <p:cNvSpPr txBox="1"/>
          <p:nvPr/>
        </p:nvSpPr>
        <p:spPr>
          <a:xfrm>
            <a:off x="3017520" y="5742432"/>
            <a:ext cx="3703320" cy="438912"/>
          </a:xfrm>
          <a:prstGeom prst="rect">
            <a:avLst/>
          </a:prstGeom>
          <a:noFill/>
          <a:ln/>
        </p:spPr>
        <p:txBody>
          <a:bodyPr wrap="square" lIns="0" tIns="0" rIns="0" bIns="0" rtlCol="0" anchor="ct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운동방 → 추천 → 운동 기록 → 보상 · 친구 방문</a:t>
            </a:r>
            <a:endParaRPr lang="en-US" sz="1200" dirty="0"/>
          </a:p>
        </p:txBody>
      </p:sp>
      <p:sp>
        <p:nvSpPr>
          <p:cNvPr id="55" name="Text 53"/>
          <p:cNvSpPr txBox="1"/>
          <p:nvPr/>
        </p:nvSpPr>
        <p:spPr>
          <a:xfrm>
            <a:off x="6812280" y="5742432"/>
            <a:ext cx="4754880" cy="438912"/>
          </a:xfrm>
          <a:prstGeom prst="rect">
            <a:avLst/>
          </a:prstGeom>
          <a:noFill/>
          <a:ln/>
        </p:spPr>
        <p:txBody>
          <a:bodyPr wrap="square" lIns="0" tIns="0" rIns="0" bIns="0" rtlCol="0" anchor="ctr"/>
          <a:lstStyle/>
          <a:p>
            <a:pPr indent="0" marL="0">
              <a:buNone/>
            </a:pPr>
            <a:r>
              <a:rPr lang="en-US" sz="1250" b="1" dirty="0">
                <a:solidFill>
                  <a:srgbClr val="2E5A46"/>
                </a:solidFill>
                <a:latin typeface="Malgun Gothic" pitchFamily="34" charset="0"/>
                <a:ea typeface="Malgun Gothic" pitchFamily="34" charset="-122"/>
                <a:cs typeface="Malgun Gothic" pitchFamily="34" charset="-120"/>
              </a:rPr>
              <a:t>“이 데이터가 사용자 경험으로 이어집니다.”</a:t>
            </a:r>
            <a:endParaRPr lang="en-US" sz="1250" dirty="0"/>
          </a:p>
        </p:txBody>
      </p:sp>
      <p:sp>
        <p:nvSpPr>
          <p:cNvPr id="56" name="Text 54"/>
          <p:cNvSpPr txBox="1"/>
          <p:nvPr/>
        </p:nvSpPr>
        <p:spPr>
          <a:xfrm>
            <a:off x="548640" y="6309360"/>
            <a:ext cx="5486400" cy="274320"/>
          </a:xfrm>
          <a:prstGeom prst="rect">
            <a:avLst/>
          </a:prstGeom>
          <a:noFill/>
          <a:ln/>
        </p:spPr>
        <p:txBody>
          <a:bodyPr wrap="square" lIns="0" tIns="0" rIns="0" bIns="0" rtlCol="0" anchor="t"/>
          <a:lstStyle/>
          <a:p>
            <a:pPr indent="0" marL="0">
              <a:buNone/>
            </a:pPr>
            <a:r>
              <a:rPr lang="en-US" sz="1050" b="1" dirty="0">
                <a:solidFill>
                  <a:srgbClr val="B5654A"/>
                </a:solidFill>
                <a:latin typeface="Malgun Gothic" pitchFamily="34" charset="0"/>
                <a:ea typeface="Malgun Gothic" pitchFamily="34" charset="-122"/>
                <a:cs typeface="Malgun Gothic" pitchFamily="34" charset="-120"/>
              </a:rPr>
              <a:t>05~08은 데이터 엔지니어링 파트</a:t>
            </a:r>
            <a:endParaRPr lang="en-US" sz="105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21"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2"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01</a:t>
            </a:r>
            <a:endParaRPr b="0" lang="en-US" sz="1300" spc="-1" strike="noStrike">
              <a:solidFill>
                <a:srgbClr val="000000"/>
              </a:solidFill>
              <a:latin typeface="Noto Sans KR"/>
            </a:endParaRPr>
          </a:p>
        </p:txBody>
      </p:sp>
      <p:sp>
        <p:nvSpPr>
          <p:cNvPr id="23"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PROJECT · </a:t>
            </a:r>
            <a:r>
              <a:rPr b="1" lang="ko-KR" sz="1400" spc="199" strike="noStrike">
                <a:solidFill>
                  <a:srgbClr val="b5654a"/>
                </a:solidFill>
                <a:latin typeface="Malgun Gothic"/>
                <a:ea typeface="Malgun Gothic"/>
              </a:rPr>
              <a:t>프로젝트 소개</a:t>
            </a:r>
            <a:endParaRPr b="0" lang="en-US" sz="1400" spc="-1" strike="noStrike">
              <a:solidFill>
                <a:srgbClr val="000000"/>
              </a:solidFill>
              <a:latin typeface="Noto Sans KR"/>
            </a:endParaRPr>
          </a:p>
        </p:txBody>
      </p:sp>
      <p:sp>
        <p:nvSpPr>
          <p:cNvPr id="24"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여러분의 미니홈피는 어떤 모습이었나요</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25" name="Shape 4"/>
          <p:cNvSpPr/>
          <p:nvPr/>
        </p:nvSpPr>
        <p:spPr>
          <a:xfrm>
            <a:off x="548640" y="1783080"/>
            <a:ext cx="6894195" cy="4144010"/>
          </a:xfrm>
          <a:prstGeom prst="roundRect">
            <a:avLst>
              <a:gd name="adj" fmla="val 3089"/>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6" name="Shape 5"/>
          <p:cNvSpPr/>
          <p:nvPr/>
        </p:nvSpPr>
        <p:spPr>
          <a:xfrm>
            <a:off x="676910" y="190182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27" name="Shape 6"/>
          <p:cNvSpPr/>
          <p:nvPr/>
        </p:nvSpPr>
        <p:spPr>
          <a:xfrm>
            <a:off x="841375" y="190182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28" name="Shape 7"/>
          <p:cNvSpPr/>
          <p:nvPr/>
        </p:nvSpPr>
        <p:spPr>
          <a:xfrm>
            <a:off x="1005840" y="190182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29" name="Text 8"/>
          <p:cNvSpPr/>
          <p:nvPr/>
        </p:nvSpPr>
        <p:spPr>
          <a:xfrm>
            <a:off x="1225550" y="1837690"/>
            <a:ext cx="603440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100" spc="199" strike="noStrike">
                <a:solidFill>
                  <a:srgbClr val="5e5b52"/>
                </a:solidFill>
                <a:latin typeface="Malgun Gothic"/>
                <a:ea typeface="Malgun Gothic"/>
              </a:rPr>
              <a:t>우심운까 운동방 </a:t>
            </a:r>
            <a:r>
              <a:rPr b="1" lang="en-US" sz="1100" spc="199" strike="noStrike">
                <a:solidFill>
                  <a:srgbClr val="5e5b52"/>
                </a:solidFill>
                <a:latin typeface="Malgun Gothic"/>
                <a:ea typeface="Malgun Gothic"/>
              </a:rPr>
              <a:t>· MY ROOM</a:t>
            </a:r>
            <a:endParaRPr b="0" lang="en-US" sz="1100" spc="-1" strike="noStrike">
              <a:solidFill>
                <a:srgbClr val="000000"/>
              </a:solidFill>
              <a:latin typeface="Noto Sans KR"/>
            </a:endParaRPr>
          </a:p>
        </p:txBody>
      </p:sp>
      <p:pic>
        <p:nvPicPr>
          <p:cNvPr id="30" name="Image 0"/>
          <p:cNvPicPr/>
          <p:nvPr/>
        </p:nvPicPr>
        <p:blipFill>
          <a:blip r:embed="rId1"/>
          <a:stretch/>
        </p:blipFill>
        <p:spPr>
          <a:xfrm>
            <a:off x="658495" y="2240280"/>
            <a:ext cx="6674485" cy="3577590"/>
          </a:xfrm>
          <a:prstGeom prst="rect">
            <a:avLst/>
          </a:prstGeom>
          <a:ln w="0">
            <a:noFill/>
          </a:ln>
        </p:spPr>
      </p:pic>
      <p:sp>
        <p:nvSpPr>
          <p:cNvPr id="31" name="Shape 9"/>
          <p:cNvSpPr/>
          <p:nvPr/>
        </p:nvSpPr>
        <p:spPr>
          <a:xfrm>
            <a:off x="7772400" y="1828800"/>
            <a:ext cx="3867785" cy="1023620"/>
          </a:xfrm>
          <a:prstGeom prst="roundRect">
            <a:avLst>
              <a:gd name="adj" fmla="val 1250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2" name="Shape 10"/>
          <p:cNvSpPr/>
          <p:nvPr/>
        </p:nvSpPr>
        <p:spPr>
          <a:xfrm>
            <a:off x="7973695" y="2048510"/>
            <a:ext cx="584835" cy="584835"/>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33" name="Image 1"/>
          <p:cNvPicPr/>
          <p:nvPr/>
        </p:nvPicPr>
        <p:blipFill>
          <a:blip r:embed="rId2"/>
          <a:stretch/>
        </p:blipFill>
        <p:spPr>
          <a:xfrm>
            <a:off x="8125460" y="2200275"/>
            <a:ext cx="280670" cy="280670"/>
          </a:xfrm>
          <a:prstGeom prst="rect">
            <a:avLst/>
          </a:prstGeom>
          <a:ln w="0">
            <a:noFill/>
          </a:ln>
        </p:spPr>
      </p:pic>
      <p:sp>
        <p:nvSpPr>
          <p:cNvPr id="34" name="Text 11"/>
          <p:cNvSpPr>
            <a:spLocks/>
          </p:cNvSpPr>
          <p:nvPr/>
        </p:nvSpPr>
        <p:spPr>
          <a:xfrm rot="0">
            <a:off x="8732520" y="1984375"/>
            <a:ext cx="2743200" cy="3657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2000" b="1" strike="noStrike">
                <a:solidFill>
                  <a:srgbClr val="1E2621"/>
                </a:solidFill>
                <a:latin typeface="Malgun Gothic" charset="0"/>
                <a:ea typeface="Malgun Gothic" charset="0"/>
              </a:rPr>
              <a:t>방</a:t>
            </a:r>
            <a:r>
              <a:rPr lang="ko-KR" sz="2000" b="1" strike="noStrike">
                <a:solidFill>
                  <a:srgbClr val="1E2621"/>
                </a:solidFill>
                <a:latin typeface="Malgun Gothic" charset="0"/>
                <a:ea typeface="Malgun Gothic" charset="0"/>
              </a:rPr>
              <a:t> </a:t>
            </a:r>
            <a:r>
              <a:rPr lang="ko-KR" sz="2000" b="1" strike="noStrike">
                <a:solidFill>
                  <a:srgbClr val="1E2621"/>
                </a:solidFill>
                <a:latin typeface="Malgun Gothic" charset="0"/>
                <a:ea typeface="Malgun Gothic" charset="0"/>
              </a:rPr>
              <a:t>꾸미기</a:t>
            </a:r>
            <a:endParaRPr lang="ko-KR" altLang="en-US" sz="2000" b="1" strike="noStrike">
              <a:solidFill>
                <a:srgbClr val="1E2621"/>
              </a:solidFill>
              <a:latin typeface="Malgun Gothic" charset="0"/>
              <a:ea typeface="Malgun Gothic" charset="0"/>
            </a:endParaRPr>
          </a:p>
        </p:txBody>
      </p:sp>
      <p:sp>
        <p:nvSpPr>
          <p:cNvPr id="35" name="Text 12"/>
          <p:cNvSpPr>
            <a:spLocks/>
          </p:cNvSpPr>
          <p:nvPr/>
        </p:nvSpPr>
        <p:spPr>
          <a:xfrm rot="0">
            <a:off x="8732520" y="2339975"/>
            <a:ext cx="2788920" cy="41148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250" b="1" strike="noStrike">
                <a:solidFill>
                  <a:srgbClr val="5E5B52"/>
                </a:solidFill>
                <a:latin typeface="Malgun Gothic" charset="0"/>
                <a:ea typeface="Malgun Gothic" charset="0"/>
              </a:rPr>
              <a:t>가구를</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옮기고</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소품을</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하나씩</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채우던</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나만의</a:t>
            </a:r>
            <a:r>
              <a:rPr lang="ko-KR" sz="1250" b="1" strike="noStrike">
                <a:solidFill>
                  <a:srgbClr val="5E5B52"/>
                </a:solidFill>
                <a:latin typeface="Malgun Gothic" charset="0"/>
                <a:ea typeface="Malgun Gothic" charset="0"/>
              </a:rPr>
              <a:t> </a:t>
            </a:r>
            <a:r>
              <a:rPr lang="ko-KR" sz="1250" b="1" strike="noStrike">
                <a:solidFill>
                  <a:srgbClr val="5E5B52"/>
                </a:solidFill>
                <a:latin typeface="Malgun Gothic" charset="0"/>
                <a:ea typeface="Malgun Gothic" charset="0"/>
              </a:rPr>
              <a:t>공간</a:t>
            </a:r>
            <a:endParaRPr lang="ko-KR" altLang="en-US" sz="1250" b="1" strike="noStrike">
              <a:solidFill>
                <a:srgbClr val="5E5B52"/>
              </a:solidFill>
              <a:latin typeface="Malgun Gothic" charset="0"/>
              <a:ea typeface="Malgun Gothic" charset="0"/>
            </a:endParaRPr>
          </a:p>
        </p:txBody>
      </p:sp>
      <p:sp>
        <p:nvSpPr>
          <p:cNvPr id="36" name="Shape 13"/>
          <p:cNvSpPr/>
          <p:nvPr/>
        </p:nvSpPr>
        <p:spPr>
          <a:xfrm>
            <a:off x="7772400" y="3035935"/>
            <a:ext cx="3867785" cy="1023620"/>
          </a:xfrm>
          <a:prstGeom prst="roundRect">
            <a:avLst>
              <a:gd name="adj" fmla="val 1250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7" name="Shape 14"/>
          <p:cNvSpPr/>
          <p:nvPr/>
        </p:nvSpPr>
        <p:spPr>
          <a:xfrm>
            <a:off x="7973695" y="3255010"/>
            <a:ext cx="584835" cy="584835"/>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38" name="Image 2"/>
          <p:cNvPicPr/>
          <p:nvPr/>
        </p:nvPicPr>
        <p:blipFill>
          <a:blip r:embed="rId3"/>
          <a:stretch/>
        </p:blipFill>
        <p:spPr>
          <a:xfrm>
            <a:off x="8125460" y="3407410"/>
            <a:ext cx="280670" cy="280670"/>
          </a:xfrm>
          <a:prstGeom prst="rect">
            <a:avLst/>
          </a:prstGeom>
          <a:ln w="0">
            <a:noFill/>
          </a:ln>
        </p:spPr>
      </p:pic>
      <p:sp>
        <p:nvSpPr>
          <p:cNvPr id="39" name="Text 15"/>
          <p:cNvSpPr>
            <a:spLocks/>
          </p:cNvSpPr>
          <p:nvPr/>
        </p:nvSpPr>
        <p:spPr>
          <a:xfrm rot="0">
            <a:off x="8732520" y="3191510"/>
            <a:ext cx="2743200" cy="3657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2000" b="1" strike="noStrike">
                <a:solidFill>
                  <a:srgbClr val="1E2621"/>
                </a:solidFill>
                <a:latin typeface="Malgun Gothic" charset="0"/>
                <a:ea typeface="Malgun Gothic" charset="0"/>
              </a:rPr>
              <a:t>캐릭터</a:t>
            </a:r>
            <a:endParaRPr lang="ko-KR" altLang="en-US" sz="2000" b="1" strike="noStrike">
              <a:solidFill>
                <a:srgbClr val="1E2621"/>
              </a:solidFill>
              <a:latin typeface="Malgun Gothic" charset="0"/>
              <a:ea typeface="Malgun Gothic" charset="0"/>
            </a:endParaRPr>
          </a:p>
        </p:txBody>
      </p:sp>
      <p:sp>
        <p:nvSpPr>
          <p:cNvPr id="40" name="Text 16"/>
          <p:cNvSpPr>
            <a:spLocks/>
          </p:cNvSpPr>
          <p:nvPr/>
        </p:nvSpPr>
        <p:spPr>
          <a:xfrm rot="0">
            <a:off x="8732520" y="3566160"/>
            <a:ext cx="2788920" cy="41148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250" b="1" strike="noStrike">
                <a:solidFill>
                  <a:srgbClr val="5E5B52"/>
                </a:solidFill>
                <a:latin typeface="Malgun Gothic" charset="0"/>
                <a:ea typeface="Malgun Gothic" charset="0"/>
              </a:rPr>
              <a:t>나를 대신해 방에 서 있던 작은 아바타</a:t>
            </a:r>
            <a:endParaRPr lang="ko-KR" altLang="en-US" sz="1250" b="1" strike="noStrike">
              <a:solidFill>
                <a:srgbClr val="5E5B52"/>
              </a:solidFill>
              <a:latin typeface="Malgun Gothic" charset="0"/>
              <a:ea typeface="Malgun Gothic" charset="0"/>
            </a:endParaRPr>
          </a:p>
        </p:txBody>
      </p:sp>
      <p:sp>
        <p:nvSpPr>
          <p:cNvPr id="41" name="Shape 17"/>
          <p:cNvSpPr/>
          <p:nvPr/>
        </p:nvSpPr>
        <p:spPr>
          <a:xfrm>
            <a:off x="7772400" y="4243070"/>
            <a:ext cx="3867785" cy="1023620"/>
          </a:xfrm>
          <a:prstGeom prst="roundRect">
            <a:avLst>
              <a:gd name="adj" fmla="val 1250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2" name="Shape 18"/>
          <p:cNvSpPr/>
          <p:nvPr/>
        </p:nvSpPr>
        <p:spPr>
          <a:xfrm>
            <a:off x="7973695" y="4462145"/>
            <a:ext cx="584835" cy="584835"/>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43" name="Image 3"/>
          <p:cNvPicPr/>
          <p:nvPr/>
        </p:nvPicPr>
        <p:blipFill>
          <a:blip r:embed="rId4"/>
          <a:stretch/>
        </p:blipFill>
        <p:spPr>
          <a:xfrm>
            <a:off x="8125460" y="4614545"/>
            <a:ext cx="280670" cy="280670"/>
          </a:xfrm>
          <a:prstGeom prst="rect">
            <a:avLst/>
          </a:prstGeom>
          <a:ln w="0">
            <a:noFill/>
          </a:ln>
        </p:spPr>
      </p:pic>
      <p:sp>
        <p:nvSpPr>
          <p:cNvPr id="44" name="Text 19"/>
          <p:cNvSpPr>
            <a:spLocks/>
          </p:cNvSpPr>
          <p:nvPr/>
        </p:nvSpPr>
        <p:spPr>
          <a:xfrm rot="0">
            <a:off x="8732520" y="4398010"/>
            <a:ext cx="2743200" cy="3657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2000" b="1" strike="noStrike">
                <a:solidFill>
                  <a:srgbClr val="1E2621"/>
                </a:solidFill>
                <a:latin typeface="Malgun Gothic" charset="0"/>
                <a:ea typeface="Malgun Gothic" charset="0"/>
              </a:rPr>
              <a:t>친구 방문</a:t>
            </a:r>
            <a:endParaRPr lang="ko-KR" altLang="en-US" sz="2000" b="1" strike="noStrike">
              <a:solidFill>
                <a:srgbClr val="1E2621"/>
              </a:solidFill>
              <a:latin typeface="Malgun Gothic" charset="0"/>
              <a:ea typeface="Malgun Gothic" charset="0"/>
            </a:endParaRPr>
          </a:p>
        </p:txBody>
      </p:sp>
      <p:sp>
        <p:nvSpPr>
          <p:cNvPr id="45" name="Text 20"/>
          <p:cNvSpPr>
            <a:spLocks/>
          </p:cNvSpPr>
          <p:nvPr/>
        </p:nvSpPr>
        <p:spPr>
          <a:xfrm rot="0">
            <a:off x="8732520" y="4773295"/>
            <a:ext cx="2788920" cy="41148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250" b="1" strike="noStrike">
                <a:solidFill>
                  <a:srgbClr val="5E5B52"/>
                </a:solidFill>
                <a:latin typeface="Malgun Gothic" charset="0"/>
                <a:ea typeface="Malgun Gothic" charset="0"/>
              </a:rPr>
              <a:t>TODAY · TOTAL, </a:t>
            </a:r>
            <a:r>
              <a:rPr lang="ko-KR" sz="1250" b="1" strike="noStrike">
                <a:solidFill>
                  <a:srgbClr val="5E5B52"/>
                </a:solidFill>
                <a:latin typeface="Malgun Gothic" charset="0"/>
                <a:ea typeface="Malgun Gothic" charset="0"/>
              </a:rPr>
              <a:t>오늘은 누가 다녀갔을까</a:t>
            </a:r>
            <a:r>
              <a:rPr lang="en-US" sz="1250" b="1" strike="noStrike">
                <a:solidFill>
                  <a:srgbClr val="5E5B52"/>
                </a:solidFill>
                <a:latin typeface="Malgun Gothic" charset="0"/>
                <a:ea typeface="Malgun Gothic" charset="0"/>
              </a:rPr>
              <a:t>?</a:t>
            </a:r>
            <a:endParaRPr lang="ko-KR" altLang="en-US" sz="1250" b="1" strike="noStrike">
              <a:solidFill>
                <a:srgbClr val="5E5B52"/>
              </a:solidFill>
              <a:latin typeface="Malgun Gothic" charset="0"/>
              <a:ea typeface="Malgun Gothic" charset="0"/>
            </a:endParaRPr>
          </a:p>
        </p:txBody>
      </p:sp>
      <p:sp>
        <p:nvSpPr>
          <p:cNvPr id="46" name="Shape 21"/>
          <p:cNvSpPr>
            <a:spLocks/>
          </p:cNvSpPr>
          <p:nvPr/>
        </p:nvSpPr>
        <p:spPr>
          <a:xfrm rot="0">
            <a:off x="7772400" y="5449570"/>
            <a:ext cx="3868420" cy="822960"/>
          </a:xfrm>
          <a:prstGeom prst="roundRect">
            <a:avLst>
              <a:gd name="adj" fmla="val 15556"/>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lgn="ctr">
              <a:buFontTx/>
              <a:buNone/>
            </a:pPr>
            <a:endParaRPr lang="ko-KR" altLang="en-US" sz="1800" b="0" strike="noStrike">
              <a:solidFill>
                <a:srgbClr val="000000"/>
              </a:solidFill>
              <a:latin typeface="Noto Sans KR" charset="0"/>
            </a:endParaRPr>
          </a:p>
        </p:txBody>
      </p:sp>
      <p:sp>
        <p:nvSpPr>
          <p:cNvPr id="47" name="Text 22"/>
          <p:cNvSpPr>
            <a:spLocks/>
          </p:cNvSpPr>
          <p:nvPr/>
        </p:nvSpPr>
        <p:spPr>
          <a:xfrm rot="0">
            <a:off x="7926070" y="5513705"/>
            <a:ext cx="3566160" cy="69532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2000" b="1" strike="noStrike">
                <a:solidFill>
                  <a:srgbClr val="FFFFFF"/>
                </a:solidFill>
                <a:latin typeface="Malgun Gothic" charset="0"/>
                <a:ea typeface="Malgun Gothic" charset="0"/>
              </a:rPr>
              <a:t>나만의</a:t>
            </a:r>
            <a:r>
              <a:rPr lang="ko-KR" sz="2000" b="1" strike="noStrike">
                <a:solidFill>
                  <a:srgbClr val="FFFFFF"/>
                </a:solidFill>
                <a:latin typeface="Malgun Gothic" charset="0"/>
                <a:ea typeface="Malgun Gothic" charset="0"/>
              </a:rPr>
              <a:t> </a:t>
            </a:r>
            <a:r>
              <a:rPr lang="ko-KR" sz="2000" b="1" strike="noStrike">
                <a:solidFill>
                  <a:srgbClr val="FFFFFF"/>
                </a:solidFill>
                <a:latin typeface="Malgun Gothic" charset="0"/>
                <a:ea typeface="Malgun Gothic" charset="0"/>
              </a:rPr>
              <a:t>공간을</a:t>
            </a:r>
            <a:r>
              <a:rPr lang="ko-KR" sz="2000" b="1" strike="noStrike">
                <a:solidFill>
                  <a:srgbClr val="FFFFFF"/>
                </a:solidFill>
                <a:latin typeface="Malgun Gothic" charset="0"/>
                <a:ea typeface="Malgun Gothic" charset="0"/>
              </a:rPr>
              <a:t> </a:t>
            </a:r>
            <a:r>
              <a:rPr lang="ko-KR" sz="2000" b="1" strike="noStrike">
                <a:solidFill>
                  <a:srgbClr val="FFFFFF"/>
                </a:solidFill>
                <a:latin typeface="Malgun Gothic" charset="0"/>
                <a:ea typeface="Malgun Gothic" charset="0"/>
              </a:rPr>
              <a:t>꾸미고</a:t>
            </a:r>
            <a:endParaRPr lang="ko-KR" altLang="en-US" sz="2000" b="1" strike="noStrike">
              <a:solidFill>
                <a:srgbClr val="FFFFFF"/>
              </a:solidFill>
              <a:latin typeface="Malgun Gothic" charset="0"/>
              <a:ea typeface="Malgun Gothic" charset="0"/>
            </a:endParaRPr>
          </a:p>
          <a:p>
            <a:pPr marL="0" indent="0" algn="ctr" defTabSz="914400">
              <a:lnSpc>
                <a:spcPct val="100000"/>
              </a:lnSpc>
              <a:buFontTx/>
              <a:buNone/>
              <a:tabLst>
                <a:tab pos="0" algn="l"/>
              </a:tabLst>
            </a:pPr>
            <a:r>
              <a:rPr lang="ko-KR" sz="2000" b="1" strike="noStrike">
                <a:solidFill>
                  <a:srgbClr val="FFFFFF"/>
                </a:solidFill>
                <a:latin typeface="Malgun Gothic" charset="0"/>
                <a:ea typeface="Malgun Gothic" charset="0"/>
              </a:rPr>
              <a:t>친구와 공유하는 재미</a:t>
            </a:r>
            <a:endParaRPr lang="ko-KR" altLang="en-US" sz="2000" b="1" strike="noStrike">
              <a:solidFill>
                <a:srgbClr val="FFFFFF"/>
              </a:solidFill>
              <a:latin typeface="Malgun Gothic" charset="0"/>
              <a:ea typeface="Malgun Gothic" charset="0"/>
            </a:endParaRPr>
          </a:p>
        </p:txBody>
      </p:sp>
      <p:sp>
        <p:nvSpPr>
          <p:cNvPr id="48" name="Text 23"/>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49" name="Text 24"/>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03</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50"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1"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02</a:t>
            </a:r>
            <a:endParaRPr b="0" lang="en-US" sz="1300" spc="-1" strike="noStrike">
              <a:solidFill>
                <a:srgbClr val="000000"/>
              </a:solidFill>
              <a:latin typeface="Noto Sans KR"/>
            </a:endParaRPr>
          </a:p>
        </p:txBody>
      </p:sp>
      <p:sp>
        <p:nvSpPr>
          <p:cNvPr id="52"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GOAL · 운동을 미루는 이유</a:t>
            </a:r>
            <a:r>
              <a:rPr b="1" lang="ko-KR" sz="1400" spc="199" strike="noStrike">
                <a:solidFill>
                  <a:srgbClr val="b5654a"/>
                </a:solidFill>
                <a:latin typeface="Malgun Gothic"/>
                <a:ea typeface="Malgun Gothic"/>
              </a:rPr>
              <a:t/>
            </a:r>
            <a:endParaRPr b="0" lang="en-US" sz="1400" spc="-1" strike="noStrike">
              <a:solidFill>
                <a:srgbClr val="000000"/>
              </a:solidFill>
              <a:latin typeface="Noto Sans KR"/>
            </a:endParaRPr>
          </a:p>
        </p:txBody>
      </p:sp>
      <p:sp>
        <p:nvSpPr>
          <p:cNvPr id="53"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e2621"/>
                </a:solidFill>
                <a:latin typeface="Malgun Gothic"/>
                <a:ea typeface="Malgun Gothic"/>
              </a:rPr>
              <a:t>“</a:t>
            </a:r>
            <a:r>
              <a:rPr b="1" lang="ko-KR" sz="3000" spc="-1" strike="noStrike">
                <a:solidFill>
                  <a:srgbClr val="1e2621"/>
                </a:solidFill>
                <a:latin typeface="Malgun Gothic"/>
                <a:ea typeface="Malgun Gothic"/>
              </a:rPr>
              <a:t>운동을 찾는 시간을 줄이고</a:t>
            </a:r>
            <a:r>
              <a:rPr b="1" lang="en-US" sz="3000" spc="-1" strike="noStrike">
                <a:solidFill>
                  <a:srgbClr val="1e2621"/>
                </a:solidFill>
                <a:latin typeface="Malgun Gothic"/>
                <a:ea typeface="Malgun Gothic"/>
              </a:rPr>
              <a:t>, </a:t>
            </a:r>
            <a:r>
              <a:rPr b="1" lang="ko-KR" sz="3000" spc="-1" strike="noStrike">
                <a:solidFill>
                  <a:srgbClr val="1e2621"/>
                </a:solidFill>
                <a:latin typeface="Malgun Gothic"/>
                <a:ea typeface="Malgun Gothic"/>
              </a:rPr>
              <a:t>움직이는 날을 늘린다”</a:t>
            </a:r>
            <a:endParaRPr b="0" lang="en-US" sz="3000" spc="-1" strike="noStrike">
              <a:solidFill>
                <a:srgbClr val="000000"/>
              </a:solidFill>
              <a:latin typeface="Noto Sans KR"/>
            </a:endParaRPr>
          </a:p>
        </p:txBody>
      </p:sp>
      <p:sp>
        <p:nvSpPr>
          <p:cNvPr id="54" name="Shape 4"/>
          <p:cNvSpPr/>
          <p:nvPr/>
        </p:nvSpPr>
        <p:spPr>
          <a:xfrm>
            <a:off x="548640" y="1874520"/>
            <a:ext cx="3748405" cy="3931285"/>
          </a:xfrm>
          <a:prstGeom prst="roundRect">
            <a:avLst>
              <a:gd name="adj" fmla="val 3415"/>
            </a:avLst>
          </a:prstGeom>
          <a:solidFill>
            <a:srgbClr val="2e5a46"/>
          </a:solidFill>
          <a:ln w="12700">
            <a:solidFill>
              <a:srgbClr val="2e5a46"/>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5" name="Text 5"/>
          <p:cNvSpPr/>
          <p:nvPr/>
        </p:nvSpPr>
        <p:spPr>
          <a:xfrm>
            <a:off x="822960" y="2148840"/>
            <a:ext cx="3199765" cy="4108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800" spc="-1" strike="noStrike">
                <a:solidFill>
                  <a:srgbClr val="cfe0d5"/>
                </a:solidFill>
                <a:latin typeface="Malgun Gothic"/>
                <a:ea typeface="Malgun Gothic"/>
              </a:rPr>
              <a:t>생활체육 참여율</a:t>
            </a:r>
            <a:endParaRPr b="0" lang="en-US" sz="1800" spc="-1" strike="noStrike">
              <a:solidFill>
                <a:srgbClr val="000000"/>
              </a:solidFill>
              <a:latin typeface="Noto Sans KR"/>
            </a:endParaRPr>
          </a:p>
        </p:txBody>
      </p:sp>
      <p:sp>
        <p:nvSpPr>
          <p:cNvPr id="56" name="Text 6"/>
          <p:cNvSpPr/>
          <p:nvPr/>
        </p:nvSpPr>
        <p:spPr>
          <a:xfrm>
            <a:off x="822960" y="2606040"/>
            <a:ext cx="3199765" cy="118808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6600" spc="-1" strike="noStrike">
                <a:solidFill>
                  <a:srgbClr val="ffffff"/>
                </a:solidFill>
                <a:latin typeface="Malgun Gothic"/>
                <a:ea typeface="Malgun Gothic"/>
              </a:rPr>
              <a:t>62.9%</a:t>
            </a:r>
            <a:endParaRPr b="0" lang="en-US" sz="6600" spc="-1" strike="noStrike">
              <a:solidFill>
                <a:srgbClr val="000000"/>
              </a:solidFill>
              <a:latin typeface="Noto Sans KR"/>
            </a:endParaRPr>
          </a:p>
        </p:txBody>
      </p:sp>
      <p:sp>
        <p:nvSpPr>
          <p:cNvPr id="57" name="Text 7"/>
          <p:cNvSpPr/>
          <p:nvPr/>
        </p:nvSpPr>
        <p:spPr>
          <a:xfrm>
            <a:off x="822960" y="3840480"/>
            <a:ext cx="319976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cfe0d5"/>
                </a:solidFill>
                <a:latin typeface="Malgun Gothic"/>
                <a:ea typeface="Malgun Gothic"/>
              </a:rPr>
              <a:t>주 </a:t>
            </a:r>
            <a:r>
              <a:rPr b="1" lang="en-US" sz="1400" spc="-1" strike="noStrike">
                <a:solidFill>
                  <a:srgbClr val="cfe0d5"/>
                </a:solidFill>
                <a:latin typeface="Malgun Gothic"/>
                <a:ea typeface="Malgun Gothic"/>
              </a:rPr>
              <a:t>1</a:t>
            </a:r>
            <a:r>
              <a:rPr b="1" lang="ko-KR" sz="1400" spc="-1" strike="noStrike">
                <a:solidFill>
                  <a:srgbClr val="cfe0d5"/>
                </a:solidFill>
                <a:latin typeface="Malgun Gothic"/>
                <a:ea typeface="Malgun Gothic"/>
              </a:rPr>
              <a:t>회 이상 </a:t>
            </a:r>
            <a:r>
              <a:rPr b="1" lang="en-US" sz="1400" spc="-1" strike="noStrike">
                <a:solidFill>
                  <a:srgbClr val="cfe0d5"/>
                </a:solidFill>
                <a:latin typeface="Malgun Gothic"/>
                <a:ea typeface="Malgun Gothic"/>
              </a:rPr>
              <a:t>· 1</a:t>
            </a:r>
            <a:r>
              <a:rPr b="1" lang="ko-KR" sz="1400" spc="-1" strike="noStrike">
                <a:solidFill>
                  <a:srgbClr val="cfe0d5"/>
                </a:solidFill>
                <a:latin typeface="Malgun Gothic"/>
                <a:ea typeface="Malgun Gothic"/>
              </a:rPr>
              <a:t>회 </a:t>
            </a:r>
            <a:r>
              <a:rPr b="1" lang="en-US" sz="1400" spc="-1" strike="noStrike">
                <a:solidFill>
                  <a:srgbClr val="cfe0d5"/>
                </a:solidFill>
                <a:latin typeface="Malgun Gothic"/>
                <a:ea typeface="Malgun Gothic"/>
              </a:rPr>
              <a:t>30</a:t>
            </a:r>
            <a:r>
              <a:rPr b="1" lang="ko-KR" sz="1400" spc="-1" strike="noStrike">
                <a:solidFill>
                  <a:srgbClr val="cfe0d5"/>
                </a:solidFill>
                <a:latin typeface="Malgun Gothic"/>
                <a:ea typeface="Malgun Gothic"/>
              </a:rPr>
              <a:t>분 이상</a:t>
            </a:r>
            <a:endParaRPr b="0" lang="en-US" sz="1400" spc="-1" strike="noStrike">
              <a:solidFill>
                <a:srgbClr val="000000"/>
              </a:solidFill>
              <a:latin typeface="Noto Sans KR"/>
            </a:endParaRPr>
          </a:p>
        </p:txBody>
      </p:sp>
      <p:sp>
        <p:nvSpPr>
          <p:cNvPr id="58" name="Text 8"/>
          <p:cNvSpPr/>
          <p:nvPr/>
        </p:nvSpPr>
        <p:spPr>
          <a:xfrm>
            <a:off x="822960" y="4572000"/>
            <a:ext cx="3291205" cy="868045"/>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1" lang="ko-KR" sz="1700" spc="-1" strike="noStrike">
                <a:solidFill>
                  <a:srgbClr val="d9a441"/>
                </a:solidFill>
                <a:latin typeface="Malgun Gothic"/>
                <a:ea typeface="Malgun Gothic"/>
              </a:rPr>
              <a:t>참여자는 많지만</a:t>
            </a:r>
            <a:r>
              <a:rPr b="1" lang="en-US" sz="1700" spc="-1" strike="noStrike">
                <a:solidFill>
                  <a:srgbClr val="d9a441"/>
                </a:solidFill>
                <a:latin typeface="Malgun Gothic"/>
                <a:ea typeface="Malgun Gothic"/>
              </a:rPr>
              <a:t>,</a:t>
            </a:r>
            <a:endParaRPr b="0" lang="en-US" sz="1700" spc="-1" strike="noStrike">
              <a:solidFill>
                <a:srgbClr val="000000"/>
              </a:solidFill>
              <a:latin typeface="Noto Sans KR"/>
            </a:endParaRPr>
          </a:p>
          <a:p>
            <a:pPr defTabSz="914400">
              <a:lnSpc>
                <a:spcPct val="110000"/>
              </a:lnSpc>
              <a:tabLst>
                <a:tab algn="l" pos="0"/>
              </a:tabLst>
            </a:pPr>
            <a:r>
              <a:rPr b="1" lang="ko-KR" sz="1700" spc="-1" strike="noStrike">
                <a:solidFill>
                  <a:srgbClr val="d9a441"/>
                </a:solidFill>
                <a:latin typeface="Malgun Gothic"/>
                <a:ea typeface="Malgun Gothic"/>
              </a:rPr>
              <a:t>꾸준함의 장벽은 남아 있다</a:t>
            </a:r>
            <a:endParaRPr b="0" lang="en-US" sz="1700" spc="-1" strike="noStrike">
              <a:solidFill>
                <a:srgbClr val="000000"/>
              </a:solidFill>
              <a:latin typeface="Noto Sans KR"/>
            </a:endParaRPr>
          </a:p>
        </p:txBody>
      </p:sp>
      <p:sp>
        <p:nvSpPr>
          <p:cNvPr id="59" name="Shape 9"/>
          <p:cNvSpPr/>
          <p:nvPr/>
        </p:nvSpPr>
        <p:spPr>
          <a:xfrm>
            <a:off x="4572000" y="1874520"/>
            <a:ext cx="7068185" cy="3931285"/>
          </a:xfrm>
          <a:prstGeom prst="roundRect">
            <a:avLst>
              <a:gd name="adj" fmla="val 3256"/>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60" name="Text 10"/>
          <p:cNvSpPr/>
          <p:nvPr/>
        </p:nvSpPr>
        <p:spPr>
          <a:xfrm>
            <a:off x="4846320" y="2084705"/>
            <a:ext cx="6583045" cy="3651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700" spc="-1" strike="noStrike">
                <a:solidFill>
                  <a:srgbClr val="1e2621"/>
                </a:solidFill>
                <a:latin typeface="Malgun Gothic"/>
                <a:ea typeface="Malgun Gothic"/>
              </a:rPr>
              <a:t>규칙적으로 운동하지 못하는 이유 </a:t>
            </a:r>
            <a:r>
              <a:rPr b="1" lang="en-US" sz="1700" spc="-1" strike="noStrike">
                <a:solidFill>
                  <a:srgbClr val="1e2621"/>
                </a:solidFill>
                <a:latin typeface="Malgun Gothic"/>
                <a:ea typeface="Malgun Gothic"/>
              </a:rPr>
              <a:t>(</a:t>
            </a:r>
            <a:r>
              <a:rPr b="1" lang="ko-KR" sz="1700" spc="-1" strike="noStrike">
                <a:solidFill>
                  <a:srgbClr val="1e2621"/>
                </a:solidFill>
                <a:latin typeface="Malgun Gothic"/>
                <a:ea typeface="Malgun Gothic"/>
              </a:rPr>
              <a:t>복수 응답</a:t>
            </a:r>
            <a:r>
              <a:rPr b="1" lang="en-US" sz="1700" spc="-1" strike="noStrike">
                <a:solidFill>
                  <a:srgbClr val="1e2621"/>
                </a:solidFill>
                <a:latin typeface="Malgun Gothic"/>
                <a:ea typeface="Malgun Gothic"/>
              </a:rPr>
              <a:t>, %)</a:t>
            </a:r>
            <a:endParaRPr b="0" lang="en-US" sz="1700" spc="-1" strike="noStrike">
              <a:solidFill>
                <a:srgbClr val="000000"/>
              </a:solidFill>
              <a:latin typeface="Noto Sans KR"/>
            </a:endParaRPr>
          </a:p>
        </p:txBody>
      </p:sp>
      <p:sp>
        <p:nvSpPr>
          <p:cNvPr id="62" name="Text 11"/>
          <p:cNvSpPr/>
          <p:nvPr/>
        </p:nvSpPr>
        <p:spPr>
          <a:xfrm>
            <a:off x="548640" y="5943600"/>
            <a:ext cx="1106360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우심운까는 ‘무엇을</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어디서</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지금 시간 안에’ 고르는 부담을 줄여 운동 시작을 돕습니다</a:t>
            </a:r>
            <a:endParaRPr b="0" lang="en-US" sz="1500" spc="-1" strike="noStrike">
              <a:solidFill>
                <a:srgbClr val="000000"/>
              </a:solidFill>
              <a:latin typeface="Noto Sans KR"/>
            </a:endParaRPr>
          </a:p>
        </p:txBody>
      </p:sp>
      <p:sp>
        <p:nvSpPr>
          <p:cNvPr id="63" name="Text 12"/>
          <p:cNvSpPr/>
          <p:nvPr/>
        </p:nvSpPr>
        <p:spPr>
          <a:xfrm>
            <a:off x="548640" y="6263640"/>
            <a:ext cx="73145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ko-KR" sz="1000" spc="-1" strike="noStrike">
                <a:solidFill>
                  <a:srgbClr val="8c8472"/>
                </a:solidFill>
                <a:latin typeface="Malgun Gothic"/>
                <a:ea typeface="Malgun Gothic"/>
              </a:rPr>
              <a:t>자료</a:t>
            </a:r>
            <a:r>
              <a:rPr b="0" lang="en-US" sz="1000" spc="-1" strike="noStrike">
                <a:solidFill>
                  <a:srgbClr val="8c8472"/>
                </a:solidFill>
                <a:latin typeface="Malgun Gothic"/>
                <a:ea typeface="Malgun Gothic"/>
              </a:rPr>
              <a:t>: </a:t>
            </a:r>
            <a:r>
              <a:rPr b="0" lang="ko-KR" sz="1000" spc="-1" strike="noStrike">
                <a:solidFill>
                  <a:srgbClr val="8c8472"/>
                </a:solidFill>
                <a:latin typeface="Malgun Gothic"/>
                <a:ea typeface="Malgun Gothic"/>
              </a:rPr>
              <a:t>문화체육관광부</a:t>
            </a:r>
            <a:r>
              <a:rPr b="0" lang="en-US" sz="1000" spc="-1" strike="noStrike">
                <a:solidFill>
                  <a:srgbClr val="8c8472"/>
                </a:solidFill>
                <a:latin typeface="Malgun Gothic"/>
                <a:ea typeface="Malgun Gothic"/>
              </a:rPr>
              <a:t>, 2025</a:t>
            </a:r>
            <a:r>
              <a:rPr b="0" lang="ko-KR" sz="1000" spc="-1" strike="noStrike">
                <a:solidFill>
                  <a:srgbClr val="8c8472"/>
                </a:solidFill>
                <a:latin typeface="Malgun Gothic"/>
                <a:ea typeface="Malgun Gothic"/>
              </a:rPr>
              <a:t>년 국민생활체육조사 결과</a:t>
            </a:r>
            <a:r>
              <a:rPr b="0" lang="en-US" sz="1000" spc="-1" strike="noStrike">
                <a:solidFill>
                  <a:srgbClr val="8c8472"/>
                </a:solidFill>
                <a:latin typeface="Malgun Gothic"/>
                <a:ea typeface="Malgun Gothic"/>
              </a:rPr>
              <a:t>(2026. 1. 23. </a:t>
            </a:r>
            <a:r>
              <a:rPr b="0" lang="ko-KR" sz="1000" spc="-1" strike="noStrike">
                <a:solidFill>
                  <a:srgbClr val="8c8472"/>
                </a:solidFill>
                <a:latin typeface="Malgun Gothic"/>
                <a:ea typeface="Malgun Gothic"/>
              </a:rPr>
              <a:t>발표</a:t>
            </a:r>
            <a:r>
              <a:rPr b="0" lang="en-US" sz="1000" spc="-1" strike="noStrike">
                <a:solidFill>
                  <a:srgbClr val="8c8472"/>
                </a:solidFill>
                <a:latin typeface="Malgun Gothic"/>
                <a:ea typeface="Malgun Gothic"/>
              </a:rPr>
              <a:t>)</a:t>
            </a:r>
            <a:endParaRPr b="0" lang="en-US" sz="1000" spc="-1" strike="noStrike">
              <a:solidFill>
                <a:srgbClr val="000000"/>
              </a:solidFill>
              <a:latin typeface="Noto Sans KR"/>
            </a:endParaRPr>
          </a:p>
        </p:txBody>
      </p:sp>
      <p:grpSp>
        <p:nvGrpSpPr>
          <p:cNvPr id="67" name="그룹 8"/>
          <p:cNvGrpSpPr>
            <a:grpSpLocks/>
          </p:cNvGrpSpPr>
          <p:nvPr/>
        </p:nvGrpSpPr>
        <p:grpSpPr>
          <a:xfrm rot="0">
            <a:off x="4754880" y="2514600"/>
            <a:ext cx="6675120" cy="3154680"/>
            <a:chOff x="4754880" y="2514600"/>
            <a:chExt cx="6675120" cy="3154680"/>
          </a:xfrm>
        </p:grpSpPr>
        <p:graphicFrame>
          <p:nvGraphicFramePr>
            <p:cNvPr id="61" name="Chart 0"/>
            <p:cNvGraphicFramePr/>
            <p:nvPr/>
          </p:nvGraphicFramePr>
          <p:xfrm>
            <a:off x="4754880" y="2514600"/>
            <a:ext cx="6675120" cy="3154680"/>
          </p:xfrm>
          <a:graphic>
            <a:graphicData uri="http://schemas.openxmlformats.org/drawingml/2006/chart">
              <c:chart xmlns:c="http://schemas.openxmlformats.org/drawingml/2006/chart" xmlns:r="http://schemas.openxmlformats.org/officeDocument/2006/relationships" r:id="rId1"/>
            </a:graphicData>
          </a:graphic>
        </p:graphicFrame>
        <p:sp>
          <p:nvSpPr>
            <p:cNvPr id="64" name="도형 1"/>
            <p:cNvSpPr>
              <a:spLocks/>
            </p:cNvSpPr>
            <p:nvPr/>
          </p:nvSpPr>
          <p:spPr>
            <a:xfrm rot="0">
              <a:off x="10452735" y="2824480"/>
              <a:ext cx="764540" cy="567690"/>
            </a:xfrm>
            <a:prstGeom prst="rect"/>
            <a:solidFill>
              <a:srgbClr val="FFFCF6"/>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hangingPunct="1"/>
              <a:r>
                <a:rPr sz="1800" b="1">
                  <a:solidFill>
                    <a:schemeClr val="tx1"/>
                  </a:solidFill>
                  <a:latin typeface="맑은 고딕" charset="0"/>
                  <a:ea typeface="맑은 고딕" charset="0"/>
                </a:rPr>
                <a:t>6</a:t>
              </a:r>
              <a:r>
                <a:rPr sz="1800" b="1">
                  <a:solidFill>
                    <a:schemeClr val="tx1"/>
                  </a:solidFill>
                  <a:latin typeface="맑은 고딕" charset="0"/>
                  <a:ea typeface="맑은 고딕" charset="0"/>
                </a:rPr>
                <a:t>1%</a:t>
              </a:r>
              <a:endParaRPr lang="ko-KR" altLang="en-US" sz="1800" b="1">
                <a:solidFill>
                  <a:schemeClr val="tx1"/>
                </a:solidFill>
                <a:latin typeface="맑은 고딕" charset="0"/>
                <a:ea typeface="맑은 고딕" charset="0"/>
              </a:endParaRPr>
            </a:p>
          </p:txBody>
        </p:sp>
        <p:sp>
          <p:nvSpPr>
            <p:cNvPr id="65" name="도형 6"/>
            <p:cNvSpPr>
              <a:spLocks/>
            </p:cNvSpPr>
            <p:nvPr/>
          </p:nvSpPr>
          <p:spPr>
            <a:xfrm rot="0">
              <a:off x="9792970" y="3797300"/>
              <a:ext cx="764540" cy="567690"/>
            </a:xfrm>
            <a:prstGeom prst="rect"/>
            <a:solidFill>
              <a:srgbClr val="FFFCF6"/>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hangingPunct="1"/>
              <a:r>
                <a:rPr lang="ko-KR" sz="1800" b="1">
                  <a:solidFill>
                    <a:schemeClr val="tx1"/>
                  </a:solidFill>
                  <a:latin typeface="맑은 고딕" charset="0"/>
                  <a:ea typeface="맑은 고딕" charset="0"/>
                </a:rPr>
                <a:t>5</a:t>
              </a:r>
              <a:r>
                <a:rPr sz="1800" b="1">
                  <a:solidFill>
                    <a:schemeClr val="tx1"/>
                  </a:solidFill>
                  <a:latin typeface="맑은 고딕" charset="0"/>
                  <a:ea typeface="맑은 고딕" charset="0"/>
                </a:rPr>
                <a:t>1%</a:t>
              </a:r>
              <a:endParaRPr lang="ko-KR" altLang="en-US" sz="1800" b="1">
                <a:solidFill>
                  <a:schemeClr val="tx1"/>
                </a:solidFill>
                <a:latin typeface="맑은 고딕" charset="0"/>
                <a:ea typeface="맑은 고딕" charset="0"/>
              </a:endParaRPr>
            </a:p>
          </p:txBody>
        </p:sp>
        <p:sp>
          <p:nvSpPr>
            <p:cNvPr id="66" name="도형 7"/>
            <p:cNvSpPr>
              <a:spLocks/>
            </p:cNvSpPr>
            <p:nvPr/>
          </p:nvSpPr>
          <p:spPr>
            <a:xfrm rot="0">
              <a:off x="8554720" y="4804410"/>
              <a:ext cx="764540" cy="567690"/>
            </a:xfrm>
            <a:prstGeom prst="rect"/>
            <a:solidFill>
              <a:srgbClr val="FFFCF6"/>
            </a:solidFill>
            <a:ln>
              <a:noFill/>
              <a:prst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vert="horz" anchor="ctr">
              <a:noAutofit/>
            </a:bodyPr>
            <a:lstStyle/>
            <a:p>
              <a:pPr marL="0" indent="0" algn="ctr" hangingPunct="1"/>
              <a:r>
                <a:rPr lang="ko-KR" sz="1800" b="1">
                  <a:solidFill>
                    <a:schemeClr val="tx1"/>
                  </a:solidFill>
                  <a:latin typeface="맑은 고딕" charset="0"/>
                  <a:ea typeface="맑은 고딕" charset="0"/>
                </a:rPr>
                <a:t>3</a:t>
              </a:r>
              <a:r>
                <a:rPr sz="1800" b="1">
                  <a:solidFill>
                    <a:schemeClr val="tx1"/>
                  </a:solidFill>
                  <a:latin typeface="맑은 고딕" charset="0"/>
                  <a:ea typeface="맑은 고딕" charset="0"/>
                </a:rPr>
                <a:t>1%</a:t>
              </a:r>
              <a:endParaRPr lang="ko-KR" altLang="en-US" sz="1800" b="1">
                <a:solidFill>
                  <a:schemeClr val="tx1"/>
                </a:solidFill>
                <a:latin typeface="맑은 고딕" charset="0"/>
                <a:ea typeface="맑은 고딕" charset="0"/>
              </a:endParaRPr>
            </a:p>
          </p:txBody>
        </p:sp>
      </p:gr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64"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65"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02</a:t>
            </a:r>
            <a:endParaRPr b="0" lang="en-US" sz="1300" spc="-1" strike="noStrike">
              <a:solidFill>
                <a:srgbClr val="000000"/>
              </a:solidFill>
              <a:latin typeface="Noto Sans KR"/>
            </a:endParaRPr>
          </a:p>
        </p:txBody>
      </p:sp>
      <p:sp>
        <p:nvSpPr>
          <p:cNvPr id="66"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GOAL · </a:t>
            </a:r>
            <a:r>
              <a:rPr b="1" lang="ko-KR" sz="1400" spc="199" strike="noStrike">
                <a:solidFill>
                  <a:srgbClr val="b5654a"/>
                </a:solidFill>
                <a:latin typeface="Malgun Gothic"/>
                <a:ea typeface="Malgun Gothic"/>
              </a:rPr>
              <a:t>프로젝트 목표</a:t>
            </a:r>
            <a:endParaRPr b="0" lang="en-US" sz="1400" spc="-1" strike="noStrike">
              <a:solidFill>
                <a:srgbClr val="000000"/>
              </a:solidFill>
              <a:latin typeface="Noto Sans KR"/>
            </a:endParaRPr>
          </a:p>
        </p:txBody>
      </p:sp>
      <p:sp>
        <p:nvSpPr>
          <p:cNvPr id="67"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내 방을 꾸미듯</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내 운동 습관도 키울 수 없을까</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68" name="Shape 4"/>
          <p:cNvSpPr/>
          <p:nvPr/>
        </p:nvSpPr>
        <p:spPr>
          <a:xfrm>
            <a:off x="548640" y="1874520"/>
            <a:ext cx="2605405" cy="2331085"/>
          </a:xfrm>
          <a:prstGeom prst="roundRect">
            <a:avLst>
              <a:gd name="adj" fmla="val 549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69" name="Shape 5"/>
          <p:cNvSpPr/>
          <p:nvPr/>
        </p:nvSpPr>
        <p:spPr>
          <a:xfrm>
            <a:off x="822960" y="2103120"/>
            <a:ext cx="713105" cy="713105"/>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70" name="Image 0"/>
          <p:cNvPicPr/>
          <p:nvPr/>
        </p:nvPicPr>
        <p:blipFill>
          <a:blip r:embed="rId1"/>
          <a:stretch/>
        </p:blipFill>
        <p:spPr>
          <a:xfrm>
            <a:off x="1008380" y="2288540"/>
            <a:ext cx="342265" cy="342265"/>
          </a:xfrm>
          <a:prstGeom prst="rect">
            <a:avLst/>
          </a:prstGeom>
          <a:ln w="0">
            <a:noFill/>
          </a:ln>
        </p:spPr>
      </p:pic>
      <p:sp>
        <p:nvSpPr>
          <p:cNvPr id="71" name="Text 6"/>
          <p:cNvSpPr/>
          <p:nvPr/>
        </p:nvSpPr>
        <p:spPr>
          <a:xfrm>
            <a:off x="822960" y="2971800"/>
            <a:ext cx="2148205" cy="4108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1e2621"/>
                </a:solidFill>
                <a:latin typeface="Malgun Gothic"/>
                <a:ea typeface="Malgun Gothic"/>
              </a:rPr>
              <a:t>나만의 운동방</a:t>
            </a:r>
            <a:endParaRPr b="0" lang="en-US" sz="2000" spc="-1" strike="noStrike">
              <a:solidFill>
                <a:srgbClr val="000000"/>
              </a:solidFill>
              <a:latin typeface="Noto Sans KR"/>
            </a:endParaRPr>
          </a:p>
        </p:txBody>
      </p:sp>
      <p:sp>
        <p:nvSpPr>
          <p:cNvPr id="72" name="Text 7"/>
          <p:cNvSpPr/>
          <p:nvPr/>
        </p:nvSpPr>
        <p:spPr>
          <a:xfrm>
            <a:off x="822960" y="3429000"/>
            <a:ext cx="2102485" cy="6394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5e5b52"/>
                </a:solidFill>
                <a:latin typeface="Malgun Gothic"/>
                <a:ea typeface="Malgun Gothic"/>
              </a:rPr>
              <a:t>다시 방문하고 싶은 공간</a:t>
            </a:r>
            <a:endParaRPr b="0" lang="en-US" sz="1400" spc="-1" strike="noStrike">
              <a:solidFill>
                <a:srgbClr val="000000"/>
              </a:solidFill>
              <a:latin typeface="Noto Sans KR"/>
            </a:endParaRPr>
          </a:p>
        </p:txBody>
      </p:sp>
      <p:sp>
        <p:nvSpPr>
          <p:cNvPr id="73" name="Shape 8"/>
          <p:cNvSpPr/>
          <p:nvPr/>
        </p:nvSpPr>
        <p:spPr>
          <a:xfrm>
            <a:off x="3368040" y="1874520"/>
            <a:ext cx="2605405" cy="2331085"/>
          </a:xfrm>
          <a:prstGeom prst="roundRect">
            <a:avLst>
              <a:gd name="adj" fmla="val 549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74" name="Shape 9"/>
          <p:cNvSpPr/>
          <p:nvPr/>
        </p:nvSpPr>
        <p:spPr>
          <a:xfrm>
            <a:off x="3642360" y="2103120"/>
            <a:ext cx="713105" cy="713105"/>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75" name="Image 1"/>
          <p:cNvPicPr/>
          <p:nvPr/>
        </p:nvPicPr>
        <p:blipFill>
          <a:blip r:embed="rId2"/>
          <a:stretch/>
        </p:blipFill>
        <p:spPr>
          <a:xfrm>
            <a:off x="3827780" y="2288540"/>
            <a:ext cx="342265" cy="342265"/>
          </a:xfrm>
          <a:prstGeom prst="rect">
            <a:avLst/>
          </a:prstGeom>
          <a:ln w="0">
            <a:noFill/>
          </a:ln>
        </p:spPr>
      </p:pic>
      <p:sp>
        <p:nvSpPr>
          <p:cNvPr id="76" name="Text 10"/>
          <p:cNvSpPr/>
          <p:nvPr/>
        </p:nvSpPr>
        <p:spPr>
          <a:xfrm>
            <a:off x="3642360" y="2971800"/>
            <a:ext cx="2148205" cy="4108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1e2621"/>
                </a:solidFill>
                <a:latin typeface="Malgun Gothic"/>
                <a:ea typeface="Malgun Gothic"/>
              </a:rPr>
              <a:t>운동 기록과 보상</a:t>
            </a:r>
            <a:endParaRPr b="0" lang="en-US" sz="2000" spc="-1" strike="noStrike">
              <a:solidFill>
                <a:srgbClr val="000000"/>
              </a:solidFill>
              <a:latin typeface="Noto Sans KR"/>
            </a:endParaRPr>
          </a:p>
        </p:txBody>
      </p:sp>
      <p:sp>
        <p:nvSpPr>
          <p:cNvPr id="77" name="Text 11"/>
          <p:cNvSpPr/>
          <p:nvPr/>
        </p:nvSpPr>
        <p:spPr>
          <a:xfrm>
            <a:off x="3642360" y="3429000"/>
            <a:ext cx="2102485" cy="6394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5e5b52"/>
                </a:solidFill>
                <a:latin typeface="Malgun Gothic"/>
                <a:ea typeface="Malgun Gothic"/>
              </a:rPr>
              <a:t>운동한 결과를 눈으로 확인하는 재미</a:t>
            </a:r>
            <a:endParaRPr b="0" lang="en-US" sz="1400" spc="-1" strike="noStrike">
              <a:solidFill>
                <a:srgbClr val="000000"/>
              </a:solidFill>
              <a:latin typeface="Noto Sans KR"/>
            </a:endParaRPr>
          </a:p>
        </p:txBody>
      </p:sp>
      <p:sp>
        <p:nvSpPr>
          <p:cNvPr id="78" name="Shape 12"/>
          <p:cNvSpPr/>
          <p:nvPr/>
        </p:nvSpPr>
        <p:spPr>
          <a:xfrm>
            <a:off x="6186805" y="1874520"/>
            <a:ext cx="2605405" cy="2331085"/>
          </a:xfrm>
          <a:prstGeom prst="roundRect">
            <a:avLst>
              <a:gd name="adj" fmla="val 549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79" name="Shape 13"/>
          <p:cNvSpPr/>
          <p:nvPr/>
        </p:nvSpPr>
        <p:spPr>
          <a:xfrm>
            <a:off x="6461125" y="2103120"/>
            <a:ext cx="713105" cy="713105"/>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80" name="Image 2"/>
          <p:cNvPicPr/>
          <p:nvPr/>
        </p:nvPicPr>
        <p:blipFill>
          <a:blip r:embed="rId3"/>
          <a:stretch/>
        </p:blipFill>
        <p:spPr>
          <a:xfrm>
            <a:off x="6646545" y="2288540"/>
            <a:ext cx="342265" cy="342265"/>
          </a:xfrm>
          <a:prstGeom prst="rect">
            <a:avLst/>
          </a:prstGeom>
          <a:ln w="0">
            <a:noFill/>
          </a:ln>
        </p:spPr>
      </p:pic>
      <p:sp>
        <p:nvSpPr>
          <p:cNvPr id="81" name="Text 14"/>
          <p:cNvSpPr/>
          <p:nvPr/>
        </p:nvSpPr>
        <p:spPr>
          <a:xfrm>
            <a:off x="6461125" y="2971800"/>
            <a:ext cx="2148205" cy="4108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1e2621"/>
                </a:solidFill>
                <a:latin typeface="Malgun Gothic"/>
                <a:ea typeface="Malgun Gothic"/>
              </a:rPr>
              <a:t>친구 방문과 교류</a:t>
            </a:r>
            <a:endParaRPr b="0" lang="en-US" sz="2000" spc="-1" strike="noStrike">
              <a:solidFill>
                <a:srgbClr val="000000"/>
              </a:solidFill>
              <a:latin typeface="Noto Sans KR"/>
            </a:endParaRPr>
          </a:p>
        </p:txBody>
      </p:sp>
      <p:sp>
        <p:nvSpPr>
          <p:cNvPr id="82" name="Text 15"/>
          <p:cNvSpPr/>
          <p:nvPr/>
        </p:nvSpPr>
        <p:spPr>
          <a:xfrm>
            <a:off x="6461125" y="3429000"/>
            <a:ext cx="2102485" cy="6394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5e5b52"/>
                </a:solidFill>
                <a:latin typeface="Malgun Gothic"/>
                <a:ea typeface="Malgun Gothic"/>
              </a:rPr>
              <a:t>함께 운동을 이어갈 동기</a:t>
            </a:r>
            <a:endParaRPr b="0" lang="en-US" sz="1400" spc="-1" strike="noStrike">
              <a:solidFill>
                <a:srgbClr val="000000"/>
              </a:solidFill>
              <a:latin typeface="Noto Sans KR"/>
            </a:endParaRPr>
          </a:p>
        </p:txBody>
      </p:sp>
      <p:sp>
        <p:nvSpPr>
          <p:cNvPr id="83" name="Shape 16"/>
          <p:cNvSpPr/>
          <p:nvPr/>
        </p:nvSpPr>
        <p:spPr>
          <a:xfrm>
            <a:off x="9005570" y="1874520"/>
            <a:ext cx="2605405" cy="2331085"/>
          </a:xfrm>
          <a:prstGeom prst="roundRect">
            <a:avLst>
              <a:gd name="adj" fmla="val 5490"/>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84" name="Shape 17"/>
          <p:cNvSpPr/>
          <p:nvPr/>
        </p:nvSpPr>
        <p:spPr>
          <a:xfrm>
            <a:off x="9279890" y="2103120"/>
            <a:ext cx="713105" cy="713105"/>
          </a:xfrm>
          <a:prstGeom prst="ellipse">
            <a:avLst/>
          </a:prstGeom>
          <a:solidFill>
            <a:srgbClr val="4f7a9a"/>
          </a:solidFill>
          <a:ln w="12700">
            <a:solidFill>
              <a:srgbClr val="4f7a9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85" name="Image 3"/>
          <p:cNvPicPr/>
          <p:nvPr/>
        </p:nvPicPr>
        <p:blipFill>
          <a:blip r:embed="rId4"/>
          <a:stretch/>
        </p:blipFill>
        <p:spPr>
          <a:xfrm>
            <a:off x="9465945" y="2288540"/>
            <a:ext cx="342265" cy="342265"/>
          </a:xfrm>
          <a:prstGeom prst="rect">
            <a:avLst/>
          </a:prstGeom>
          <a:ln w="0">
            <a:noFill/>
          </a:ln>
        </p:spPr>
      </p:pic>
      <p:sp>
        <p:nvSpPr>
          <p:cNvPr id="86" name="Text 18"/>
          <p:cNvSpPr/>
          <p:nvPr/>
        </p:nvSpPr>
        <p:spPr>
          <a:xfrm>
            <a:off x="9279890" y="2971800"/>
            <a:ext cx="2148205" cy="4108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1e2621"/>
                </a:solidFill>
                <a:latin typeface="Malgun Gothic"/>
                <a:ea typeface="Malgun Gothic"/>
              </a:rPr>
              <a:t>운동 장소 추천</a:t>
            </a:r>
            <a:endParaRPr b="0" lang="en-US" sz="2000" spc="-1" strike="noStrike">
              <a:solidFill>
                <a:srgbClr val="000000"/>
              </a:solidFill>
              <a:latin typeface="Noto Sans KR"/>
            </a:endParaRPr>
          </a:p>
        </p:txBody>
      </p:sp>
      <p:sp>
        <p:nvSpPr>
          <p:cNvPr id="87" name="Text 19"/>
          <p:cNvSpPr/>
          <p:nvPr/>
        </p:nvSpPr>
        <p:spPr>
          <a:xfrm>
            <a:off x="9279890" y="3429000"/>
            <a:ext cx="2102485" cy="6394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5e5b52"/>
                </a:solidFill>
                <a:latin typeface="Malgun Gothic"/>
                <a:ea typeface="Malgun Gothic"/>
              </a:rPr>
              <a:t>실제로 운동을 시작할 때 필요한 도움</a:t>
            </a:r>
            <a:endParaRPr b="0" lang="en-US" sz="1400" spc="-1" strike="noStrike">
              <a:solidFill>
                <a:srgbClr val="000000"/>
              </a:solidFill>
              <a:latin typeface="Noto Sans KR"/>
            </a:endParaRPr>
          </a:p>
        </p:txBody>
      </p:sp>
      <p:sp>
        <p:nvSpPr>
          <p:cNvPr id="88" name="Shape 20"/>
          <p:cNvSpPr/>
          <p:nvPr/>
        </p:nvSpPr>
        <p:spPr>
          <a:xfrm>
            <a:off x="548640" y="4572000"/>
            <a:ext cx="1782445" cy="566420"/>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89" name="Text 21"/>
          <p:cNvSpPr/>
          <p:nvPr/>
        </p:nvSpPr>
        <p:spPr>
          <a:xfrm>
            <a:off x="548640" y="4572000"/>
            <a:ext cx="1782445" cy="5664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ffffff"/>
                </a:solidFill>
                <a:latin typeface="Malgun Gothic"/>
                <a:ea typeface="Malgun Gothic"/>
              </a:rPr>
              <a:t>추천</a:t>
            </a:r>
            <a:endParaRPr b="0" lang="en-US" sz="1800" spc="-1" strike="noStrike">
              <a:solidFill>
                <a:srgbClr val="000000"/>
              </a:solidFill>
              <a:latin typeface="Noto Sans KR"/>
            </a:endParaRPr>
          </a:p>
        </p:txBody>
      </p:sp>
      <p:sp>
        <p:nvSpPr>
          <p:cNvPr id="90" name="Shape 22"/>
          <p:cNvSpPr/>
          <p:nvPr/>
        </p:nvSpPr>
        <p:spPr>
          <a:xfrm>
            <a:off x="2441575" y="4718050"/>
            <a:ext cx="319405"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1" name="Shape 23"/>
          <p:cNvSpPr/>
          <p:nvPr/>
        </p:nvSpPr>
        <p:spPr>
          <a:xfrm>
            <a:off x="2871470" y="4572000"/>
            <a:ext cx="1782445" cy="566420"/>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2" name="Text 24"/>
          <p:cNvSpPr/>
          <p:nvPr/>
        </p:nvSpPr>
        <p:spPr>
          <a:xfrm>
            <a:off x="2871470" y="4572000"/>
            <a:ext cx="1782445" cy="5664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1e2621"/>
                </a:solidFill>
                <a:latin typeface="Malgun Gothic"/>
                <a:ea typeface="Malgun Gothic"/>
              </a:rPr>
              <a:t>실제 운동</a:t>
            </a:r>
            <a:endParaRPr b="0" lang="en-US" sz="1800" spc="-1" strike="noStrike">
              <a:solidFill>
                <a:srgbClr val="000000"/>
              </a:solidFill>
              <a:latin typeface="Noto Sans KR"/>
            </a:endParaRPr>
          </a:p>
        </p:txBody>
      </p:sp>
      <p:sp>
        <p:nvSpPr>
          <p:cNvPr id="93" name="Shape 25"/>
          <p:cNvSpPr/>
          <p:nvPr/>
        </p:nvSpPr>
        <p:spPr>
          <a:xfrm>
            <a:off x="4763770" y="4718050"/>
            <a:ext cx="319405"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4" name="Shape 26"/>
          <p:cNvSpPr/>
          <p:nvPr/>
        </p:nvSpPr>
        <p:spPr>
          <a:xfrm>
            <a:off x="5193665" y="4572000"/>
            <a:ext cx="1782445" cy="566420"/>
          </a:xfrm>
          <a:prstGeom prst="roundRect">
            <a:avLst>
              <a:gd name="adj" fmla="val 50000"/>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5" name="Text 27"/>
          <p:cNvSpPr/>
          <p:nvPr/>
        </p:nvSpPr>
        <p:spPr>
          <a:xfrm>
            <a:off x="5193665" y="4572000"/>
            <a:ext cx="1782445" cy="5664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1e2621"/>
                </a:solidFill>
                <a:latin typeface="Malgun Gothic"/>
                <a:ea typeface="Malgun Gothic"/>
              </a:rPr>
              <a:t>기록</a:t>
            </a:r>
            <a:endParaRPr b="0" lang="en-US" sz="1800" spc="-1" strike="noStrike">
              <a:solidFill>
                <a:srgbClr val="000000"/>
              </a:solidFill>
              <a:latin typeface="Noto Sans KR"/>
            </a:endParaRPr>
          </a:p>
        </p:txBody>
      </p:sp>
      <p:sp>
        <p:nvSpPr>
          <p:cNvPr id="96" name="Shape 28"/>
          <p:cNvSpPr/>
          <p:nvPr/>
        </p:nvSpPr>
        <p:spPr>
          <a:xfrm>
            <a:off x="7086600" y="4718050"/>
            <a:ext cx="319405"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7" name="Shape 29"/>
          <p:cNvSpPr/>
          <p:nvPr/>
        </p:nvSpPr>
        <p:spPr>
          <a:xfrm>
            <a:off x="7516495" y="4572000"/>
            <a:ext cx="1782445" cy="566420"/>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98" name="Text 30"/>
          <p:cNvSpPr/>
          <p:nvPr/>
        </p:nvSpPr>
        <p:spPr>
          <a:xfrm>
            <a:off x="7516495" y="4572000"/>
            <a:ext cx="1782445" cy="5664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ffffff"/>
                </a:solidFill>
                <a:latin typeface="Malgun Gothic"/>
                <a:ea typeface="Malgun Gothic"/>
              </a:rPr>
              <a:t>시각적 보상</a:t>
            </a:r>
            <a:endParaRPr b="0" lang="en-US" sz="1800" spc="-1" strike="noStrike">
              <a:solidFill>
                <a:srgbClr val="000000"/>
              </a:solidFill>
              <a:latin typeface="Noto Sans KR"/>
            </a:endParaRPr>
          </a:p>
        </p:txBody>
      </p:sp>
      <p:sp>
        <p:nvSpPr>
          <p:cNvPr id="99" name="Shape 31"/>
          <p:cNvSpPr/>
          <p:nvPr/>
        </p:nvSpPr>
        <p:spPr>
          <a:xfrm>
            <a:off x="9409430" y="4718050"/>
            <a:ext cx="319405" cy="273685"/>
          </a:xfrm>
          <a:prstGeom prst="rightArrow">
            <a:avLst>
              <a:gd name="adj1" fmla="val 50000"/>
              <a:gd name="adj2"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00" name="Shape 32"/>
          <p:cNvSpPr/>
          <p:nvPr/>
        </p:nvSpPr>
        <p:spPr>
          <a:xfrm>
            <a:off x="9838690" y="4572000"/>
            <a:ext cx="1782445" cy="566420"/>
          </a:xfrm>
          <a:prstGeom prst="roundRect">
            <a:avLst>
              <a:gd name="adj" fmla="val 50000"/>
            </a:avLst>
          </a:prstGeom>
          <a:solidFill>
            <a:srgbClr val="1e3b2f"/>
          </a:solidFill>
          <a:ln w="12700">
            <a:solidFill>
              <a:srgbClr val="1e3b2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Noto Sans KR"/>
            </a:endParaRPr>
          </a:p>
        </p:txBody>
      </p:sp>
      <p:sp>
        <p:nvSpPr>
          <p:cNvPr id="101" name="Text 33"/>
          <p:cNvSpPr/>
          <p:nvPr/>
        </p:nvSpPr>
        <p:spPr>
          <a:xfrm>
            <a:off x="9838690" y="4572000"/>
            <a:ext cx="1782445" cy="5664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800" spc="-1" strike="noStrike">
                <a:solidFill>
                  <a:srgbClr val="ffffff"/>
                </a:solidFill>
                <a:latin typeface="Malgun Gothic"/>
                <a:ea typeface="Malgun Gothic"/>
              </a:rPr>
              <a:t>다음 운동</a:t>
            </a:r>
            <a:endParaRPr b="0" lang="en-US" sz="1800" spc="-1" strike="noStrike">
              <a:solidFill>
                <a:srgbClr val="000000"/>
              </a:solidFill>
              <a:latin typeface="Noto Sans KR"/>
            </a:endParaRPr>
          </a:p>
        </p:txBody>
      </p:sp>
      <p:sp>
        <p:nvSpPr>
          <p:cNvPr id="102" name="Shape 34"/>
          <p:cNvSpPr/>
          <p:nvPr/>
        </p:nvSpPr>
        <p:spPr>
          <a:xfrm>
            <a:off x="548640" y="5440680"/>
            <a:ext cx="11091545" cy="776605"/>
          </a:xfrm>
          <a:prstGeom prst="roundRect">
            <a:avLst>
              <a:gd name="adj" fmla="val 16471"/>
            </a:avLst>
          </a:prstGeom>
          <a:solidFill>
            <a:srgbClr val="e3ede5"/>
          </a:solidFill>
          <a:ln w="12700">
            <a:solidFill>
              <a:srgbClr val="e3ede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03" name="Text 35"/>
          <p:cNvSpPr/>
          <p:nvPr/>
        </p:nvSpPr>
        <p:spPr>
          <a:xfrm>
            <a:off x="822960" y="5440680"/>
            <a:ext cx="10606405" cy="77660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b5654a"/>
                </a:solidFill>
                <a:latin typeface="Malgun Gothic"/>
                <a:ea typeface="Malgun Gothic"/>
              </a:rPr>
              <a:t>목표  </a:t>
            </a:r>
            <a:r>
              <a:rPr b="1" lang="ko-KR" sz="1800" spc="-1" strike="noStrike">
                <a:solidFill>
                  <a:srgbClr val="1e3b2f"/>
                </a:solidFill>
                <a:latin typeface="Malgun Gothic"/>
                <a:ea typeface="Malgun Gothic"/>
              </a:rPr>
              <a:t>운동을 ‘꾸준히’하도록 돕는 것 —  주인공은 방이 아니라 사용자의 실제 운동입니다</a:t>
            </a:r>
            <a:endParaRPr b="0" lang="en-US" sz="1800" spc="-1" strike="noStrike">
              <a:solidFill>
                <a:srgbClr val="000000"/>
              </a:solidFill>
              <a:latin typeface="Noto Sans KR"/>
            </a:endParaRPr>
          </a:p>
        </p:txBody>
      </p:sp>
      <p:sp>
        <p:nvSpPr>
          <p:cNvPr id="104" name="Text 36"/>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105" name="Text 37"/>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05</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106"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07"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02</a:t>
            </a:r>
            <a:endParaRPr b="0" lang="en-US" sz="1300" spc="-1" strike="noStrike">
              <a:solidFill>
                <a:srgbClr val="000000"/>
              </a:solidFill>
              <a:latin typeface="Noto Sans KR"/>
            </a:endParaRPr>
          </a:p>
        </p:txBody>
      </p:sp>
      <p:sp>
        <p:nvSpPr>
          <p:cNvPr id="108"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GOAL · </a:t>
            </a:r>
            <a:r>
              <a:rPr b="1" lang="ko-KR" sz="1400" spc="199" strike="noStrike">
                <a:solidFill>
                  <a:srgbClr val="b5654a"/>
                </a:solidFill>
                <a:latin typeface="Malgun Gothic"/>
                <a:ea typeface="Malgun Gothic"/>
              </a:rPr>
              <a:t>보상 구조</a:t>
            </a:r>
            <a:endParaRPr b="0" lang="en-US" sz="1400" spc="-1" strike="noStrike">
              <a:solidFill>
                <a:srgbClr val="000000"/>
              </a:solidFill>
              <a:latin typeface="Noto Sans KR"/>
            </a:endParaRPr>
          </a:p>
        </p:txBody>
      </p:sp>
      <p:sp>
        <p:nvSpPr>
          <p:cNvPr id="109"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운동할수록</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방이 채워집니다</a:t>
            </a:r>
            <a:endParaRPr b="0" lang="en-US" sz="3400" spc="-1" strike="noStrike">
              <a:solidFill>
                <a:srgbClr val="000000"/>
              </a:solidFill>
              <a:latin typeface="Noto Sans KR"/>
            </a:endParaRPr>
          </a:p>
        </p:txBody>
      </p:sp>
      <p:sp>
        <p:nvSpPr>
          <p:cNvPr id="110" name="Shape 4"/>
          <p:cNvSpPr/>
          <p:nvPr/>
        </p:nvSpPr>
        <p:spPr>
          <a:xfrm>
            <a:off x="548640" y="1783080"/>
            <a:ext cx="5202555" cy="3112770"/>
          </a:xfrm>
          <a:prstGeom prst="roundRect">
            <a:avLst>
              <a:gd name="adj" fmla="val 4112"/>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11" name="Shape 5"/>
          <p:cNvSpPr/>
          <p:nvPr/>
        </p:nvSpPr>
        <p:spPr>
          <a:xfrm>
            <a:off x="676910" y="190182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2" name="Shape 6"/>
          <p:cNvSpPr/>
          <p:nvPr/>
        </p:nvSpPr>
        <p:spPr>
          <a:xfrm>
            <a:off x="841375" y="190182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3" name="Shape 7"/>
          <p:cNvSpPr/>
          <p:nvPr/>
        </p:nvSpPr>
        <p:spPr>
          <a:xfrm>
            <a:off x="1005840" y="190182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4" name="Text 8"/>
          <p:cNvSpPr/>
          <p:nvPr/>
        </p:nvSpPr>
        <p:spPr>
          <a:xfrm>
            <a:off x="1225550" y="1837690"/>
            <a:ext cx="434276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5e5b52"/>
                </a:solidFill>
                <a:latin typeface="Malgun Gothic"/>
                <a:ea typeface="Malgun Gothic"/>
              </a:rPr>
              <a:t>BEFORE · </a:t>
            </a:r>
            <a:r>
              <a:rPr b="1" lang="ko-KR" sz="1100" spc="199" strike="noStrike">
                <a:solidFill>
                  <a:srgbClr val="5e5b52"/>
                </a:solidFill>
                <a:latin typeface="Malgun Gothic"/>
                <a:ea typeface="Malgun Gothic"/>
              </a:rPr>
              <a:t>기본 방</a:t>
            </a:r>
            <a:endParaRPr b="0" lang="en-US" sz="1100" spc="-1" strike="noStrike">
              <a:solidFill>
                <a:srgbClr val="000000"/>
              </a:solidFill>
              <a:latin typeface="Noto Sans KR"/>
            </a:endParaRPr>
          </a:p>
        </p:txBody>
      </p:sp>
      <p:pic>
        <p:nvPicPr>
          <p:cNvPr id="115" name="Image 0"/>
          <p:cNvPicPr/>
          <p:nvPr/>
        </p:nvPicPr>
        <p:blipFill>
          <a:blip r:embed="rId1"/>
          <a:stretch/>
        </p:blipFill>
        <p:spPr>
          <a:xfrm>
            <a:off x="658495" y="2240280"/>
            <a:ext cx="4982845" cy="2545715"/>
          </a:xfrm>
          <a:prstGeom prst="rect">
            <a:avLst/>
          </a:prstGeom>
          <a:ln w="0">
            <a:noFill/>
          </a:ln>
        </p:spPr>
      </p:pic>
      <p:sp>
        <p:nvSpPr>
          <p:cNvPr id="116" name="Shape 9"/>
          <p:cNvSpPr/>
          <p:nvPr/>
        </p:nvSpPr>
        <p:spPr>
          <a:xfrm>
            <a:off x="6437630" y="1783080"/>
            <a:ext cx="5202555" cy="3112770"/>
          </a:xfrm>
          <a:prstGeom prst="roundRect">
            <a:avLst>
              <a:gd name="adj" fmla="val 4112"/>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17" name="Shape 10"/>
          <p:cNvSpPr/>
          <p:nvPr/>
        </p:nvSpPr>
        <p:spPr>
          <a:xfrm>
            <a:off x="6565265" y="190182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8" name="Shape 11"/>
          <p:cNvSpPr/>
          <p:nvPr/>
        </p:nvSpPr>
        <p:spPr>
          <a:xfrm>
            <a:off x="6729730" y="190182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19" name="Shape 12"/>
          <p:cNvSpPr/>
          <p:nvPr/>
        </p:nvSpPr>
        <p:spPr>
          <a:xfrm>
            <a:off x="6894830" y="190182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120" name="Text 13"/>
          <p:cNvSpPr/>
          <p:nvPr/>
        </p:nvSpPr>
        <p:spPr>
          <a:xfrm>
            <a:off x="7113905" y="1837690"/>
            <a:ext cx="434276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5e5b52"/>
                </a:solidFill>
                <a:latin typeface="Malgun Gothic"/>
                <a:ea typeface="Malgun Gothic"/>
              </a:rPr>
              <a:t>AFTER · LV 50 </a:t>
            </a:r>
            <a:r>
              <a:rPr b="1" lang="ko-KR" sz="1100" spc="199" strike="noStrike">
                <a:solidFill>
                  <a:srgbClr val="5e5b52"/>
                </a:solidFill>
                <a:latin typeface="Malgun Gothic"/>
                <a:ea typeface="Malgun Gothic"/>
              </a:rPr>
              <a:t>보상 방</a:t>
            </a:r>
            <a:endParaRPr b="0" lang="en-US" sz="1100" spc="-1" strike="noStrike">
              <a:solidFill>
                <a:srgbClr val="000000"/>
              </a:solidFill>
              <a:latin typeface="Noto Sans KR"/>
            </a:endParaRPr>
          </a:p>
        </p:txBody>
      </p:sp>
      <p:pic>
        <p:nvPicPr>
          <p:cNvPr id="121" name="Image 1"/>
          <p:cNvPicPr/>
          <p:nvPr/>
        </p:nvPicPr>
        <p:blipFill>
          <a:blip r:embed="rId2"/>
          <a:stretch/>
        </p:blipFill>
        <p:spPr>
          <a:xfrm>
            <a:off x="6546850" y="2240280"/>
            <a:ext cx="4982845" cy="2545715"/>
          </a:xfrm>
          <a:prstGeom prst="rect">
            <a:avLst/>
          </a:prstGeom>
          <a:ln w="0">
            <a:noFill/>
          </a:ln>
        </p:spPr>
      </p:pic>
      <p:sp>
        <p:nvSpPr>
          <p:cNvPr id="122" name="Shape 14"/>
          <p:cNvSpPr/>
          <p:nvPr/>
        </p:nvSpPr>
        <p:spPr>
          <a:xfrm>
            <a:off x="5769610" y="3136265"/>
            <a:ext cx="639445" cy="639445"/>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23" name="Text 15"/>
          <p:cNvSpPr/>
          <p:nvPr/>
        </p:nvSpPr>
        <p:spPr>
          <a:xfrm>
            <a:off x="5769610" y="3136265"/>
            <a:ext cx="639445" cy="6394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600" spc="-1" strike="noStrike">
                <a:solidFill>
                  <a:srgbClr val="ffffff"/>
                </a:solidFill>
                <a:latin typeface="Malgun Gothic"/>
                <a:ea typeface="Malgun Gothic"/>
              </a:rPr>
              <a:t>→</a:t>
            </a:r>
            <a:endParaRPr b="0" lang="en-US" sz="2600" spc="-1" strike="noStrike">
              <a:solidFill>
                <a:srgbClr val="000000"/>
              </a:solidFill>
              <a:latin typeface="Noto Sans KR"/>
            </a:endParaRPr>
          </a:p>
        </p:txBody>
      </p:sp>
      <p:sp>
        <p:nvSpPr>
          <p:cNvPr id="124" name="Text 16"/>
          <p:cNvSpPr/>
          <p:nvPr/>
        </p:nvSpPr>
        <p:spPr>
          <a:xfrm>
            <a:off x="548640" y="5074920"/>
            <a:ext cx="13709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b5654a"/>
                </a:solidFill>
                <a:latin typeface="Malgun Gothic"/>
                <a:ea typeface="Malgun Gothic"/>
              </a:rPr>
              <a:t>소품 해금</a:t>
            </a:r>
            <a:endParaRPr b="0" lang="en-US" sz="1600" spc="-1" strike="noStrike">
              <a:solidFill>
                <a:srgbClr val="000000"/>
              </a:solidFill>
              <a:latin typeface="Noto Sans KR"/>
            </a:endParaRPr>
          </a:p>
        </p:txBody>
      </p:sp>
      <p:sp>
        <p:nvSpPr>
          <p:cNvPr id="125" name="Shape 17"/>
          <p:cNvSpPr/>
          <p:nvPr/>
        </p:nvSpPr>
        <p:spPr>
          <a:xfrm>
            <a:off x="154051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26" name="Text 18"/>
          <p:cNvSpPr/>
          <p:nvPr/>
        </p:nvSpPr>
        <p:spPr>
          <a:xfrm>
            <a:off x="154051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100 kcal</a:t>
            </a:r>
            <a:endParaRPr b="0" lang="en-US" sz="1250" spc="-1" strike="noStrike">
              <a:solidFill>
                <a:srgbClr val="000000"/>
              </a:solidFill>
              <a:latin typeface="Noto Sans KR"/>
            </a:endParaRPr>
          </a:p>
        </p:txBody>
      </p:sp>
      <p:sp>
        <p:nvSpPr>
          <p:cNvPr id="127" name="Shape 19"/>
          <p:cNvSpPr/>
          <p:nvPr/>
        </p:nvSpPr>
        <p:spPr>
          <a:xfrm>
            <a:off x="263779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28" name="Text 20"/>
          <p:cNvSpPr/>
          <p:nvPr/>
        </p:nvSpPr>
        <p:spPr>
          <a:xfrm>
            <a:off x="263779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250 kcal</a:t>
            </a:r>
            <a:endParaRPr b="0" lang="en-US" sz="1250" spc="-1" strike="noStrike">
              <a:solidFill>
                <a:srgbClr val="000000"/>
              </a:solidFill>
              <a:latin typeface="Noto Sans KR"/>
            </a:endParaRPr>
          </a:p>
        </p:txBody>
      </p:sp>
      <p:sp>
        <p:nvSpPr>
          <p:cNvPr id="129" name="Shape 21"/>
          <p:cNvSpPr/>
          <p:nvPr/>
        </p:nvSpPr>
        <p:spPr>
          <a:xfrm>
            <a:off x="373507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30" name="Text 22"/>
          <p:cNvSpPr/>
          <p:nvPr/>
        </p:nvSpPr>
        <p:spPr>
          <a:xfrm>
            <a:off x="373507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450 kcal</a:t>
            </a:r>
            <a:endParaRPr b="0" lang="en-US" sz="1250" spc="-1" strike="noStrike">
              <a:solidFill>
                <a:srgbClr val="000000"/>
              </a:solidFill>
              <a:latin typeface="Noto Sans KR"/>
            </a:endParaRPr>
          </a:p>
        </p:txBody>
      </p:sp>
      <p:sp>
        <p:nvSpPr>
          <p:cNvPr id="131" name="Shape 23"/>
          <p:cNvSpPr/>
          <p:nvPr/>
        </p:nvSpPr>
        <p:spPr>
          <a:xfrm>
            <a:off x="483235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32" name="Text 24"/>
          <p:cNvSpPr/>
          <p:nvPr/>
        </p:nvSpPr>
        <p:spPr>
          <a:xfrm>
            <a:off x="483235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700 kcal</a:t>
            </a:r>
            <a:endParaRPr b="0" lang="en-US" sz="1250" spc="-1" strike="noStrike">
              <a:solidFill>
                <a:srgbClr val="000000"/>
              </a:solidFill>
              <a:latin typeface="Noto Sans KR"/>
            </a:endParaRPr>
          </a:p>
        </p:txBody>
      </p:sp>
      <p:sp>
        <p:nvSpPr>
          <p:cNvPr id="133" name="Shape 25"/>
          <p:cNvSpPr/>
          <p:nvPr/>
        </p:nvSpPr>
        <p:spPr>
          <a:xfrm>
            <a:off x="592963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34" name="Text 26"/>
          <p:cNvSpPr/>
          <p:nvPr/>
        </p:nvSpPr>
        <p:spPr>
          <a:xfrm>
            <a:off x="592963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1,000 kcal</a:t>
            </a:r>
            <a:endParaRPr b="0" lang="en-US" sz="1250" spc="-1" strike="noStrike">
              <a:solidFill>
                <a:srgbClr val="000000"/>
              </a:solidFill>
              <a:latin typeface="Noto Sans KR"/>
            </a:endParaRPr>
          </a:p>
        </p:txBody>
      </p:sp>
      <p:sp>
        <p:nvSpPr>
          <p:cNvPr id="135" name="Shape 27"/>
          <p:cNvSpPr/>
          <p:nvPr/>
        </p:nvSpPr>
        <p:spPr>
          <a:xfrm>
            <a:off x="7026910" y="5074920"/>
            <a:ext cx="987425" cy="41084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36" name="Text 28"/>
          <p:cNvSpPr/>
          <p:nvPr/>
        </p:nvSpPr>
        <p:spPr>
          <a:xfrm>
            <a:off x="7026910" y="5074920"/>
            <a:ext cx="98742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1e2621"/>
                </a:solidFill>
                <a:latin typeface="Malgun Gothic"/>
                <a:ea typeface="Malgun Gothic"/>
              </a:rPr>
              <a:t>1,500 kcal</a:t>
            </a:r>
            <a:endParaRPr b="0" lang="en-US" sz="1250" spc="-1" strike="noStrike">
              <a:solidFill>
                <a:srgbClr val="000000"/>
              </a:solidFill>
              <a:latin typeface="Noto Sans KR"/>
            </a:endParaRPr>
          </a:p>
        </p:txBody>
      </p:sp>
      <p:sp>
        <p:nvSpPr>
          <p:cNvPr id="137" name="Text 29"/>
          <p:cNvSpPr>
            <a:spLocks/>
          </p:cNvSpPr>
          <p:nvPr/>
        </p:nvSpPr>
        <p:spPr>
          <a:xfrm rot="0">
            <a:off x="8008620" y="5074920"/>
            <a:ext cx="3559175" cy="411480"/>
          </a:xfrm>
          <a:prstGeom prst="rect"/>
          <a:noFill/>
          <a:ln>
            <a:noFill/>
            <a:prstDash/>
          </a:ln>
        </p:spPr>
        <p:style>
          <a:lnRef idx="0"/>
          <a:fillRef idx="0"/>
          <a:effectRef idx="0"/>
          <a:fontRef idx="minor"/>
        </p:style>
        <p:txBody>
          <a:bodyPr wrap="square" lIns="0" tIns="0" rIns="0" bIns="0" numCol="1" vert="horz" anchor="ctr">
            <a:noAutofit/>
          </a:bodyPr>
          <a:lstStyle/>
          <a:p>
            <a:pPr marL="0" indent="0" algn="r" defTabSz="914400">
              <a:lnSpc>
                <a:spcPct val="100000"/>
              </a:lnSpc>
              <a:buFontTx/>
              <a:buNone/>
              <a:tabLst>
                <a:tab pos="0" algn="l"/>
              </a:tabLst>
            </a:pPr>
            <a:r>
              <a:rPr lang="en-US" sz="1400" b="1" strike="noStrike">
                <a:solidFill>
                  <a:srgbClr val="2E5A46"/>
                </a:solidFill>
                <a:latin typeface="Malgun Gothic" charset="0"/>
                <a:ea typeface="Malgun Gothic" charset="0"/>
              </a:rPr>
              <a:t>ROOM LEVEL = </a:t>
            </a:r>
            <a:r>
              <a:rPr lang="ko-KR" sz="1400" b="1" strike="noStrike">
                <a:solidFill>
                  <a:srgbClr val="2E5A46"/>
                </a:solidFill>
                <a:latin typeface="Malgun Gothic" charset="0"/>
                <a:ea typeface="Malgun Gothic" charset="0"/>
              </a:rPr>
              <a:t>누적</a:t>
            </a:r>
            <a:r>
              <a:rPr lang="ko-KR" sz="1400" b="1" strike="noStrike">
                <a:solidFill>
                  <a:srgbClr val="2E5A46"/>
                </a:solidFill>
                <a:latin typeface="Malgun Gothic" charset="0"/>
                <a:ea typeface="Malgun Gothic" charset="0"/>
              </a:rPr>
              <a:t> </a:t>
            </a:r>
            <a:r>
              <a:rPr lang="en-US" sz="1400" b="1" strike="noStrike">
                <a:solidFill>
                  <a:srgbClr val="2E5A46"/>
                </a:solidFill>
                <a:latin typeface="Malgun Gothic" charset="0"/>
                <a:ea typeface="Malgun Gothic" charset="0"/>
              </a:rPr>
              <a:t>kcal ÷ 1,500 + 1</a:t>
            </a:r>
            <a:endParaRPr lang="ko-KR" altLang="en-US" sz="1400" b="1" strike="noStrike">
              <a:solidFill>
                <a:srgbClr val="2E5A46"/>
              </a:solidFill>
              <a:latin typeface="Malgun Gothic" charset="0"/>
              <a:ea typeface="Malgun Gothic" charset="0"/>
            </a:endParaRPr>
          </a:p>
        </p:txBody>
      </p:sp>
      <p:sp>
        <p:nvSpPr>
          <p:cNvPr id="138" name="Text 30"/>
          <p:cNvSpPr/>
          <p:nvPr/>
        </p:nvSpPr>
        <p:spPr>
          <a:xfrm>
            <a:off x="548640" y="5596255"/>
            <a:ext cx="13709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b5654a"/>
                </a:solidFill>
                <a:latin typeface="Malgun Gothic"/>
                <a:ea typeface="Malgun Gothic"/>
              </a:rPr>
              <a:t>캐릭터</a:t>
            </a:r>
            <a:endParaRPr b="0" lang="en-US" sz="1600" spc="-1" strike="noStrike">
              <a:solidFill>
                <a:srgbClr val="000000"/>
              </a:solidFill>
              <a:latin typeface="Noto Sans KR"/>
            </a:endParaRPr>
          </a:p>
        </p:txBody>
      </p:sp>
      <p:sp>
        <p:nvSpPr>
          <p:cNvPr id="139" name="Shape 31"/>
          <p:cNvSpPr/>
          <p:nvPr/>
        </p:nvSpPr>
        <p:spPr>
          <a:xfrm>
            <a:off x="1540510" y="5596255"/>
            <a:ext cx="776605" cy="41084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40" name="Text 32"/>
          <p:cNvSpPr/>
          <p:nvPr/>
        </p:nvSpPr>
        <p:spPr>
          <a:xfrm>
            <a:off x="1540510" y="5596255"/>
            <a:ext cx="77660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Malgun Gothic"/>
                <a:ea typeface="Malgun Gothic"/>
              </a:rPr>
              <a:t>LV 5</a:t>
            </a:r>
            <a:endParaRPr b="0" lang="en-US" sz="1250" spc="-1" strike="noStrike">
              <a:solidFill>
                <a:srgbClr val="000000"/>
              </a:solidFill>
              <a:latin typeface="Noto Sans KR"/>
            </a:endParaRPr>
          </a:p>
        </p:txBody>
      </p:sp>
      <p:sp>
        <p:nvSpPr>
          <p:cNvPr id="141" name="Text 33"/>
          <p:cNvSpPr/>
          <p:nvPr/>
        </p:nvSpPr>
        <p:spPr>
          <a:xfrm>
            <a:off x="2409190" y="5596255"/>
            <a:ext cx="173672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400" spc="-1" strike="noStrike">
                <a:solidFill>
                  <a:srgbClr val="1e2621"/>
                </a:solidFill>
                <a:latin typeface="Malgun Gothic"/>
                <a:ea typeface="Malgun Gothic"/>
              </a:rPr>
              <a:t>한복</a:t>
            </a:r>
            <a:endParaRPr b="0" lang="en-US" sz="1400" spc="-1" strike="noStrike">
              <a:solidFill>
                <a:srgbClr val="000000"/>
              </a:solidFill>
              <a:latin typeface="Noto Sans KR"/>
            </a:endParaRPr>
          </a:p>
        </p:txBody>
      </p:sp>
      <p:sp>
        <p:nvSpPr>
          <p:cNvPr id="142" name="Shape 34"/>
          <p:cNvSpPr/>
          <p:nvPr/>
        </p:nvSpPr>
        <p:spPr>
          <a:xfrm>
            <a:off x="3072130" y="5596255"/>
            <a:ext cx="776605" cy="41084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43" name="Text 35"/>
          <p:cNvSpPr/>
          <p:nvPr/>
        </p:nvSpPr>
        <p:spPr>
          <a:xfrm>
            <a:off x="3072130" y="5596255"/>
            <a:ext cx="77660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Malgun Gothic"/>
                <a:ea typeface="Malgun Gothic"/>
              </a:rPr>
              <a:t>LV 20</a:t>
            </a:r>
            <a:endParaRPr b="0" lang="en-US" sz="1250" spc="-1" strike="noStrike">
              <a:solidFill>
                <a:srgbClr val="000000"/>
              </a:solidFill>
              <a:latin typeface="Noto Sans KR"/>
            </a:endParaRPr>
          </a:p>
        </p:txBody>
      </p:sp>
      <p:sp>
        <p:nvSpPr>
          <p:cNvPr id="144" name="Text 36"/>
          <p:cNvSpPr/>
          <p:nvPr/>
        </p:nvSpPr>
        <p:spPr>
          <a:xfrm>
            <a:off x="3940810" y="5596255"/>
            <a:ext cx="173672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e2621"/>
                </a:solidFill>
                <a:latin typeface="Malgun Gothic"/>
                <a:ea typeface="Malgun Gothic"/>
              </a:rPr>
              <a:t>ROCK + </a:t>
            </a:r>
            <a:r>
              <a:rPr b="1" lang="ko-KR" sz="1400" spc="-1" strike="noStrike">
                <a:solidFill>
                  <a:srgbClr val="1e2621"/>
                </a:solidFill>
                <a:latin typeface="Malgun Gothic"/>
                <a:ea typeface="Malgun Gothic"/>
              </a:rPr>
              <a:t>특별 가구</a:t>
            </a:r>
            <a:endParaRPr b="0" lang="en-US" sz="1400" spc="-1" strike="noStrike">
              <a:solidFill>
                <a:srgbClr val="000000"/>
              </a:solidFill>
              <a:latin typeface="Noto Sans KR"/>
            </a:endParaRPr>
          </a:p>
        </p:txBody>
      </p:sp>
      <p:sp>
        <p:nvSpPr>
          <p:cNvPr id="145" name="Shape 37"/>
          <p:cNvSpPr/>
          <p:nvPr/>
        </p:nvSpPr>
        <p:spPr>
          <a:xfrm>
            <a:off x="5883910" y="5596255"/>
            <a:ext cx="776605" cy="41084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46" name="Text 38"/>
          <p:cNvSpPr/>
          <p:nvPr/>
        </p:nvSpPr>
        <p:spPr>
          <a:xfrm>
            <a:off x="5883910" y="5596255"/>
            <a:ext cx="776605" cy="41084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pc="-1" strike="noStrike">
                <a:solidFill>
                  <a:srgbClr val="ffffff"/>
                </a:solidFill>
                <a:latin typeface="Malgun Gothic"/>
                <a:ea typeface="Malgun Gothic"/>
              </a:rPr>
              <a:t>LV 50</a:t>
            </a:r>
            <a:endParaRPr b="0" lang="en-US" sz="1250" spc="-1" strike="noStrike">
              <a:solidFill>
                <a:srgbClr val="000000"/>
              </a:solidFill>
              <a:latin typeface="Noto Sans KR"/>
            </a:endParaRPr>
          </a:p>
        </p:txBody>
      </p:sp>
      <p:sp>
        <p:nvSpPr>
          <p:cNvPr id="147" name="Text 39"/>
          <p:cNvSpPr/>
          <p:nvPr/>
        </p:nvSpPr>
        <p:spPr>
          <a:xfrm>
            <a:off x="6752590" y="5596255"/>
            <a:ext cx="173672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1e2621"/>
                </a:solidFill>
                <a:latin typeface="Malgun Gothic"/>
                <a:ea typeface="Malgun Gothic"/>
              </a:rPr>
              <a:t>HIGHEND</a:t>
            </a:r>
            <a:endParaRPr b="0" lang="en-US" sz="1400" spc="-1" strike="noStrike">
              <a:solidFill>
                <a:srgbClr val="000000"/>
              </a:solidFill>
              <a:latin typeface="Noto Sans KR"/>
            </a:endParaRPr>
          </a:p>
        </p:txBody>
      </p:sp>
      <p:sp>
        <p:nvSpPr>
          <p:cNvPr id="148" name="Text 40"/>
          <p:cNvSpPr>
            <a:spLocks/>
          </p:cNvSpPr>
          <p:nvPr/>
        </p:nvSpPr>
        <p:spPr>
          <a:xfrm rot="0">
            <a:off x="8100060" y="5486400"/>
            <a:ext cx="3559175" cy="64008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600" b="1" strike="noStrike">
                <a:solidFill>
                  <a:srgbClr val="B5654A"/>
                </a:solidFill>
                <a:latin typeface="Malgun Gothic" charset="0"/>
                <a:ea typeface="Malgun Gothic" charset="0"/>
              </a:rPr>
              <a:t>꾸미기는 목적이 아니라</a:t>
            </a:r>
            <a:endParaRPr lang="ko-KR" altLang="en-US" sz="1600" b="1" strike="noStrike">
              <a:solidFill>
                <a:srgbClr val="B5654A"/>
              </a:solidFill>
              <a:latin typeface="Malgun Gothic" charset="0"/>
              <a:ea typeface="Malgun Gothic" charset="0"/>
            </a:endParaRPr>
          </a:p>
          <a:p>
            <a:pPr marL="0" indent="0" algn="ctr" defTabSz="914400">
              <a:lnSpc>
                <a:spcPct val="100000"/>
              </a:lnSpc>
              <a:buFontTx/>
              <a:buNone/>
              <a:tabLst>
                <a:tab pos="0" algn="l"/>
              </a:tabLst>
            </a:pPr>
            <a:r>
              <a:rPr lang="ko-KR" sz="1600" b="1" strike="noStrike">
                <a:solidFill>
                  <a:srgbClr val="B5654A"/>
                </a:solidFill>
                <a:latin typeface="Malgun Gothic" charset="0"/>
                <a:ea typeface="Malgun Gothic" charset="0"/>
              </a:rPr>
              <a:t>운동을 계속하게 만드는 보상 장치</a:t>
            </a:r>
            <a:endParaRPr lang="ko-KR" altLang="en-US" sz="1600" b="1" strike="noStrike">
              <a:solidFill>
                <a:srgbClr val="B5654A"/>
              </a:solidFill>
              <a:latin typeface="Malgun Gothic" charset="0"/>
              <a:ea typeface="Malgun Gothic" charset="0"/>
            </a:endParaRPr>
          </a:p>
        </p:txBody>
      </p:sp>
      <p:sp>
        <p:nvSpPr>
          <p:cNvPr id="149" name="Text 41"/>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150" name="Text 42"/>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06</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3B2F"/>
        </a:solidFill>
      </p:bgPr>
    </p:bg>
    <p:spTree>
      <p:nvGrpSpPr>
        <p:cNvPr id="1" name=""/>
        <p:cNvGrpSpPr/>
        <p:nvPr/>
      </p:nvGrpSpPr>
      <p:grpSpPr>
        <a:xfrm>
          <a:off x="0" y="0"/>
          <a:ext cx="0" cy="0"/>
          <a:chOff x="0" y="0"/>
          <a:chExt cx="0" cy="0"/>
        </a:xfrm>
      </p:grpSpPr>
      <p:sp>
        <p:nvSpPr>
          <p:cNvPr id="151" name="Shape 0"/>
          <p:cNvSpPr/>
          <p:nvPr/>
        </p:nvSpPr>
        <p:spPr>
          <a:xfrm>
            <a:off x="548640" y="384175"/>
            <a:ext cx="383540" cy="383540"/>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52"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e3b2f"/>
                </a:solidFill>
                <a:latin typeface="Malgun Gothic"/>
                <a:ea typeface="Malgun Gothic"/>
              </a:rPr>
              <a:t>03</a:t>
            </a:r>
            <a:endParaRPr b="0" lang="en-US" sz="1300" spc="-1" strike="noStrike">
              <a:solidFill>
                <a:srgbClr val="ffffff"/>
              </a:solidFill>
              <a:latin typeface="Noto Sans KR"/>
            </a:endParaRPr>
          </a:p>
        </p:txBody>
      </p:sp>
      <p:sp>
        <p:nvSpPr>
          <p:cNvPr id="153"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d9a441"/>
                </a:solidFill>
                <a:latin typeface="Malgun Gothic"/>
                <a:ea typeface="Malgun Gothic"/>
              </a:rPr>
              <a:t>WHY DATA · </a:t>
            </a:r>
            <a:r>
              <a:rPr b="1" lang="ko-KR" sz="1400" spc="199" strike="noStrike">
                <a:solidFill>
                  <a:srgbClr val="d9a441"/>
                </a:solidFill>
                <a:latin typeface="Malgun Gothic"/>
                <a:ea typeface="Malgun Gothic"/>
              </a:rPr>
              <a:t>데이터가 필요한 이유</a:t>
            </a:r>
            <a:endParaRPr b="0" lang="en-US" sz="1400" spc="-1" strike="noStrike">
              <a:solidFill>
                <a:srgbClr val="ffffff"/>
              </a:solidFill>
              <a:latin typeface="Noto Sans KR"/>
            </a:endParaRPr>
          </a:p>
        </p:txBody>
      </p:sp>
      <p:sp>
        <p:nvSpPr>
          <p:cNvPr id="154"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f7f1e6"/>
                </a:solidFill>
                <a:latin typeface="Malgun Gothic"/>
                <a:ea typeface="Malgun Gothic"/>
              </a:rPr>
              <a:t>그런데 운동하려고 하면</a:t>
            </a:r>
            <a:r>
              <a:rPr b="1" lang="en-US" sz="3400" spc="-1" strike="noStrike">
                <a:solidFill>
                  <a:srgbClr val="f7f1e6"/>
                </a:solidFill>
                <a:latin typeface="Malgun Gothic"/>
                <a:ea typeface="Malgun Gothic"/>
              </a:rPr>
              <a:t>, </a:t>
            </a:r>
            <a:r>
              <a:rPr b="1" lang="ko-KR" sz="3400" spc="-1" strike="noStrike">
                <a:solidFill>
                  <a:srgbClr val="f7f1e6"/>
                </a:solidFill>
                <a:latin typeface="Malgun Gothic"/>
                <a:ea typeface="Malgun Gothic"/>
              </a:rPr>
              <a:t>이런 생각이 들죠</a:t>
            </a:r>
            <a:r>
              <a:rPr b="1" lang="en-US" sz="3400" spc="-1" strike="noStrike">
                <a:solidFill>
                  <a:srgbClr val="f7f1e6"/>
                </a:solidFill>
                <a:latin typeface="Malgun Gothic"/>
                <a:ea typeface="Malgun Gothic"/>
              </a:rPr>
              <a:t>.</a:t>
            </a:r>
            <a:endParaRPr b="0" lang="en-US" sz="3400" spc="-1" strike="noStrike">
              <a:solidFill>
                <a:srgbClr val="ffffff"/>
              </a:solidFill>
              <a:latin typeface="Noto Sans KR"/>
            </a:endParaRPr>
          </a:p>
        </p:txBody>
      </p:sp>
      <p:sp>
        <p:nvSpPr>
          <p:cNvPr id="155" name="Shape 4"/>
          <p:cNvSpPr>
            <a:spLocks/>
          </p:cNvSpPr>
          <p:nvPr/>
        </p:nvSpPr>
        <p:spPr>
          <a:xfrm rot="0">
            <a:off x="548640" y="2011680"/>
            <a:ext cx="3502660" cy="1900555"/>
          </a:xfrm>
          <a:prstGeom prst="roundRect">
            <a:avLst>
              <a:gd name="adj" fmla="val 4828"/>
            </a:avLst>
          </a:prstGeom>
          <a:solidFill>
            <a:srgbClr val="F7F1E6"/>
          </a:solidFill>
          <a:ln w="12700" cap="flat" cmpd="sng">
            <a:solidFill>
              <a:srgbClr val="F7F1E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156" name="Shape 5"/>
          <p:cNvSpPr>
            <a:spLocks/>
          </p:cNvSpPr>
          <p:nvPr/>
        </p:nvSpPr>
        <p:spPr>
          <a:xfrm rot="0">
            <a:off x="712470" y="2148205"/>
            <a:ext cx="731520" cy="731520"/>
          </a:xfrm>
          <a:prstGeom prst="ellipse"/>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157" name="Image 0"/>
          <p:cNvPicPr>
            <a:picLocks/>
          </p:cNvPicPr>
          <p:nvPr/>
        </p:nvPicPr>
        <p:blipFill rotWithShape="1">
          <a:blip r:embed="rId1" cstate="print">
            <a:extLst>
              <a:ext uri="{28A0092B-C50C-407E-A947-70E740481C1C}">
                <a14:useLocalDpi xmlns:a14="http://schemas.microsoft.com/office/drawing/2010/main" val="0"/>
              </a:ext>
            </a:extLst>
          </a:blip>
          <a:stretch>
            <a:fillRect/>
          </a:stretch>
        </p:blipFill>
        <p:spPr>
          <a:xfrm rot="0">
            <a:off x="902335" y="2338070"/>
            <a:ext cx="351155" cy="351155"/>
          </a:xfrm>
          <a:prstGeom prst="rect"/>
          <a:noFill/>
          <a:ln>
            <a:noFill/>
            <a:prstDash/>
          </a:ln>
        </p:spPr>
      </p:pic>
      <p:sp>
        <p:nvSpPr>
          <p:cNvPr id="158" name="Text 6"/>
          <p:cNvSpPr>
            <a:spLocks/>
          </p:cNvSpPr>
          <p:nvPr/>
        </p:nvSpPr>
        <p:spPr>
          <a:xfrm rot="0">
            <a:off x="1365250" y="2774950"/>
            <a:ext cx="2926080" cy="12344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en-US" sz="2500" b="1" strike="noStrike">
                <a:solidFill>
                  <a:srgbClr val="1E2621"/>
                </a:solidFill>
                <a:latin typeface="Malgun Gothic" charset="0"/>
                <a:ea typeface="Malgun Gothic" charset="0"/>
              </a:rPr>
              <a:t>“</a:t>
            </a:r>
            <a:r>
              <a:rPr lang="ko-KR" sz="2500" b="1" strike="noStrike">
                <a:solidFill>
                  <a:srgbClr val="1E2621"/>
                </a:solidFill>
                <a:latin typeface="Malgun Gothic" charset="0"/>
                <a:ea typeface="Malgun Gothic" charset="0"/>
              </a:rPr>
              <a:t>오늘</a:t>
            </a:r>
            <a:r>
              <a:rPr lang="ko-KR" sz="2500" b="1" strike="noStrike">
                <a:solidFill>
                  <a:srgbClr val="1E2621"/>
                </a:solidFill>
                <a:latin typeface="Malgun Gothic" charset="0"/>
                <a:ea typeface="Malgun Gothic" charset="0"/>
              </a:rPr>
              <a:t> </a:t>
            </a:r>
            <a:r>
              <a:rPr lang="ko-KR" sz="2500" b="1" strike="noStrike">
                <a:solidFill>
                  <a:srgbClr val="1E2621"/>
                </a:solidFill>
                <a:latin typeface="Malgun Gothic" charset="0"/>
                <a:ea typeface="Malgun Gothic" charset="0"/>
              </a:rPr>
              <a:t>비</a:t>
            </a:r>
            <a:r>
              <a:rPr lang="ko-KR" sz="2500" b="1" strike="noStrike">
                <a:solidFill>
                  <a:srgbClr val="1E2621"/>
                </a:solidFill>
                <a:latin typeface="Malgun Gothic" charset="0"/>
                <a:ea typeface="Malgun Gothic" charset="0"/>
              </a:rPr>
              <a:t> </a:t>
            </a:r>
            <a:r>
              <a:rPr lang="ko-KR" sz="2500" b="1" strike="noStrike">
                <a:solidFill>
                  <a:srgbClr val="1E2621"/>
                </a:solidFill>
                <a:latin typeface="Malgun Gothic" charset="0"/>
                <a:ea typeface="Malgun Gothic" charset="0"/>
              </a:rPr>
              <a:t>오는데</a:t>
            </a:r>
            <a:r>
              <a:rPr lang="en-US" sz="2500" b="1" strike="noStrike">
                <a:solidFill>
                  <a:srgbClr val="1E2621"/>
                </a:solidFill>
                <a:latin typeface="Malgun Gothic" charset="0"/>
                <a:ea typeface="Malgun Gothic" charset="0"/>
              </a:rPr>
              <a:t>?”</a:t>
            </a:r>
            <a:endParaRPr lang="ko-KR" altLang="en-US" sz="2500" b="1" strike="noStrike">
              <a:solidFill>
                <a:srgbClr val="1E2621"/>
              </a:solidFill>
              <a:latin typeface="Malgun Gothic" charset="0"/>
              <a:ea typeface="Malgun Gothic" charset="0"/>
            </a:endParaRPr>
          </a:p>
        </p:txBody>
      </p:sp>
      <p:sp>
        <p:nvSpPr>
          <p:cNvPr id="159" name="Shape 7"/>
          <p:cNvSpPr>
            <a:spLocks/>
          </p:cNvSpPr>
          <p:nvPr/>
        </p:nvSpPr>
        <p:spPr>
          <a:xfrm rot="0">
            <a:off x="4297680" y="2011680"/>
            <a:ext cx="3502660" cy="1900555"/>
          </a:xfrm>
          <a:prstGeom prst="roundRect">
            <a:avLst>
              <a:gd name="adj" fmla="val 4828"/>
            </a:avLst>
          </a:prstGeom>
          <a:solidFill>
            <a:srgbClr val="F7F1E6"/>
          </a:solidFill>
          <a:ln w="12700" cap="flat" cmpd="sng">
            <a:solidFill>
              <a:srgbClr val="F7F1E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160" name="Shape 8"/>
          <p:cNvSpPr>
            <a:spLocks/>
          </p:cNvSpPr>
          <p:nvPr/>
        </p:nvSpPr>
        <p:spPr>
          <a:xfrm rot="0">
            <a:off x="4480560" y="2148205"/>
            <a:ext cx="731520" cy="731520"/>
          </a:xfrm>
          <a:prstGeom prst="ellipse"/>
          <a:solidFill>
            <a:srgbClr val="D9A441"/>
          </a:solidFill>
          <a:ln w="12700" cap="flat" cmpd="sng">
            <a:solidFill>
              <a:srgbClr val="D9A441">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161" name="Image 1"/>
          <p:cNvPicPr>
            <a:picLocks/>
          </p:cNvPicPr>
          <p:nvPr/>
        </p:nvPicPr>
        <p:blipFill rotWithShape="1">
          <a:blip r:embed="rId2" cstate="print">
            <a:extLst>
              <a:ext uri="{28A0092B-C50C-407E-A947-70E740481C1C}">
                <a14:useLocalDpi xmlns:a14="http://schemas.microsoft.com/office/drawing/2010/main" val="0"/>
              </a:ext>
            </a:extLst>
          </a:blip>
          <a:stretch>
            <a:fillRect/>
          </a:stretch>
        </p:blipFill>
        <p:spPr>
          <a:xfrm rot="0">
            <a:off x="4670425" y="2338070"/>
            <a:ext cx="351155" cy="351155"/>
          </a:xfrm>
          <a:prstGeom prst="rect"/>
          <a:noFill/>
          <a:ln>
            <a:noFill/>
            <a:prstDash/>
          </a:ln>
        </p:spPr>
      </p:pic>
      <p:sp>
        <p:nvSpPr>
          <p:cNvPr id="162" name="Text 9"/>
          <p:cNvSpPr>
            <a:spLocks/>
          </p:cNvSpPr>
          <p:nvPr/>
        </p:nvSpPr>
        <p:spPr>
          <a:xfrm rot="0">
            <a:off x="4876800" y="2566670"/>
            <a:ext cx="2926080" cy="123444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10000"/>
              </a:lnSpc>
              <a:buFontTx/>
              <a:buNone/>
              <a:tabLst>
                <a:tab pos="0" algn="l"/>
              </a:tabLst>
            </a:pPr>
            <a:r>
              <a:rPr lang="en-US" sz="2500" b="1" strike="noStrike">
                <a:solidFill>
                  <a:srgbClr val="1E2621"/>
                </a:solidFill>
                <a:latin typeface="Malgun Gothic" charset="0"/>
                <a:ea typeface="Malgun Gothic" charset="0"/>
              </a:rPr>
              <a:t>“</a:t>
            </a:r>
            <a:r>
              <a:rPr lang="ko-KR" sz="2500" b="1" strike="noStrike">
                <a:solidFill>
                  <a:srgbClr val="1E2621"/>
                </a:solidFill>
                <a:latin typeface="Malgun Gothic" charset="0"/>
                <a:ea typeface="Malgun Gothic" charset="0"/>
              </a:rPr>
              <a:t>운동하러 </a:t>
            </a:r>
            <a:r>
              <a:rPr lang="ko-KR" sz="2500" b="1" strike="noStrike">
                <a:solidFill>
                  <a:srgbClr val="1E2621"/>
                </a:solidFill>
                <a:latin typeface="Malgun Gothic" charset="0"/>
                <a:ea typeface="Malgun Gothic" charset="0"/>
              </a:rPr>
              <a:t>갈</a:t>
            </a:r>
            <a:endParaRPr lang="ko-KR" altLang="en-US" sz="2500" b="1" strike="noStrike">
              <a:solidFill>
                <a:srgbClr val="1E2621"/>
              </a:solidFill>
              <a:latin typeface="Malgun Gothic" charset="0"/>
              <a:ea typeface="Malgun Gothic" charset="0"/>
            </a:endParaRPr>
          </a:p>
          <a:p>
            <a:pPr marL="0" indent="0" algn="ctr" defTabSz="914400">
              <a:lnSpc>
                <a:spcPct val="110000"/>
              </a:lnSpc>
              <a:buFontTx/>
              <a:buNone/>
              <a:tabLst>
                <a:tab pos="0" algn="l"/>
              </a:tabLst>
            </a:pPr>
            <a:r>
              <a:rPr lang="ko-KR" sz="2500" b="1" strike="noStrike">
                <a:solidFill>
                  <a:srgbClr val="1E2621"/>
                </a:solidFill>
                <a:latin typeface="Malgun Gothic" charset="0"/>
                <a:ea typeface="Malgun Gothic" charset="0"/>
              </a:rPr>
              <a:t>시간이 없는데</a:t>
            </a:r>
            <a:r>
              <a:rPr lang="en-US" sz="2500" b="1" strike="noStrike">
                <a:solidFill>
                  <a:srgbClr val="1E2621"/>
                </a:solidFill>
                <a:latin typeface="Malgun Gothic" charset="0"/>
                <a:ea typeface="Malgun Gothic" charset="0"/>
              </a:rPr>
              <a:t>?”</a:t>
            </a:r>
            <a:endParaRPr lang="ko-KR" altLang="en-US" sz="2500" b="1" strike="noStrike">
              <a:solidFill>
                <a:srgbClr val="1E2621"/>
              </a:solidFill>
              <a:latin typeface="Malgun Gothic" charset="0"/>
              <a:ea typeface="Malgun Gothic" charset="0"/>
            </a:endParaRPr>
          </a:p>
        </p:txBody>
      </p:sp>
      <p:sp>
        <p:nvSpPr>
          <p:cNvPr id="163" name="Shape 10"/>
          <p:cNvSpPr>
            <a:spLocks/>
          </p:cNvSpPr>
          <p:nvPr/>
        </p:nvSpPr>
        <p:spPr>
          <a:xfrm rot="0">
            <a:off x="8046720" y="2011680"/>
            <a:ext cx="3502660" cy="1900555"/>
          </a:xfrm>
          <a:prstGeom prst="roundRect">
            <a:avLst>
              <a:gd name="adj" fmla="val 4828"/>
            </a:avLst>
          </a:prstGeom>
          <a:solidFill>
            <a:srgbClr val="F7F1E6"/>
          </a:solidFill>
          <a:ln w="12700" cap="flat" cmpd="sng">
            <a:solidFill>
              <a:srgbClr val="F7F1E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164" name="Shape 11"/>
          <p:cNvSpPr>
            <a:spLocks/>
          </p:cNvSpPr>
          <p:nvPr/>
        </p:nvSpPr>
        <p:spPr>
          <a:xfrm rot="0">
            <a:off x="8229600" y="2148205"/>
            <a:ext cx="731520" cy="731520"/>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165" name="Image 2"/>
          <p:cNvPicPr>
            <a:picLocks/>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8419465" y="2338070"/>
            <a:ext cx="351155" cy="351155"/>
          </a:xfrm>
          <a:prstGeom prst="rect"/>
          <a:noFill/>
          <a:ln>
            <a:noFill/>
            <a:prstDash/>
          </a:ln>
        </p:spPr>
      </p:pic>
      <p:sp>
        <p:nvSpPr>
          <p:cNvPr id="166" name="Text 12"/>
          <p:cNvSpPr>
            <a:spLocks/>
          </p:cNvSpPr>
          <p:nvPr/>
        </p:nvSpPr>
        <p:spPr>
          <a:xfrm rot="0">
            <a:off x="8681720" y="2273935"/>
            <a:ext cx="2926080" cy="123444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10000"/>
              </a:lnSpc>
              <a:buFontTx/>
              <a:buNone/>
              <a:tabLst>
                <a:tab pos="0" algn="l"/>
              </a:tabLst>
            </a:pPr>
            <a:r>
              <a:rPr lang="en-US" sz="2500" b="1" strike="noStrike">
                <a:solidFill>
                  <a:srgbClr val="1E2621"/>
                </a:solidFill>
                <a:latin typeface="Malgun Gothic" charset="0"/>
                <a:ea typeface="Malgun Gothic" charset="0"/>
              </a:rPr>
              <a:t>“</a:t>
            </a:r>
            <a:r>
              <a:rPr lang="ko-KR" sz="2500" b="1" strike="noStrike">
                <a:solidFill>
                  <a:srgbClr val="1E2621"/>
                </a:solidFill>
                <a:latin typeface="Malgun Gothic" charset="0"/>
                <a:ea typeface="Malgun Gothic" charset="0"/>
              </a:rPr>
              <a:t>근처 어디로</a:t>
            </a:r>
            <a:r>
              <a:rPr lang="ko-KR" sz="2500" b="1" strike="noStrike">
                <a:solidFill>
                  <a:srgbClr val="1E2621"/>
                </a:solidFill>
                <a:latin typeface="Malgun Gothic" charset="0"/>
                <a:ea typeface="Malgun Gothic" charset="0"/>
              </a:rPr>
              <a:t> </a:t>
            </a:r>
            <a:endParaRPr lang="ko-KR" altLang="en-US" sz="2500" b="1" strike="noStrike">
              <a:solidFill>
                <a:srgbClr val="1E2621"/>
              </a:solidFill>
              <a:latin typeface="Malgun Gothic" charset="0"/>
              <a:ea typeface="Malgun Gothic" charset="0"/>
            </a:endParaRPr>
          </a:p>
          <a:p>
            <a:pPr marL="0" indent="0" algn="ctr" defTabSz="914400">
              <a:lnSpc>
                <a:spcPct val="110000"/>
              </a:lnSpc>
              <a:buFontTx/>
              <a:buNone/>
              <a:tabLst>
                <a:tab pos="0" algn="l"/>
              </a:tabLst>
            </a:pPr>
            <a:r>
              <a:rPr lang="ko-KR" sz="2500" b="1" strike="noStrike">
                <a:solidFill>
                  <a:srgbClr val="1E2621"/>
                </a:solidFill>
                <a:latin typeface="Malgun Gothic" charset="0"/>
                <a:ea typeface="Malgun Gothic" charset="0"/>
              </a:rPr>
              <a:t>가야 할지</a:t>
            </a:r>
            <a:endParaRPr lang="ko-KR" altLang="en-US" sz="2500" b="1" strike="noStrike">
              <a:solidFill>
                <a:srgbClr val="1E2621"/>
              </a:solidFill>
              <a:latin typeface="Malgun Gothic" charset="0"/>
              <a:ea typeface="Malgun Gothic" charset="0"/>
            </a:endParaRPr>
          </a:p>
          <a:p>
            <a:pPr marL="0" indent="0" algn="ctr" defTabSz="914400">
              <a:lnSpc>
                <a:spcPct val="110000"/>
              </a:lnSpc>
              <a:buFontTx/>
              <a:buNone/>
              <a:tabLst>
                <a:tab pos="0" algn="l"/>
              </a:tabLst>
            </a:pPr>
            <a:r>
              <a:rPr lang="ko-KR" sz="2500" b="1" strike="noStrike">
                <a:solidFill>
                  <a:srgbClr val="1E2621"/>
                </a:solidFill>
                <a:latin typeface="Malgun Gothic" charset="0"/>
                <a:ea typeface="Malgun Gothic" charset="0"/>
              </a:rPr>
              <a:t>모르겠는데</a:t>
            </a:r>
            <a:r>
              <a:rPr lang="en-US" sz="2500" b="1" strike="noStrike">
                <a:solidFill>
                  <a:srgbClr val="1E2621"/>
                </a:solidFill>
                <a:latin typeface="Malgun Gothic" charset="0"/>
                <a:ea typeface="Malgun Gothic" charset="0"/>
              </a:rPr>
              <a:t>?”</a:t>
            </a:r>
            <a:endParaRPr lang="ko-KR" altLang="en-US" sz="2500" b="1" strike="noStrike">
              <a:solidFill>
                <a:srgbClr val="1E2621"/>
              </a:solidFill>
              <a:latin typeface="Malgun Gothic" charset="0"/>
              <a:ea typeface="Malgun Gothic" charset="0"/>
            </a:endParaRPr>
          </a:p>
        </p:txBody>
      </p:sp>
      <p:sp>
        <p:nvSpPr>
          <p:cNvPr id="167" name="Text 13"/>
          <p:cNvSpPr>
            <a:spLocks/>
          </p:cNvSpPr>
          <p:nvPr/>
        </p:nvSpPr>
        <p:spPr>
          <a:xfrm rot="0">
            <a:off x="548640" y="4572000"/>
            <a:ext cx="11064240" cy="100584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25000"/>
              </a:lnSpc>
              <a:buFontTx/>
              <a:buNone/>
              <a:tabLst>
                <a:tab pos="0" algn="l"/>
              </a:tabLst>
            </a:pPr>
            <a:r>
              <a:rPr lang="ko-KR" sz="2600" b="1" strike="noStrike">
                <a:solidFill>
                  <a:srgbClr val="F7F1E6"/>
                </a:solidFill>
                <a:latin typeface="Malgun Gothic" charset="0"/>
                <a:ea typeface="Malgun Gothic" charset="0"/>
              </a:rPr>
              <a:t>가벼운</a:t>
            </a:r>
            <a:r>
              <a:rPr lang="ko-KR" sz="2600" b="1" strike="noStrike">
                <a:solidFill>
                  <a:srgbClr val="F7F1E6"/>
                </a:solidFill>
                <a:latin typeface="Malgun Gothic" charset="0"/>
                <a:ea typeface="Malgun Gothic" charset="0"/>
              </a:rPr>
              <a:t> </a:t>
            </a:r>
            <a:r>
              <a:rPr lang="ko-KR" sz="2600" b="1" strike="noStrike">
                <a:solidFill>
                  <a:srgbClr val="F7F1E6"/>
                </a:solidFill>
                <a:latin typeface="Malgun Gothic" charset="0"/>
                <a:ea typeface="Malgun Gothic" charset="0"/>
              </a:rPr>
              <a:t>‘핑계’</a:t>
            </a:r>
            <a:r>
              <a:rPr lang="ko-KR" sz="2600" b="1" strike="noStrike">
                <a:solidFill>
                  <a:srgbClr val="F7F1E6"/>
                </a:solidFill>
                <a:latin typeface="Malgun Gothic" charset="0"/>
                <a:ea typeface="Malgun Gothic" charset="0"/>
              </a:rPr>
              <a:t> </a:t>
            </a:r>
            <a:r>
              <a:rPr lang="ko-KR" sz="2600" b="1" strike="noStrike">
                <a:solidFill>
                  <a:srgbClr val="F7F1E6"/>
                </a:solidFill>
                <a:latin typeface="Malgun Gothic" charset="0"/>
                <a:ea typeface="Malgun Gothic" charset="0"/>
              </a:rPr>
              <a:t>같지만</a:t>
            </a:r>
            <a:r>
              <a:rPr lang="en-US" sz="2600" b="1" strike="noStrike">
                <a:solidFill>
                  <a:srgbClr val="F7F1E6"/>
                </a:solidFill>
                <a:latin typeface="Malgun Gothic" charset="0"/>
                <a:ea typeface="Malgun Gothic" charset="0"/>
              </a:rPr>
              <a:t>, </a:t>
            </a:r>
            <a:r>
              <a:rPr lang="ko-KR" sz="2600" b="1" strike="noStrike">
                <a:solidFill>
                  <a:srgbClr val="F7F1E6"/>
                </a:solidFill>
                <a:latin typeface="Malgun Gothic" charset="0"/>
                <a:ea typeface="Malgun Gothic" charset="0"/>
              </a:rPr>
              <a:t>사실은 </a:t>
            </a:r>
            <a:r>
              <a:rPr lang="ko-KR" sz="2600" b="1" strike="noStrike">
                <a:solidFill>
                  <a:srgbClr val="D9A441"/>
                </a:solidFill>
                <a:latin typeface="Malgun Gothic" charset="0"/>
                <a:ea typeface="Malgun Gothic" charset="0"/>
              </a:rPr>
              <a:t>운동을</a:t>
            </a:r>
            <a:r>
              <a:rPr lang="ko-KR" sz="2600" b="1" strike="noStrike">
                <a:solidFill>
                  <a:srgbClr val="D9A441"/>
                </a:solidFill>
                <a:latin typeface="Malgun Gothic" charset="0"/>
                <a:ea typeface="Malgun Gothic" charset="0"/>
              </a:rPr>
              <a:t> </a:t>
            </a:r>
            <a:r>
              <a:rPr lang="ko-KR" sz="2600" b="1" strike="noStrike">
                <a:solidFill>
                  <a:srgbClr val="D9A441"/>
                </a:solidFill>
                <a:latin typeface="Malgun Gothic" charset="0"/>
                <a:ea typeface="Malgun Gothic" charset="0"/>
              </a:rPr>
              <a:t>망설이게</a:t>
            </a:r>
            <a:r>
              <a:rPr lang="ko-KR" sz="2600" b="1" strike="noStrike">
                <a:solidFill>
                  <a:srgbClr val="D9A441"/>
                </a:solidFill>
                <a:latin typeface="Malgun Gothic" charset="0"/>
                <a:ea typeface="Malgun Gothic" charset="0"/>
              </a:rPr>
              <a:t> </a:t>
            </a:r>
            <a:r>
              <a:rPr lang="ko-KR" sz="2600" b="1" strike="noStrike">
                <a:solidFill>
                  <a:srgbClr val="D9A441"/>
                </a:solidFill>
                <a:latin typeface="Malgun Gothic" charset="0"/>
                <a:ea typeface="Malgun Gothic" charset="0"/>
              </a:rPr>
              <a:t>만드는</a:t>
            </a:r>
            <a:r>
              <a:rPr lang="ko-KR" sz="2600" b="1" strike="noStrike">
                <a:solidFill>
                  <a:srgbClr val="D9A441"/>
                </a:solidFill>
                <a:latin typeface="Malgun Gothic" charset="0"/>
                <a:ea typeface="Malgun Gothic" charset="0"/>
              </a:rPr>
              <a:t> </a:t>
            </a:r>
            <a:r>
              <a:rPr lang="ko-KR" sz="2600" b="1" strike="noStrike">
                <a:solidFill>
                  <a:srgbClr val="D9A441"/>
                </a:solidFill>
                <a:latin typeface="Malgun Gothic" charset="0"/>
                <a:ea typeface="Malgun Gothic" charset="0"/>
              </a:rPr>
              <a:t>진짜</a:t>
            </a:r>
            <a:r>
              <a:rPr lang="ko-KR" sz="2600" b="1" strike="noStrike">
                <a:solidFill>
                  <a:srgbClr val="D9A441"/>
                </a:solidFill>
                <a:latin typeface="Malgun Gothic" charset="0"/>
                <a:ea typeface="Malgun Gothic" charset="0"/>
              </a:rPr>
              <a:t> </a:t>
            </a:r>
            <a:r>
              <a:rPr lang="ko-KR" sz="2600" b="1" strike="noStrike">
                <a:solidFill>
                  <a:srgbClr val="D9A441"/>
                </a:solidFill>
                <a:latin typeface="Malgun Gothic" charset="0"/>
                <a:ea typeface="Malgun Gothic" charset="0"/>
              </a:rPr>
              <a:t>이유</a:t>
            </a:r>
            <a:r>
              <a:rPr lang="ko-KR" sz="2600" b="1" strike="noStrike">
                <a:solidFill>
                  <a:srgbClr val="F7F1E6"/>
                </a:solidFill>
                <a:latin typeface="Malgun Gothic" charset="0"/>
                <a:ea typeface="Malgun Gothic" charset="0"/>
              </a:rPr>
              <a:t>입니다</a:t>
            </a:r>
            <a:r>
              <a:rPr lang="en-US" sz="2600" b="1" strike="noStrike">
                <a:solidFill>
                  <a:srgbClr val="F7F1E6"/>
                </a:solidFill>
                <a:latin typeface="Malgun Gothic" charset="0"/>
                <a:ea typeface="Malgun Gothic" charset="0"/>
              </a:rPr>
              <a:t>.</a:t>
            </a:r>
            <a:endParaRPr lang="ko-KR" altLang="en-US" sz="2600" b="1" strike="noStrike">
              <a:solidFill>
                <a:srgbClr val="F7F1E6"/>
              </a:solidFill>
              <a:latin typeface="Malgun Gothic" charset="0"/>
              <a:ea typeface="Malgun Gothic" charset="0"/>
            </a:endParaRPr>
          </a:p>
          <a:p>
            <a:pPr marL="0" indent="0" defTabSz="914400">
              <a:lnSpc>
                <a:spcPct val="125000"/>
              </a:lnSpc>
              <a:buFontTx/>
              <a:buNone/>
              <a:tabLst>
                <a:tab pos="0" algn="l"/>
              </a:tabLst>
            </a:pPr>
            <a:r>
              <a:rPr lang="ko-KR" sz="2200" b="1" strike="noStrike">
                <a:solidFill>
                  <a:srgbClr val="B9CFC2"/>
                </a:solidFill>
                <a:latin typeface="Malgun Gothic" charset="0"/>
                <a:ea typeface="Malgun Gothic" charset="0"/>
              </a:rPr>
              <a:t>우심운까는</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이</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망설임을</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데이터로</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줄여보기로</a:t>
            </a:r>
            <a:r>
              <a:rPr lang="ko-KR" sz="2200" b="1" strike="noStrike">
                <a:solidFill>
                  <a:srgbClr val="B9CFC2"/>
                </a:solidFill>
                <a:latin typeface="Malgun Gothic" charset="0"/>
                <a:ea typeface="Malgun Gothic" charset="0"/>
              </a:rPr>
              <a:t> </a:t>
            </a:r>
            <a:r>
              <a:rPr lang="ko-KR" sz="2200" b="1" strike="noStrike">
                <a:solidFill>
                  <a:srgbClr val="B9CFC2"/>
                </a:solidFill>
                <a:latin typeface="Malgun Gothic" charset="0"/>
                <a:ea typeface="Malgun Gothic" charset="0"/>
              </a:rPr>
              <a:t>했습니다</a:t>
            </a:r>
            <a:r>
              <a:rPr lang="en-US" sz="2200" b="1" strike="noStrike">
                <a:solidFill>
                  <a:srgbClr val="B9CFC2"/>
                </a:solidFill>
                <a:latin typeface="Malgun Gothic" charset="0"/>
                <a:ea typeface="Malgun Gothic" charset="0"/>
              </a:rPr>
              <a:t>.</a:t>
            </a:r>
            <a:endParaRPr lang="ko-KR" altLang="en-US" sz="2200" b="1" strike="noStrike">
              <a:solidFill>
                <a:srgbClr val="B9CFC2"/>
              </a:solidFill>
              <a:latin typeface="Malgun Gothic" charset="0"/>
              <a:ea typeface="Malgun Gothic" charset="0"/>
            </a:endParaRPr>
          </a:p>
        </p:txBody>
      </p:sp>
      <p:sp>
        <p:nvSpPr>
          <p:cNvPr id="168" name="Text 14"/>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db5a8"/>
                </a:solidFill>
                <a:latin typeface="Malgun Gothic"/>
                <a:ea typeface="Malgun Gothic"/>
              </a:rPr>
              <a:t>WOOSIMWOONKKA · MY MOVE CLUB</a:t>
            </a:r>
            <a:endParaRPr b="0" lang="en-US" sz="900" spc="-1" strike="noStrike">
              <a:solidFill>
                <a:srgbClr val="ffffff"/>
              </a:solidFill>
              <a:latin typeface="Noto Sans KR"/>
            </a:endParaRPr>
          </a:p>
        </p:txBody>
      </p:sp>
      <p:sp>
        <p:nvSpPr>
          <p:cNvPr id="169" name="Text 15"/>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db5a8"/>
                </a:solidFill>
                <a:latin typeface="Malgun Gothic"/>
                <a:ea typeface="Malgun Gothic"/>
              </a:rPr>
              <a:t>07</a:t>
            </a:r>
            <a:endParaRPr b="0" lang="en-US" sz="900" spc="-1" strike="noStrike">
              <a:solidFill>
                <a:srgbClr val="ffffff"/>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170"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71"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03</a:t>
            </a:r>
            <a:endParaRPr b="0" lang="en-US" sz="1300" spc="-1" strike="noStrike">
              <a:solidFill>
                <a:srgbClr val="000000"/>
              </a:solidFill>
              <a:latin typeface="Noto Sans KR"/>
            </a:endParaRPr>
          </a:p>
        </p:txBody>
      </p:sp>
      <p:sp>
        <p:nvSpPr>
          <p:cNvPr id="172"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WHY DATA · </a:t>
            </a:r>
            <a:r>
              <a:rPr b="1" lang="ko-KR" sz="1400" spc="199" strike="noStrike">
                <a:solidFill>
                  <a:srgbClr val="b5654a"/>
                </a:solidFill>
                <a:latin typeface="Malgun Gothic"/>
                <a:ea typeface="Malgun Gothic"/>
              </a:rPr>
              <a:t>망설임 → 데이터 → 서비스</a:t>
            </a:r>
            <a:endParaRPr b="0" lang="en-US" sz="1400" spc="-1" strike="noStrike">
              <a:solidFill>
                <a:srgbClr val="000000"/>
              </a:solidFill>
              <a:latin typeface="Noto Sans KR"/>
            </a:endParaRPr>
          </a:p>
        </p:txBody>
      </p:sp>
      <p:sp>
        <p:nvSpPr>
          <p:cNvPr id="173"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망설이는 이유마다</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필요한 데이터가 있습니다</a:t>
            </a:r>
            <a:endParaRPr b="0" lang="en-US" sz="3400" spc="-1" strike="noStrike">
              <a:solidFill>
                <a:srgbClr val="000000"/>
              </a:solidFill>
              <a:latin typeface="Noto Sans KR"/>
            </a:endParaRPr>
          </a:p>
        </p:txBody>
      </p:sp>
      <p:sp>
        <p:nvSpPr>
          <p:cNvPr id="174" name="Text 4"/>
          <p:cNvSpPr/>
          <p:nvPr/>
        </p:nvSpPr>
        <p:spPr>
          <a:xfrm>
            <a:off x="1417320" y="1783080"/>
            <a:ext cx="329120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b5654a"/>
                </a:solidFill>
                <a:latin typeface="Malgun Gothic"/>
                <a:ea typeface="Malgun Gothic"/>
              </a:rPr>
              <a:t>운동을 망설이는 이유</a:t>
            </a:r>
            <a:endParaRPr b="0" lang="en-US" sz="1400" spc="-1" strike="noStrike">
              <a:solidFill>
                <a:srgbClr val="000000"/>
              </a:solidFill>
              <a:latin typeface="Noto Sans KR"/>
            </a:endParaRPr>
          </a:p>
        </p:txBody>
      </p:sp>
      <p:sp>
        <p:nvSpPr>
          <p:cNvPr id="175" name="Text 5"/>
          <p:cNvSpPr/>
          <p:nvPr/>
        </p:nvSpPr>
        <p:spPr>
          <a:xfrm>
            <a:off x="4572000" y="1783080"/>
            <a:ext cx="329120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b5654a"/>
                </a:solidFill>
                <a:latin typeface="Malgun Gothic"/>
                <a:ea typeface="Malgun Gothic"/>
              </a:rPr>
              <a:t>필요한 데이터</a:t>
            </a:r>
            <a:endParaRPr b="0" lang="en-US" sz="1400" spc="-1" strike="noStrike">
              <a:solidFill>
                <a:srgbClr val="000000"/>
              </a:solidFill>
              <a:latin typeface="Noto Sans KR"/>
            </a:endParaRPr>
          </a:p>
        </p:txBody>
      </p:sp>
      <p:sp>
        <p:nvSpPr>
          <p:cNvPr id="176" name="Text 6"/>
          <p:cNvSpPr/>
          <p:nvPr/>
        </p:nvSpPr>
        <p:spPr>
          <a:xfrm>
            <a:off x="8092440" y="1783080"/>
            <a:ext cx="329120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b5654a"/>
                </a:solidFill>
                <a:latin typeface="Malgun Gothic"/>
                <a:ea typeface="Malgun Gothic"/>
              </a:rPr>
              <a:t>서비스에서 하는 일</a:t>
            </a:r>
            <a:endParaRPr b="0" lang="en-US" sz="1400" spc="-1" strike="noStrike">
              <a:solidFill>
                <a:srgbClr val="000000"/>
              </a:solidFill>
              <a:latin typeface="Noto Sans KR"/>
            </a:endParaRPr>
          </a:p>
        </p:txBody>
      </p:sp>
      <p:sp>
        <p:nvSpPr>
          <p:cNvPr id="177" name="Shape 7"/>
          <p:cNvSpPr/>
          <p:nvPr/>
        </p:nvSpPr>
        <p:spPr>
          <a:xfrm>
            <a:off x="548640" y="2176145"/>
            <a:ext cx="11091545" cy="657860"/>
          </a:xfrm>
          <a:prstGeom prst="roundRect">
            <a:avLst>
              <a:gd name="adj" fmla="val 19444"/>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78" name="Shape 8"/>
          <p:cNvSpPr/>
          <p:nvPr/>
        </p:nvSpPr>
        <p:spPr>
          <a:xfrm>
            <a:off x="713105" y="2267585"/>
            <a:ext cx="474980" cy="474980"/>
          </a:xfrm>
          <a:prstGeom prst="ellipse">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179" name="Image 0"/>
          <p:cNvPicPr/>
          <p:nvPr/>
        </p:nvPicPr>
        <p:blipFill>
          <a:blip r:embed="rId1"/>
          <a:stretch/>
        </p:blipFill>
        <p:spPr>
          <a:xfrm>
            <a:off x="836930" y="2391410"/>
            <a:ext cx="227965" cy="227965"/>
          </a:xfrm>
          <a:prstGeom prst="rect">
            <a:avLst/>
          </a:prstGeom>
          <a:ln w="0">
            <a:noFill/>
          </a:ln>
        </p:spPr>
      </p:pic>
      <p:sp>
        <p:nvSpPr>
          <p:cNvPr id="180" name="Text 9"/>
          <p:cNvSpPr/>
          <p:nvPr/>
        </p:nvSpPr>
        <p:spPr>
          <a:xfrm>
            <a:off x="1417320" y="2176145"/>
            <a:ext cx="30168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비 </a:t>
            </a:r>
            <a:r>
              <a:rPr b="1" lang="en-US" sz="1800" spc="-1" strike="noStrike">
                <a:solidFill>
                  <a:srgbClr val="1e2621"/>
                </a:solidFill>
                <a:latin typeface="Malgun Gothic"/>
                <a:ea typeface="Malgun Gothic"/>
              </a:rPr>
              <a:t>· </a:t>
            </a:r>
            <a:r>
              <a:rPr b="1" lang="ko-KR" sz="1800" spc="-1" strike="noStrike">
                <a:solidFill>
                  <a:srgbClr val="1e2621"/>
                </a:solidFill>
                <a:latin typeface="Malgun Gothic"/>
                <a:ea typeface="Malgun Gothic"/>
              </a:rPr>
              <a:t>더위 </a:t>
            </a:r>
            <a:r>
              <a:rPr b="1" lang="en-US" sz="1800" spc="-1" strike="noStrike">
                <a:solidFill>
                  <a:srgbClr val="1e2621"/>
                </a:solidFill>
                <a:latin typeface="Malgun Gothic"/>
                <a:ea typeface="Malgun Gothic"/>
              </a:rPr>
              <a:t>· </a:t>
            </a:r>
            <a:r>
              <a:rPr b="1" lang="ko-KR" sz="1800" spc="-1" strike="noStrike">
                <a:solidFill>
                  <a:srgbClr val="1e2621"/>
                </a:solidFill>
                <a:latin typeface="Malgun Gothic"/>
                <a:ea typeface="Malgun Gothic"/>
              </a:rPr>
              <a:t>추위</a:t>
            </a:r>
            <a:endParaRPr b="0" lang="en-US" sz="1800" spc="-1" strike="noStrike">
              <a:solidFill>
                <a:srgbClr val="000000"/>
              </a:solidFill>
              <a:latin typeface="Noto Sans KR"/>
            </a:endParaRPr>
          </a:p>
        </p:txBody>
      </p:sp>
      <p:sp>
        <p:nvSpPr>
          <p:cNvPr id="181" name="Text 10"/>
          <p:cNvSpPr/>
          <p:nvPr/>
        </p:nvSpPr>
        <p:spPr>
          <a:xfrm>
            <a:off x="4572000" y="2176145"/>
            <a:ext cx="338264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2e5a46"/>
                </a:solidFill>
                <a:latin typeface="Malgun Gothic"/>
                <a:ea typeface="Malgun Gothic"/>
              </a:rPr>
              <a:t>강수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기온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습도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풍속</a:t>
            </a:r>
            <a:endParaRPr b="0" lang="en-US" sz="1500" spc="-1" strike="noStrike">
              <a:solidFill>
                <a:srgbClr val="000000"/>
              </a:solidFill>
              <a:latin typeface="Noto Sans KR"/>
            </a:endParaRPr>
          </a:p>
        </p:txBody>
      </p:sp>
      <p:sp>
        <p:nvSpPr>
          <p:cNvPr id="182" name="Shape 11"/>
          <p:cNvSpPr/>
          <p:nvPr/>
        </p:nvSpPr>
        <p:spPr>
          <a:xfrm>
            <a:off x="7635240" y="2368550"/>
            <a:ext cx="292100" cy="273685"/>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83" name="Text 12"/>
          <p:cNvSpPr/>
          <p:nvPr/>
        </p:nvSpPr>
        <p:spPr>
          <a:xfrm>
            <a:off x="8092440" y="2176145"/>
            <a:ext cx="34740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실내외 시설의 추천 점수 조정</a:t>
            </a:r>
            <a:endParaRPr b="0" lang="en-US" sz="1500" spc="-1" strike="noStrike">
              <a:solidFill>
                <a:srgbClr val="000000"/>
              </a:solidFill>
              <a:latin typeface="Noto Sans KR"/>
            </a:endParaRPr>
          </a:p>
        </p:txBody>
      </p:sp>
      <p:sp>
        <p:nvSpPr>
          <p:cNvPr id="184" name="Shape 13"/>
          <p:cNvSpPr/>
          <p:nvPr/>
        </p:nvSpPr>
        <p:spPr>
          <a:xfrm>
            <a:off x="548640" y="2934970"/>
            <a:ext cx="11091545" cy="657860"/>
          </a:xfrm>
          <a:prstGeom prst="roundRect">
            <a:avLst>
              <a:gd name="adj" fmla="val 19444"/>
            </a:avLst>
          </a:prstGeom>
          <a:solidFill>
            <a:srgbClr val="fffcf6"/>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85" name="Shape 14"/>
          <p:cNvSpPr/>
          <p:nvPr/>
        </p:nvSpPr>
        <p:spPr>
          <a:xfrm>
            <a:off x="713105" y="3026410"/>
            <a:ext cx="474980" cy="474980"/>
          </a:xfrm>
          <a:prstGeom prst="ellipse">
            <a:avLst/>
          </a:prstGeom>
          <a:solidFill>
            <a:srgbClr val="7c7466"/>
          </a:solidFill>
          <a:ln w="12700">
            <a:solidFill>
              <a:srgbClr val="7c746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186" name="Image 1"/>
          <p:cNvPicPr/>
          <p:nvPr/>
        </p:nvPicPr>
        <p:blipFill>
          <a:blip r:embed="rId2"/>
          <a:stretch/>
        </p:blipFill>
        <p:spPr>
          <a:xfrm>
            <a:off x="836930" y="3150235"/>
            <a:ext cx="227965" cy="227965"/>
          </a:xfrm>
          <a:prstGeom prst="rect">
            <a:avLst/>
          </a:prstGeom>
          <a:ln w="0">
            <a:noFill/>
          </a:ln>
        </p:spPr>
      </p:pic>
      <p:sp>
        <p:nvSpPr>
          <p:cNvPr id="187" name="Text 15"/>
          <p:cNvSpPr/>
          <p:nvPr/>
        </p:nvSpPr>
        <p:spPr>
          <a:xfrm>
            <a:off x="1417320" y="2934970"/>
            <a:ext cx="30168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미세먼지</a:t>
            </a:r>
            <a:endParaRPr b="0" lang="en-US" sz="1800" spc="-1" strike="noStrike">
              <a:solidFill>
                <a:srgbClr val="000000"/>
              </a:solidFill>
              <a:latin typeface="Noto Sans KR"/>
            </a:endParaRPr>
          </a:p>
        </p:txBody>
      </p:sp>
      <p:sp>
        <p:nvSpPr>
          <p:cNvPr id="188" name="Text 16"/>
          <p:cNvSpPr/>
          <p:nvPr/>
        </p:nvSpPr>
        <p:spPr>
          <a:xfrm>
            <a:off x="4572000" y="2934970"/>
            <a:ext cx="338264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e5a46"/>
                </a:solidFill>
                <a:latin typeface="Malgun Gothic"/>
                <a:ea typeface="Malgun Gothic"/>
              </a:rPr>
              <a:t>PM10 · PM2.5</a:t>
            </a:r>
            <a:endParaRPr b="0" lang="en-US" sz="1500" spc="-1" strike="noStrike">
              <a:solidFill>
                <a:srgbClr val="000000"/>
              </a:solidFill>
              <a:latin typeface="Noto Sans KR"/>
            </a:endParaRPr>
          </a:p>
        </p:txBody>
      </p:sp>
      <p:sp>
        <p:nvSpPr>
          <p:cNvPr id="189" name="Shape 17"/>
          <p:cNvSpPr/>
          <p:nvPr/>
        </p:nvSpPr>
        <p:spPr>
          <a:xfrm>
            <a:off x="7635240" y="3127375"/>
            <a:ext cx="292100" cy="273685"/>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90" name="Text 18"/>
          <p:cNvSpPr/>
          <p:nvPr/>
        </p:nvSpPr>
        <p:spPr>
          <a:xfrm>
            <a:off x="8092440" y="2934970"/>
            <a:ext cx="34740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대기질이 나쁘면 실내 시설에 가점</a:t>
            </a:r>
            <a:endParaRPr b="0" lang="en-US" sz="1500" spc="-1" strike="noStrike">
              <a:solidFill>
                <a:srgbClr val="000000"/>
              </a:solidFill>
              <a:latin typeface="Noto Sans KR"/>
            </a:endParaRPr>
          </a:p>
        </p:txBody>
      </p:sp>
      <p:sp>
        <p:nvSpPr>
          <p:cNvPr id="191" name="Shape 19"/>
          <p:cNvSpPr/>
          <p:nvPr/>
        </p:nvSpPr>
        <p:spPr>
          <a:xfrm>
            <a:off x="548640" y="3694430"/>
            <a:ext cx="11091545" cy="657860"/>
          </a:xfrm>
          <a:prstGeom prst="roundRect">
            <a:avLst>
              <a:gd name="adj" fmla="val 19444"/>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92" name="Shape 20"/>
          <p:cNvSpPr/>
          <p:nvPr/>
        </p:nvSpPr>
        <p:spPr>
          <a:xfrm>
            <a:off x="713105" y="3785870"/>
            <a:ext cx="474980" cy="47498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193" name="Image 2"/>
          <p:cNvPicPr/>
          <p:nvPr/>
        </p:nvPicPr>
        <p:blipFill>
          <a:blip r:embed="rId3"/>
          <a:stretch/>
        </p:blipFill>
        <p:spPr>
          <a:xfrm>
            <a:off x="836930" y="3909060"/>
            <a:ext cx="227965" cy="227965"/>
          </a:xfrm>
          <a:prstGeom prst="rect">
            <a:avLst/>
          </a:prstGeom>
          <a:ln w="0">
            <a:noFill/>
          </a:ln>
        </p:spPr>
      </p:pic>
      <p:sp>
        <p:nvSpPr>
          <p:cNvPr id="194" name="Text 21"/>
          <p:cNvSpPr/>
          <p:nvPr/>
        </p:nvSpPr>
        <p:spPr>
          <a:xfrm>
            <a:off x="1417320" y="3694430"/>
            <a:ext cx="30168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너무 먼 장소</a:t>
            </a:r>
            <a:endParaRPr b="0" lang="en-US" sz="1800" spc="-1" strike="noStrike">
              <a:solidFill>
                <a:srgbClr val="000000"/>
              </a:solidFill>
              <a:latin typeface="Noto Sans KR"/>
            </a:endParaRPr>
          </a:p>
        </p:txBody>
      </p:sp>
      <p:sp>
        <p:nvSpPr>
          <p:cNvPr id="195" name="Text 22"/>
          <p:cNvSpPr/>
          <p:nvPr/>
        </p:nvSpPr>
        <p:spPr>
          <a:xfrm>
            <a:off x="4572000" y="3694430"/>
            <a:ext cx="338264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2e5a46"/>
                </a:solidFill>
                <a:latin typeface="Malgun Gothic"/>
                <a:ea typeface="Malgun Gothic"/>
              </a:rPr>
              <a:t>시설 주소</a:t>
            </a:r>
            <a:r>
              <a:rPr b="1" lang="en-US" sz="1500" spc="-1" strike="noStrike">
                <a:solidFill>
                  <a:srgbClr val="2e5a46"/>
                </a:solidFill>
                <a:latin typeface="Malgun Gothic"/>
                <a:ea typeface="Malgun Gothic"/>
              </a:rPr>
              <a:t>·</a:t>
            </a:r>
            <a:r>
              <a:rPr b="1" lang="ko-KR" sz="1500" spc="-1" strike="noStrike">
                <a:solidFill>
                  <a:srgbClr val="2e5a46"/>
                </a:solidFill>
                <a:latin typeface="Malgun Gothic"/>
                <a:ea typeface="Malgun Gothic"/>
              </a:rPr>
              <a:t>좌표</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사용자 위치</a:t>
            </a:r>
            <a:endParaRPr b="0" lang="en-US" sz="1500" spc="-1" strike="noStrike">
              <a:solidFill>
                <a:srgbClr val="000000"/>
              </a:solidFill>
              <a:latin typeface="Noto Sans KR"/>
            </a:endParaRPr>
          </a:p>
        </p:txBody>
      </p:sp>
      <p:sp>
        <p:nvSpPr>
          <p:cNvPr id="196" name="Shape 23"/>
          <p:cNvSpPr/>
          <p:nvPr/>
        </p:nvSpPr>
        <p:spPr>
          <a:xfrm>
            <a:off x="7635240" y="3886200"/>
            <a:ext cx="292100" cy="273685"/>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97" name="Text 24"/>
          <p:cNvSpPr/>
          <p:nvPr/>
        </p:nvSpPr>
        <p:spPr>
          <a:xfrm>
            <a:off x="8092440" y="3694430"/>
            <a:ext cx="34740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거리 계산 → 가까운 시설 추천</a:t>
            </a:r>
            <a:endParaRPr b="0" lang="en-US" sz="1500" spc="-1" strike="noStrike">
              <a:solidFill>
                <a:srgbClr val="000000"/>
              </a:solidFill>
              <a:latin typeface="Noto Sans KR"/>
            </a:endParaRPr>
          </a:p>
        </p:txBody>
      </p:sp>
      <p:sp>
        <p:nvSpPr>
          <p:cNvPr id="198" name="Shape 25"/>
          <p:cNvSpPr/>
          <p:nvPr/>
        </p:nvSpPr>
        <p:spPr>
          <a:xfrm>
            <a:off x="548640" y="4453255"/>
            <a:ext cx="11091545" cy="657860"/>
          </a:xfrm>
          <a:prstGeom prst="roundRect">
            <a:avLst>
              <a:gd name="adj" fmla="val 19444"/>
            </a:avLst>
          </a:prstGeom>
          <a:solidFill>
            <a:srgbClr val="fffcf6"/>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199" name="Shape 26"/>
          <p:cNvSpPr/>
          <p:nvPr/>
        </p:nvSpPr>
        <p:spPr>
          <a:xfrm>
            <a:off x="713105" y="4544695"/>
            <a:ext cx="474980" cy="474980"/>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200" name="Image 3"/>
          <p:cNvPicPr/>
          <p:nvPr/>
        </p:nvPicPr>
        <p:blipFill>
          <a:blip r:embed="rId4"/>
          <a:stretch/>
        </p:blipFill>
        <p:spPr>
          <a:xfrm>
            <a:off x="836930" y="4667885"/>
            <a:ext cx="227965" cy="227965"/>
          </a:xfrm>
          <a:prstGeom prst="rect">
            <a:avLst/>
          </a:prstGeom>
          <a:ln w="0">
            <a:noFill/>
          </a:ln>
        </p:spPr>
      </p:pic>
      <p:sp>
        <p:nvSpPr>
          <p:cNvPr id="201" name="Text 27"/>
          <p:cNvSpPr/>
          <p:nvPr/>
        </p:nvSpPr>
        <p:spPr>
          <a:xfrm>
            <a:off x="1417320" y="4453255"/>
            <a:ext cx="30168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이동할 시간이 부족함</a:t>
            </a:r>
            <a:endParaRPr b="0" lang="en-US" sz="1800" spc="-1" strike="noStrike">
              <a:solidFill>
                <a:srgbClr val="000000"/>
              </a:solidFill>
              <a:latin typeface="Noto Sans KR"/>
            </a:endParaRPr>
          </a:p>
        </p:txBody>
      </p:sp>
      <p:sp>
        <p:nvSpPr>
          <p:cNvPr id="202" name="Text 28"/>
          <p:cNvSpPr/>
          <p:nvPr/>
        </p:nvSpPr>
        <p:spPr>
          <a:xfrm>
            <a:off x="4572000" y="4453255"/>
            <a:ext cx="338264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2e5a46"/>
                </a:solidFill>
                <a:latin typeface="Malgun Gothic"/>
                <a:ea typeface="Malgun Gothic"/>
              </a:rPr>
              <a:t>거리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입력한 최대 이동시간</a:t>
            </a:r>
            <a:endParaRPr b="0" lang="en-US" sz="1500" spc="-1" strike="noStrike">
              <a:solidFill>
                <a:srgbClr val="000000"/>
              </a:solidFill>
              <a:latin typeface="Noto Sans KR"/>
            </a:endParaRPr>
          </a:p>
        </p:txBody>
      </p:sp>
      <p:sp>
        <p:nvSpPr>
          <p:cNvPr id="203" name="Shape 29"/>
          <p:cNvSpPr/>
          <p:nvPr/>
        </p:nvSpPr>
        <p:spPr>
          <a:xfrm>
            <a:off x="7635240" y="4645025"/>
            <a:ext cx="292100" cy="273685"/>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04" name="Text 30"/>
          <p:cNvSpPr/>
          <p:nvPr/>
        </p:nvSpPr>
        <p:spPr>
          <a:xfrm>
            <a:off x="8092440" y="4453255"/>
            <a:ext cx="34740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예상 이동시간으로 후보 필터링</a:t>
            </a:r>
            <a:endParaRPr b="0" lang="en-US" sz="1500" spc="-1" strike="noStrike">
              <a:solidFill>
                <a:srgbClr val="000000"/>
              </a:solidFill>
              <a:latin typeface="Noto Sans KR"/>
            </a:endParaRPr>
          </a:p>
        </p:txBody>
      </p:sp>
      <p:sp>
        <p:nvSpPr>
          <p:cNvPr id="205" name="Shape 31"/>
          <p:cNvSpPr/>
          <p:nvPr/>
        </p:nvSpPr>
        <p:spPr>
          <a:xfrm>
            <a:off x="548640" y="5212080"/>
            <a:ext cx="11091545" cy="657860"/>
          </a:xfrm>
          <a:prstGeom prst="roundRect">
            <a:avLst>
              <a:gd name="adj" fmla="val 19444"/>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06" name="Shape 32"/>
          <p:cNvSpPr/>
          <p:nvPr/>
        </p:nvSpPr>
        <p:spPr>
          <a:xfrm>
            <a:off x="713105" y="5303520"/>
            <a:ext cx="474980" cy="474980"/>
          </a:xfrm>
          <a:prstGeom prst="ellipse">
            <a:avLst/>
          </a:prstGeom>
          <a:solidFill>
            <a:srgbClr val="4f7a9a"/>
          </a:solidFill>
          <a:ln w="12700">
            <a:solidFill>
              <a:srgbClr val="4f7a9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207" name="Image 4"/>
          <p:cNvPicPr/>
          <p:nvPr/>
        </p:nvPicPr>
        <p:blipFill>
          <a:blip r:embed="rId5"/>
          <a:stretch/>
        </p:blipFill>
        <p:spPr>
          <a:xfrm>
            <a:off x="836930" y="5426710"/>
            <a:ext cx="227965" cy="227965"/>
          </a:xfrm>
          <a:prstGeom prst="rect">
            <a:avLst/>
          </a:prstGeom>
          <a:ln w="0">
            <a:noFill/>
          </a:ln>
        </p:spPr>
      </p:pic>
      <p:sp>
        <p:nvSpPr>
          <p:cNvPr id="208" name="Text 33"/>
          <p:cNvSpPr/>
          <p:nvPr/>
        </p:nvSpPr>
        <p:spPr>
          <a:xfrm>
            <a:off x="1417320" y="5212080"/>
            <a:ext cx="30168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800" spc="-1" strike="noStrike">
                <a:solidFill>
                  <a:srgbClr val="1e2621"/>
                </a:solidFill>
                <a:latin typeface="Malgun Gothic"/>
                <a:ea typeface="Malgun Gothic"/>
              </a:rPr>
              <a:t>갔는데 문이 닫혀 있음</a:t>
            </a:r>
            <a:endParaRPr b="0" lang="en-US" sz="1800" spc="-1" strike="noStrike">
              <a:solidFill>
                <a:srgbClr val="000000"/>
              </a:solidFill>
              <a:latin typeface="Noto Sans KR"/>
            </a:endParaRPr>
          </a:p>
        </p:txBody>
      </p:sp>
      <p:sp>
        <p:nvSpPr>
          <p:cNvPr id="209" name="Text 34"/>
          <p:cNvSpPr/>
          <p:nvPr/>
        </p:nvSpPr>
        <p:spPr>
          <a:xfrm>
            <a:off x="4572000" y="5212080"/>
            <a:ext cx="338264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2e5a46"/>
                </a:solidFill>
                <a:latin typeface="Malgun Gothic"/>
                <a:ea typeface="Malgun Gothic"/>
              </a:rPr>
              <a:t>공개 운영 </a:t>
            </a:r>
            <a:r>
              <a:rPr b="1" lang="en-US" sz="1500" spc="-1" strike="noStrike">
                <a:solidFill>
                  <a:srgbClr val="2e5a46"/>
                </a:solidFill>
                <a:latin typeface="Malgun Gothic"/>
                <a:ea typeface="Malgun Gothic"/>
              </a:rPr>
              <a:t>· </a:t>
            </a:r>
            <a:r>
              <a:rPr b="1" lang="ko-KR" sz="1500" spc="-1" strike="noStrike">
                <a:solidFill>
                  <a:srgbClr val="2e5a46"/>
                </a:solidFill>
                <a:latin typeface="Malgun Gothic"/>
                <a:ea typeface="Malgun Gothic"/>
              </a:rPr>
              <a:t>휴무 안내</a:t>
            </a:r>
            <a:endParaRPr b="0" lang="en-US" sz="1500" spc="-1" strike="noStrike">
              <a:solidFill>
                <a:srgbClr val="000000"/>
              </a:solidFill>
              <a:latin typeface="Noto Sans KR"/>
            </a:endParaRPr>
          </a:p>
        </p:txBody>
      </p:sp>
      <p:sp>
        <p:nvSpPr>
          <p:cNvPr id="210" name="Shape 35"/>
          <p:cNvSpPr/>
          <p:nvPr/>
        </p:nvSpPr>
        <p:spPr>
          <a:xfrm>
            <a:off x="7635240" y="5403850"/>
            <a:ext cx="292100" cy="273685"/>
          </a:xfrm>
          <a:prstGeom prst="rightArrow">
            <a:avLst>
              <a:gd name="adj1" fmla="val 50000"/>
              <a:gd name="adj2" fmla="val 50000"/>
            </a:avLst>
          </a:prstGeom>
          <a:solidFill>
            <a:srgbClr val="d8cbb2"/>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11" name="Text 36"/>
          <p:cNvSpPr/>
          <p:nvPr/>
        </p:nvSpPr>
        <p:spPr>
          <a:xfrm>
            <a:off x="8092440" y="5212080"/>
            <a:ext cx="3474085" cy="6578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500" spc="-1" strike="noStrike">
                <a:solidFill>
                  <a:srgbClr val="1e2621"/>
                </a:solidFill>
                <a:latin typeface="Malgun Gothic"/>
                <a:ea typeface="Malgun Gothic"/>
              </a:rPr>
              <a:t>운영정보 확인</a:t>
            </a:r>
            <a:r>
              <a:rPr b="1" lang="en-US" sz="1500" spc="-1" strike="noStrike">
                <a:solidFill>
                  <a:srgbClr val="1e2621"/>
                </a:solidFill>
                <a:latin typeface="Malgun Gothic"/>
                <a:ea typeface="Malgun Gothic"/>
              </a:rPr>
              <a:t>, </a:t>
            </a:r>
            <a:r>
              <a:rPr b="1" lang="ko-KR" sz="1500" spc="-1" strike="noStrike">
                <a:solidFill>
                  <a:srgbClr val="1e2621"/>
                </a:solidFill>
                <a:latin typeface="Malgun Gothic"/>
                <a:ea typeface="Malgun Gothic"/>
              </a:rPr>
              <a:t>일부 휴무 문구 감점</a:t>
            </a:r>
            <a:endParaRPr b="0" lang="en-US" sz="1500" spc="-1" strike="noStrike">
              <a:solidFill>
                <a:srgbClr val="000000"/>
              </a:solidFill>
              <a:latin typeface="Noto Sans KR"/>
            </a:endParaRPr>
          </a:p>
        </p:txBody>
      </p:sp>
      <p:sp>
        <p:nvSpPr>
          <p:cNvPr id="212" name="Text 37"/>
          <p:cNvSpPr/>
          <p:nvPr/>
        </p:nvSpPr>
        <p:spPr>
          <a:xfrm>
            <a:off x="548640" y="6053455"/>
            <a:ext cx="11063605" cy="27368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b5654a"/>
                </a:solidFill>
                <a:latin typeface="Malgun Gothic"/>
                <a:ea typeface="Malgun Gothic"/>
              </a:rPr>
              <a:t>※ </a:t>
            </a:r>
            <a:r>
              <a:rPr b="1" lang="ko-KR" sz="1300" spc="-1" strike="noStrike">
                <a:solidFill>
                  <a:srgbClr val="b5654a"/>
                </a:solidFill>
                <a:latin typeface="Malgun Gothic"/>
                <a:ea typeface="Malgun Gothic"/>
              </a:rPr>
              <a:t>이동시간은 공공데이터가 아닌 계산값  </a:t>
            </a:r>
            <a:r>
              <a:rPr b="1" lang="ko-KR" sz="1300" spc="-1" strike="noStrike">
                <a:solidFill>
                  <a:srgbClr val="5e5b52"/>
                </a:solidFill>
                <a:latin typeface="Malgun Gothic"/>
                <a:ea typeface="Malgun Gothic"/>
              </a:rPr>
              <a:t>예상 이동시간</a:t>
            </a:r>
            <a:r>
              <a:rPr b="1" lang="en-US" sz="1300" spc="-1" strike="noStrike">
                <a:solidFill>
                  <a:srgbClr val="5e5b52"/>
                </a:solidFill>
                <a:latin typeface="Malgun Gothic"/>
                <a:ea typeface="Malgun Gothic"/>
              </a:rPr>
              <a:t>(</a:t>
            </a:r>
            <a:r>
              <a:rPr b="1" lang="ko-KR" sz="1300" spc="-1" strike="noStrike">
                <a:solidFill>
                  <a:srgbClr val="5e5b52"/>
                </a:solidFill>
                <a:latin typeface="Malgun Gothic"/>
                <a:ea typeface="Malgun Gothic"/>
              </a:rPr>
              <a:t>분</a:t>
            </a:r>
            <a:r>
              <a:rPr b="1" lang="en-US" sz="1300" spc="-1" strike="noStrike">
                <a:solidFill>
                  <a:srgbClr val="5e5b52"/>
                </a:solidFill>
                <a:latin typeface="Malgun Gothic"/>
                <a:ea typeface="Malgun Gothic"/>
              </a:rPr>
              <a:t>) = </a:t>
            </a:r>
            <a:r>
              <a:rPr b="1" lang="ko-KR" sz="1300" spc="-1" strike="noStrike">
                <a:solidFill>
                  <a:srgbClr val="5e5b52"/>
                </a:solidFill>
                <a:latin typeface="Malgun Gothic"/>
                <a:ea typeface="Malgun Gothic"/>
              </a:rPr>
              <a:t>거리</a:t>
            </a:r>
            <a:r>
              <a:rPr b="1" lang="en-US" sz="1300" spc="-1" strike="noStrike">
                <a:solidFill>
                  <a:srgbClr val="5e5b52"/>
                </a:solidFill>
                <a:latin typeface="Malgun Gothic"/>
                <a:ea typeface="Malgun Gothic"/>
              </a:rPr>
              <a:t>(km) × 20 </a:t>
            </a:r>
            <a:r>
              <a:rPr b="1" lang="ko-KR" sz="1300" spc="-1" strike="noStrike">
                <a:solidFill>
                  <a:srgbClr val="5e5b52"/>
                </a:solidFill>
                <a:latin typeface="Malgun Gothic"/>
                <a:ea typeface="Malgun Gothic"/>
              </a:rPr>
              <a:t>반올림 </a:t>
            </a:r>
            <a:r>
              <a:rPr b="1" lang="en-US" sz="1300" spc="-1" strike="noStrike">
                <a:solidFill>
                  <a:srgbClr val="5e5b52"/>
                </a:solidFill>
                <a:latin typeface="Malgun Gothic"/>
                <a:ea typeface="Malgun Gothic"/>
              </a:rPr>
              <a:t>· </a:t>
            </a:r>
            <a:r>
              <a:rPr b="1" lang="ko-KR" sz="1300" spc="-1" strike="noStrike">
                <a:solidFill>
                  <a:srgbClr val="5e5b52"/>
                </a:solidFill>
                <a:latin typeface="Malgun Gothic"/>
                <a:ea typeface="Malgun Gothic"/>
              </a:rPr>
              <a:t>실제 길찾기 시간과는 다릅니다</a:t>
            </a:r>
            <a:endParaRPr b="0" lang="en-US" sz="1300" spc="-1" strike="noStrike">
              <a:solidFill>
                <a:srgbClr val="000000"/>
              </a:solidFill>
              <a:latin typeface="Noto Sans KR"/>
            </a:endParaRPr>
          </a:p>
        </p:txBody>
      </p:sp>
      <p:sp>
        <p:nvSpPr>
          <p:cNvPr id="213" name="Text 38"/>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214" name="Text 39"/>
          <p:cNvSpPr/>
          <p:nvPr/>
        </p:nvSpPr>
        <p:spPr>
          <a:xfrm>
            <a:off x="11182985" y="6446520"/>
            <a:ext cx="457200" cy="228600"/>
          </a:xfrm>
          <a:prstGeom prst="rect">
            <a:avLst/>
          </a:prstGeom>
          <a:noFill/>
          <a:ln w="0">
            <a:noFill/>
          </a:ln>
        </p:spPr>
        <p:style>
          <a:lnRef idx="0"/>
          <a:fillRef idx="0"/>
          <a:effectRef idx="0"/>
          <a:fontRef idx="minor"/>
        </p:style>
        <p:txBody>
          <a:bodyPr wrap="square" lIns="0" tIns="0" rIns="0" bIns="0" numCol="1" vert="horz" anchor="t">
            <a:noAutofit/>
          </a:bodyPr>
          <a:lstStyle/>
          <a:p>
            <a:pPr marL="0" indent="0" algn="r" defTabSz="914400">
              <a:lnSpc>
                <a:spcPct val="100000"/>
              </a:lnSpc>
              <a:buFontTx/>
              <a:buNone/>
              <a:tabLst>
                <a:tab pos="0" algn="l"/>
              </a:tabLst>
            </a:pPr>
            <a:r>
              <a:rPr lang="en-US" sz="900" b="1" strike="noStrike">
                <a:solidFill>
                  <a:srgbClr val="9A907C"/>
                </a:solidFill>
                <a:latin typeface="Malgun Gothic" charset="0"/>
                <a:ea typeface="Malgun Gothic" charset="0"/>
              </a:rPr>
              <a:t>08</a:t>
            </a:r>
            <a:r>
              <a:rPr lang="ko-KR" sz="900" b="1" strike="noStrike">
                <a:solidFill>
                  <a:srgbClr val="9A907C"/>
                </a:solidFill>
                <a:latin typeface="Malgun Gothic" charset="0"/>
                <a:ea typeface="Malgun Gothic" charset="0"/>
              </a:rPr>
              <a:t/>
            </a:r>
            <a:endParaRPr lang="ko-KR" altLang="en-US" sz="900" b="1" strike="noStrike">
              <a:solidFill>
                <a:srgbClr val="9A907C"/>
              </a:solidFill>
              <a:latin typeface="Malgun Gothic" charset="0"/>
              <a:ea typeface="Malgun Gothic" charset="0"/>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215"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16"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03</a:t>
            </a:r>
            <a:endParaRPr b="0" lang="en-US" sz="1300" spc="-1" strike="noStrike">
              <a:solidFill>
                <a:srgbClr val="000000"/>
              </a:solidFill>
              <a:latin typeface="Noto Sans KR"/>
            </a:endParaRPr>
          </a:p>
        </p:txBody>
      </p:sp>
      <p:sp>
        <p:nvSpPr>
          <p:cNvPr id="217"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DATA · </a:t>
            </a:r>
            <a:r>
              <a:rPr b="1" lang="ko-KR" sz="1400" spc="199" strike="noStrike">
                <a:solidFill>
                  <a:srgbClr val="b5654a"/>
                </a:solidFill>
                <a:latin typeface="Malgun Gothic"/>
                <a:ea typeface="Malgun Gothic"/>
              </a:rPr>
              <a:t>활용 데이터</a:t>
            </a:r>
            <a:endParaRPr b="0" lang="en-US" sz="1400" spc="-1" strike="noStrike">
              <a:solidFill>
                <a:srgbClr val="000000"/>
              </a:solidFill>
              <a:latin typeface="Noto Sans KR"/>
            </a:endParaRPr>
          </a:p>
        </p:txBody>
      </p:sp>
      <p:sp>
        <p:nvSpPr>
          <p:cNvPr id="218"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그래서</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이런 공공데이터를 모았습니다</a:t>
            </a:r>
            <a:endParaRPr b="0" lang="en-US" sz="3400" spc="-1" strike="noStrike">
              <a:solidFill>
                <a:srgbClr val="000000"/>
              </a:solidFill>
              <a:latin typeface="Noto Sans KR"/>
            </a:endParaRPr>
          </a:p>
        </p:txBody>
      </p:sp>
      <p:sp>
        <p:nvSpPr>
          <p:cNvPr id="219" name="Shape 4"/>
          <p:cNvSpPr/>
          <p:nvPr/>
        </p:nvSpPr>
        <p:spPr>
          <a:xfrm>
            <a:off x="548640" y="1828800"/>
            <a:ext cx="5485765" cy="4251325"/>
          </a:xfrm>
          <a:prstGeom prst="roundRect">
            <a:avLst>
              <a:gd name="adj" fmla="val 3011"/>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20" name="Shape 5"/>
          <p:cNvSpPr/>
          <p:nvPr/>
        </p:nvSpPr>
        <p:spPr>
          <a:xfrm>
            <a:off x="777240" y="2030095"/>
            <a:ext cx="567055" cy="567055"/>
          </a:xfrm>
          <a:prstGeom prst="ellipse">
            <a:avLst/>
          </a:prstGeom>
          <a:solidFill>
            <a:srgbClr val="2e5a46"/>
          </a:solidFill>
          <a:ln w="12700">
            <a:solidFill>
              <a:srgbClr val="2e5a46"/>
            </a:solidFill>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000" b="0" strike="noStrike">
              <a:solidFill>
                <a:srgbClr val="000000"/>
              </a:solidFill>
              <a:latin typeface="Noto Sans KR" charset="0"/>
            </a:endParaRPr>
          </a:p>
        </p:txBody>
      </p:sp>
      <p:pic>
        <p:nvPicPr>
          <p:cNvPr id="221" name="Image 0"/>
          <p:cNvPicPr/>
          <p:nvPr/>
        </p:nvPicPr>
        <p:blipFill>
          <a:blip r:embed="rId1"/>
          <a:stretch/>
        </p:blipFill>
        <p:spPr>
          <a:xfrm>
            <a:off x="924560" y="2177415"/>
            <a:ext cx="272415" cy="272415"/>
          </a:xfrm>
          <a:prstGeom prst="rect">
            <a:avLst/>
          </a:prstGeom>
          <a:ln w="0">
            <a:noFill/>
          </a:ln>
        </p:spPr>
      </p:pic>
      <p:sp>
        <p:nvSpPr>
          <p:cNvPr id="222" name="Text 6"/>
          <p:cNvSpPr/>
          <p:nvPr/>
        </p:nvSpPr>
        <p:spPr>
          <a:xfrm>
            <a:off x="1481455" y="1993265"/>
            <a:ext cx="3200400" cy="36576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2200" b="1" strike="noStrike">
                <a:solidFill>
                  <a:srgbClr val="1E2621"/>
                </a:solidFill>
                <a:latin typeface="Malgun Gothic" charset="0"/>
                <a:ea typeface="Malgun Gothic" charset="0"/>
              </a:rPr>
              <a:t>공공데이터포털</a:t>
            </a:r>
            <a:endParaRPr lang="ko-KR" altLang="en-US" sz="2200" b="1" strike="noStrike">
              <a:solidFill>
                <a:srgbClr val="1E2621"/>
              </a:solidFill>
              <a:latin typeface="Malgun Gothic" charset="0"/>
              <a:ea typeface="Malgun Gothic" charset="0"/>
            </a:endParaRPr>
          </a:p>
        </p:txBody>
      </p:sp>
      <p:sp>
        <p:nvSpPr>
          <p:cNvPr id="223" name="Text 7"/>
          <p:cNvSpPr/>
          <p:nvPr/>
        </p:nvSpPr>
        <p:spPr>
          <a:xfrm>
            <a:off x="1481455" y="2359025"/>
            <a:ext cx="411480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400" b="1" strike="noStrike">
                <a:solidFill>
                  <a:srgbClr val="5E5B52"/>
                </a:solidFill>
                <a:latin typeface="Malgun Gothic" charset="0"/>
                <a:ea typeface="Malgun Gothic" charset="0"/>
              </a:rPr>
              <a:t>OpenAPI · REST · JSON/XML</a:t>
            </a:r>
            <a:endParaRPr lang="ko-KR" altLang="en-US" sz="1400" b="1" strike="noStrike">
              <a:solidFill>
                <a:srgbClr val="5E5B52"/>
              </a:solidFill>
              <a:latin typeface="Malgun Gothic" charset="0"/>
              <a:ea typeface="Malgun Gothic" charset="0"/>
            </a:endParaRPr>
          </a:p>
        </p:txBody>
      </p:sp>
      <p:sp>
        <p:nvSpPr>
          <p:cNvPr id="224" name="Shape 8"/>
          <p:cNvSpPr/>
          <p:nvPr/>
        </p:nvSpPr>
        <p:spPr>
          <a:xfrm>
            <a:off x="777240" y="2880360"/>
            <a:ext cx="640080" cy="329565"/>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000" b="0" strike="noStrike">
              <a:solidFill>
                <a:srgbClr val="000000"/>
              </a:solidFill>
              <a:latin typeface="Noto Sans KR" charset="0"/>
            </a:endParaRPr>
          </a:p>
        </p:txBody>
      </p:sp>
      <p:sp>
        <p:nvSpPr>
          <p:cNvPr id="225" name="Text 9"/>
          <p:cNvSpPr/>
          <p:nvPr/>
        </p:nvSpPr>
        <p:spPr>
          <a:xfrm>
            <a:off x="777240" y="2880360"/>
            <a:ext cx="640080" cy="329565"/>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400" b="1" strike="noStrike">
                <a:solidFill>
                  <a:srgbClr val="FFFFFF"/>
                </a:solidFill>
                <a:latin typeface="Malgun Gothic" charset="0"/>
                <a:ea typeface="Malgun Gothic" charset="0"/>
              </a:rPr>
              <a:t>핵심</a:t>
            </a:r>
            <a:endParaRPr lang="ko-KR" altLang="en-US" sz="1400" b="1" strike="noStrike">
              <a:solidFill>
                <a:srgbClr val="FFFFFF"/>
              </a:solidFill>
              <a:latin typeface="Malgun Gothic" charset="0"/>
              <a:ea typeface="Malgun Gothic" charset="0"/>
            </a:endParaRPr>
          </a:p>
        </p:txBody>
      </p:sp>
      <p:sp>
        <p:nvSpPr>
          <p:cNvPr id="226" name="Text 10"/>
          <p:cNvSpPr/>
          <p:nvPr/>
        </p:nvSpPr>
        <p:spPr>
          <a:xfrm>
            <a:off x="1554480" y="2834640"/>
            <a:ext cx="4389120" cy="32004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800" b="1" strike="noStrike">
                <a:solidFill>
                  <a:srgbClr val="1E2621"/>
                </a:solidFill>
                <a:latin typeface="Malgun Gothic" charset="0"/>
                <a:ea typeface="Malgun Gothic" charset="0"/>
              </a:rPr>
              <a:t>국민체육진흥공단</a:t>
            </a:r>
            <a:r>
              <a:rPr lang="ko-KR" sz="1800" b="1" strike="noStrike">
                <a:solidFill>
                  <a:srgbClr val="1E2621"/>
                </a:solidFill>
                <a:latin typeface="Malgun Gothic" charset="0"/>
                <a:ea typeface="Malgun Gothic" charset="0"/>
              </a:rPr>
              <a:t> </a:t>
            </a:r>
            <a:r>
              <a:rPr lang="ko-KR" sz="1800" b="1" strike="noStrike">
                <a:solidFill>
                  <a:srgbClr val="1E2621"/>
                </a:solidFill>
                <a:latin typeface="Malgun Gothic" charset="0"/>
                <a:ea typeface="Malgun Gothic" charset="0"/>
              </a:rPr>
              <a:t>전국체육시설</a:t>
            </a:r>
            <a:r>
              <a:rPr lang="ko-KR" sz="1800" b="1" strike="noStrike">
                <a:solidFill>
                  <a:srgbClr val="1E2621"/>
                </a:solidFill>
                <a:latin typeface="Malgun Gothic" charset="0"/>
                <a:ea typeface="Malgun Gothic" charset="0"/>
              </a:rPr>
              <a:t> </a:t>
            </a:r>
            <a:r>
              <a:rPr lang="ko-KR" sz="1800" b="1" strike="noStrike">
                <a:solidFill>
                  <a:srgbClr val="1E2621"/>
                </a:solidFill>
                <a:latin typeface="Malgun Gothic" charset="0"/>
                <a:ea typeface="Malgun Gothic" charset="0"/>
              </a:rPr>
              <a:t>정보</a:t>
            </a:r>
            <a:endParaRPr lang="ko-KR" altLang="en-US" sz="1800" b="1" strike="noStrike">
              <a:solidFill>
                <a:srgbClr val="1E2621"/>
              </a:solidFill>
              <a:latin typeface="Malgun Gothic" charset="0"/>
              <a:ea typeface="Malgun Gothic" charset="0"/>
            </a:endParaRPr>
          </a:p>
        </p:txBody>
      </p:sp>
      <p:sp>
        <p:nvSpPr>
          <p:cNvPr id="227" name="Text 11"/>
          <p:cNvSpPr/>
          <p:nvPr/>
        </p:nvSpPr>
        <p:spPr>
          <a:xfrm>
            <a:off x="1554480" y="3173095"/>
            <a:ext cx="438912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400" b="1" strike="noStrike">
                <a:solidFill>
                  <a:srgbClr val="2E5A46"/>
                </a:solidFill>
                <a:latin typeface="Malgun Gothic" charset="0"/>
                <a:ea typeface="Malgun Gothic" charset="0"/>
              </a:rPr>
              <a:t>시설명</a:t>
            </a:r>
            <a:r>
              <a:rPr lang="ko-KR" sz="1400" b="1" strike="noStrike">
                <a:solidFill>
                  <a:srgbClr val="2E5A46"/>
                </a:solidFill>
                <a:latin typeface="Malgun Gothic" charset="0"/>
                <a:ea typeface="Malgun Gothic" charset="0"/>
              </a:rPr>
              <a:t>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유형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주소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좌표</a:t>
            </a:r>
            <a:endParaRPr lang="ko-KR" altLang="en-US" sz="1400" b="1" strike="noStrike">
              <a:solidFill>
                <a:srgbClr val="2E5A46"/>
              </a:solidFill>
              <a:latin typeface="Malgun Gothic" charset="0"/>
              <a:ea typeface="Malgun Gothic" charset="0"/>
            </a:endParaRPr>
          </a:p>
        </p:txBody>
      </p:sp>
      <p:sp>
        <p:nvSpPr>
          <p:cNvPr id="228" name="Shape 12"/>
          <p:cNvSpPr/>
          <p:nvPr/>
        </p:nvSpPr>
        <p:spPr>
          <a:xfrm>
            <a:off x="777240" y="3630295"/>
            <a:ext cx="640080" cy="329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000" b="0" strike="noStrike">
              <a:solidFill>
                <a:srgbClr val="000000"/>
              </a:solidFill>
              <a:latin typeface="Noto Sans KR" charset="0"/>
            </a:endParaRPr>
          </a:p>
        </p:txBody>
      </p:sp>
      <p:sp>
        <p:nvSpPr>
          <p:cNvPr id="229" name="Text 13"/>
          <p:cNvSpPr/>
          <p:nvPr/>
        </p:nvSpPr>
        <p:spPr>
          <a:xfrm>
            <a:off x="777240" y="3630295"/>
            <a:ext cx="640080" cy="329565"/>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400" b="1" strike="noStrike">
                <a:solidFill>
                  <a:srgbClr val="1E2621"/>
                </a:solidFill>
                <a:latin typeface="Malgun Gothic" charset="0"/>
                <a:ea typeface="Malgun Gothic" charset="0"/>
              </a:rPr>
              <a:t>보조</a:t>
            </a:r>
            <a:endParaRPr lang="ko-KR" altLang="en-US" sz="1400" b="1" strike="noStrike">
              <a:solidFill>
                <a:srgbClr val="1E2621"/>
              </a:solidFill>
              <a:latin typeface="Malgun Gothic" charset="0"/>
              <a:ea typeface="Malgun Gothic" charset="0"/>
            </a:endParaRPr>
          </a:p>
        </p:txBody>
      </p:sp>
      <p:sp>
        <p:nvSpPr>
          <p:cNvPr id="230" name="Text 14"/>
          <p:cNvSpPr/>
          <p:nvPr/>
        </p:nvSpPr>
        <p:spPr>
          <a:xfrm>
            <a:off x="1554480" y="3584575"/>
            <a:ext cx="4389120" cy="32004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800" b="1" strike="noStrike">
                <a:solidFill>
                  <a:srgbClr val="1E2621"/>
                </a:solidFill>
                <a:latin typeface="Malgun Gothic" charset="0"/>
                <a:ea typeface="Malgun Gothic" charset="0"/>
              </a:rPr>
              <a:t>기상청 단기예보</a:t>
            </a:r>
            <a:r>
              <a:rPr lang="en-US" sz="1800" b="1" strike="noStrike">
                <a:solidFill>
                  <a:srgbClr val="1E2621"/>
                </a:solidFill>
                <a:latin typeface="Malgun Gothic" charset="0"/>
                <a:ea typeface="Malgun Gothic" charset="0"/>
              </a:rPr>
              <a:t>(</a:t>
            </a:r>
            <a:r>
              <a:rPr lang="ko-KR" sz="1800" b="1" strike="noStrike">
                <a:solidFill>
                  <a:srgbClr val="1E2621"/>
                </a:solidFill>
                <a:latin typeface="Malgun Gothic" charset="0"/>
                <a:ea typeface="Malgun Gothic" charset="0"/>
              </a:rPr>
              <a:t>초단기실황</a:t>
            </a:r>
            <a:r>
              <a:rPr lang="en-US" sz="1800" b="1" strike="noStrike">
                <a:solidFill>
                  <a:srgbClr val="1E2621"/>
                </a:solidFill>
                <a:latin typeface="Malgun Gothic" charset="0"/>
                <a:ea typeface="Malgun Gothic" charset="0"/>
              </a:rPr>
              <a:t>)</a:t>
            </a:r>
            <a:endParaRPr lang="ko-KR" altLang="en-US" sz="1800" b="1" strike="noStrike">
              <a:solidFill>
                <a:srgbClr val="1E2621"/>
              </a:solidFill>
              <a:latin typeface="Malgun Gothic" charset="0"/>
              <a:ea typeface="Malgun Gothic" charset="0"/>
            </a:endParaRPr>
          </a:p>
        </p:txBody>
      </p:sp>
      <p:sp>
        <p:nvSpPr>
          <p:cNvPr id="231" name="Text 15"/>
          <p:cNvSpPr/>
          <p:nvPr/>
        </p:nvSpPr>
        <p:spPr>
          <a:xfrm>
            <a:off x="1554480" y="3923030"/>
            <a:ext cx="438912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400" b="1" strike="noStrike">
                <a:solidFill>
                  <a:srgbClr val="2E5A46"/>
                </a:solidFill>
                <a:latin typeface="Malgun Gothic" charset="0"/>
                <a:ea typeface="Malgun Gothic" charset="0"/>
              </a:rPr>
              <a:t>기온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습도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강수 </a:t>
            </a:r>
            <a:r>
              <a:rPr lang="en-US" sz="1400" b="1" strike="noStrike">
                <a:solidFill>
                  <a:srgbClr val="2E5A46"/>
                </a:solidFill>
                <a:latin typeface="Malgun Gothic" charset="0"/>
                <a:ea typeface="Malgun Gothic" charset="0"/>
              </a:rPr>
              <a:t>· </a:t>
            </a:r>
            <a:r>
              <a:rPr lang="ko-KR" sz="1400" b="1" strike="noStrike">
                <a:solidFill>
                  <a:srgbClr val="2E5A46"/>
                </a:solidFill>
                <a:latin typeface="Malgun Gothic" charset="0"/>
                <a:ea typeface="Malgun Gothic" charset="0"/>
              </a:rPr>
              <a:t>풍속</a:t>
            </a:r>
            <a:endParaRPr lang="ko-KR" altLang="en-US" sz="1400" b="1" strike="noStrike">
              <a:solidFill>
                <a:srgbClr val="2E5A46"/>
              </a:solidFill>
              <a:latin typeface="Malgun Gothic" charset="0"/>
              <a:ea typeface="Malgun Gothic" charset="0"/>
            </a:endParaRPr>
          </a:p>
        </p:txBody>
      </p:sp>
      <p:sp>
        <p:nvSpPr>
          <p:cNvPr id="232" name="Shape 16"/>
          <p:cNvSpPr/>
          <p:nvPr/>
        </p:nvSpPr>
        <p:spPr>
          <a:xfrm>
            <a:off x="777240" y="4380230"/>
            <a:ext cx="640080" cy="329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000" b="0" strike="noStrike">
              <a:solidFill>
                <a:srgbClr val="000000"/>
              </a:solidFill>
              <a:latin typeface="Noto Sans KR" charset="0"/>
            </a:endParaRPr>
          </a:p>
        </p:txBody>
      </p:sp>
      <p:sp>
        <p:nvSpPr>
          <p:cNvPr id="233" name="Text 17"/>
          <p:cNvSpPr/>
          <p:nvPr/>
        </p:nvSpPr>
        <p:spPr>
          <a:xfrm>
            <a:off x="777240" y="4380230"/>
            <a:ext cx="640080" cy="329565"/>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400" b="1" strike="noStrike">
                <a:solidFill>
                  <a:srgbClr val="1E2621"/>
                </a:solidFill>
                <a:latin typeface="Malgun Gothic" charset="0"/>
                <a:ea typeface="Malgun Gothic" charset="0"/>
              </a:rPr>
              <a:t>보조</a:t>
            </a:r>
            <a:endParaRPr lang="ko-KR" altLang="en-US" sz="1400" b="1" strike="noStrike">
              <a:solidFill>
                <a:srgbClr val="1E2621"/>
              </a:solidFill>
              <a:latin typeface="Malgun Gothic" charset="0"/>
              <a:ea typeface="Malgun Gothic" charset="0"/>
            </a:endParaRPr>
          </a:p>
        </p:txBody>
      </p:sp>
      <p:sp>
        <p:nvSpPr>
          <p:cNvPr id="234" name="Text 18"/>
          <p:cNvSpPr/>
          <p:nvPr/>
        </p:nvSpPr>
        <p:spPr>
          <a:xfrm>
            <a:off x="1554480" y="4334510"/>
            <a:ext cx="4389120" cy="32004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ko-KR" sz="1800" b="1" strike="noStrike">
                <a:solidFill>
                  <a:srgbClr val="1E2621"/>
                </a:solidFill>
                <a:latin typeface="Malgun Gothic" charset="0"/>
                <a:ea typeface="Malgun Gothic" charset="0"/>
              </a:rPr>
              <a:t>한국환경공단 에어코리아 대기오염정보</a:t>
            </a:r>
            <a:endParaRPr lang="ko-KR" altLang="en-US" sz="1800" b="1" strike="noStrike">
              <a:solidFill>
                <a:srgbClr val="1E2621"/>
              </a:solidFill>
              <a:latin typeface="Malgun Gothic" charset="0"/>
              <a:ea typeface="Malgun Gothic" charset="0"/>
            </a:endParaRPr>
          </a:p>
        </p:txBody>
      </p:sp>
      <p:sp>
        <p:nvSpPr>
          <p:cNvPr id="235" name="Text 19"/>
          <p:cNvSpPr/>
          <p:nvPr/>
        </p:nvSpPr>
        <p:spPr>
          <a:xfrm>
            <a:off x="1554480" y="4672330"/>
            <a:ext cx="438912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400" b="1" strike="noStrike">
                <a:solidFill>
                  <a:srgbClr val="2E5A46"/>
                </a:solidFill>
                <a:latin typeface="Malgun Gothic" charset="0"/>
                <a:ea typeface="Malgun Gothic" charset="0"/>
              </a:rPr>
              <a:t>PM10 · PM2.5</a:t>
            </a:r>
            <a:endParaRPr lang="ko-KR" altLang="en-US" sz="1400" b="1" strike="noStrike">
              <a:solidFill>
                <a:srgbClr val="2E5A46"/>
              </a:solidFill>
              <a:latin typeface="Malgun Gothic" charset="0"/>
              <a:ea typeface="Malgun Gothic" charset="0"/>
            </a:endParaRPr>
          </a:p>
        </p:txBody>
      </p:sp>
      <p:sp>
        <p:nvSpPr>
          <p:cNvPr id="236" name="Text 20"/>
          <p:cNvSpPr>
            <a:spLocks/>
          </p:cNvSpPr>
          <p:nvPr/>
        </p:nvSpPr>
        <p:spPr>
          <a:xfrm rot="0">
            <a:off x="777240" y="5139055"/>
            <a:ext cx="5204460" cy="73152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5000"/>
              </a:lnSpc>
              <a:buFontTx/>
              <a:buNone/>
              <a:tabLst>
                <a:tab pos="0" algn="l"/>
              </a:tabLst>
            </a:pPr>
            <a:r>
              <a:rPr lang="en-US"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기상특보</a:t>
            </a:r>
            <a:r>
              <a:rPr lang="ko-KR" sz="1600" b="1" strike="noStrike">
                <a:solidFill>
                  <a:srgbClr val="5E5B52"/>
                </a:solidFill>
                <a:latin typeface="Malgun Gothic" charset="0"/>
                <a:ea typeface="Malgun Gothic" charset="0"/>
              </a:rPr>
              <a:t>,</a:t>
            </a:r>
            <a:r>
              <a:rPr lang="ko-KR"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공공시설개방</a:t>
            </a:r>
            <a:r>
              <a:rPr lang="ko-KR" sz="1600" b="1" strike="noStrike">
                <a:solidFill>
                  <a:srgbClr val="5E5B52"/>
                </a:solidFill>
                <a:latin typeface="Malgun Gothic" charset="0"/>
                <a:ea typeface="Malgun Gothic" charset="0"/>
              </a:rPr>
              <a:t>,</a:t>
            </a:r>
            <a:r>
              <a:rPr lang="ko-KR"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버스정류장</a:t>
            </a:r>
            <a:r>
              <a:rPr lang="ko-KR" sz="1600" b="1" strike="noStrike">
                <a:solidFill>
                  <a:srgbClr val="5E5B52"/>
                </a:solidFill>
                <a:latin typeface="Malgun Gothic" charset="0"/>
                <a:ea typeface="Malgun Gothic" charset="0"/>
              </a:rPr>
              <a:t>,</a:t>
            </a:r>
            <a:r>
              <a:rPr lang="ko-KR" sz="1600" b="1" strike="noStrike">
                <a:solidFill>
                  <a:srgbClr val="5E5B52"/>
                </a:solidFill>
                <a:latin typeface="Malgun Gothic" charset="0"/>
                <a:ea typeface="Malgun Gothic" charset="0"/>
              </a:rPr>
              <a:t> </a:t>
            </a:r>
            <a:r>
              <a:rPr lang="en-US" sz="1600" b="1" strike="noStrike">
                <a:solidFill>
                  <a:srgbClr val="5E5B52"/>
                </a:solidFill>
                <a:latin typeface="Malgun Gothic" charset="0"/>
                <a:ea typeface="Malgun Gothic" charset="0"/>
              </a:rPr>
              <a:t>AED</a:t>
            </a:r>
            <a:r>
              <a:rPr lang="ko-KR" sz="1600" b="1" strike="noStrike">
                <a:solidFill>
                  <a:srgbClr val="5E5B52"/>
                </a:solidFill>
                <a:latin typeface="Malgun Gothic" charset="0"/>
                <a:ea typeface="Malgun Gothic" charset="0"/>
              </a:rPr>
              <a:t>,</a:t>
            </a:r>
            <a:r>
              <a:rPr lang="en-US" sz="1600" b="1" strike="noStrike">
                <a:solidFill>
                  <a:srgbClr val="5E5B52"/>
                </a:solidFill>
                <a:latin typeface="Malgun Gothic" charset="0"/>
                <a:ea typeface="Malgun Gothic" charset="0"/>
              </a:rPr>
              <a:t> </a:t>
            </a:r>
            <a:endParaRPr lang="ko-KR" altLang="en-US" sz="1600" b="1" strike="noStrike">
              <a:solidFill>
                <a:srgbClr val="5E5B52"/>
              </a:solidFill>
              <a:latin typeface="Malgun Gothic" charset="0"/>
              <a:ea typeface="Malgun Gothic" charset="0"/>
            </a:endParaRPr>
          </a:p>
          <a:p>
            <a:pPr marL="0" indent="0" defTabSz="914400">
              <a:lnSpc>
                <a:spcPct val="115000"/>
              </a:lnSpc>
              <a:buFontTx/>
              <a:buNone/>
              <a:tabLst>
                <a:tab pos="0" algn="l"/>
              </a:tabLst>
            </a:pPr>
            <a:r>
              <a:rPr lang="ko-KR"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두루누비</a:t>
            </a:r>
            <a:r>
              <a:rPr lang="ko-KR" sz="1600" b="1" strike="noStrike">
                <a:solidFill>
                  <a:srgbClr val="5E5B52"/>
                </a:solidFill>
                <a:latin typeface="Malgun Gothic" charset="0"/>
                <a:ea typeface="Malgun Gothic" charset="0"/>
              </a:rPr>
              <a:t>,</a:t>
            </a:r>
            <a:r>
              <a:rPr lang="ko-KR" sz="1600" b="1" strike="noStrike">
                <a:solidFill>
                  <a:srgbClr val="5E5B52"/>
                </a:solidFill>
                <a:latin typeface="Malgun Gothic" charset="0"/>
                <a:ea typeface="Malgun Gothic" charset="0"/>
              </a:rPr>
              <a:t> </a:t>
            </a:r>
            <a:r>
              <a:rPr lang="ko-KR" sz="1600" b="1" strike="noStrike">
                <a:solidFill>
                  <a:srgbClr val="5E5B52"/>
                </a:solidFill>
                <a:latin typeface="Malgun Gothic" charset="0"/>
                <a:ea typeface="Malgun Gothic" charset="0"/>
              </a:rPr>
              <a:t>자전거 사고다발지역</a:t>
            </a:r>
            <a:endParaRPr lang="ko-KR" altLang="en-US" sz="1600" b="1" strike="noStrike">
              <a:solidFill>
                <a:srgbClr val="5E5B52"/>
              </a:solidFill>
              <a:latin typeface="Malgun Gothic" charset="0"/>
              <a:ea typeface="Malgun Gothic" charset="0"/>
            </a:endParaRPr>
          </a:p>
        </p:txBody>
      </p:sp>
      <p:sp>
        <p:nvSpPr>
          <p:cNvPr id="237" name="Shape 21"/>
          <p:cNvSpPr/>
          <p:nvPr/>
        </p:nvSpPr>
        <p:spPr>
          <a:xfrm>
            <a:off x="6245225" y="1828800"/>
            <a:ext cx="5394960" cy="4251960"/>
          </a:xfrm>
          <a:prstGeom prst="roundRect">
            <a:avLst>
              <a:gd name="adj" fmla="val 3011"/>
            </a:avLst>
          </a:prstGeom>
          <a:solidFill>
            <a:srgbClr val="2e5a46"/>
          </a:solidFill>
          <a:ln w="12700">
            <a:solidFill>
              <a:srgbClr val="2e5a46"/>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2200" b="0" strike="noStrike">
              <a:solidFill>
                <a:srgbClr val="000000"/>
              </a:solidFill>
              <a:latin typeface="Noto Sans KR" charset="0"/>
            </a:endParaRPr>
          </a:p>
        </p:txBody>
      </p:sp>
      <p:sp>
        <p:nvSpPr>
          <p:cNvPr id="238" name="Shape 22"/>
          <p:cNvSpPr/>
          <p:nvPr/>
        </p:nvSpPr>
        <p:spPr>
          <a:xfrm>
            <a:off x="6473825" y="2030095"/>
            <a:ext cx="566420" cy="566420"/>
          </a:xfrm>
          <a:prstGeom prst="ellipse">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239" name="Image 1"/>
          <p:cNvPicPr/>
          <p:nvPr/>
        </p:nvPicPr>
        <p:blipFill>
          <a:blip r:embed="rId2"/>
          <a:stretch/>
        </p:blipFill>
        <p:spPr>
          <a:xfrm>
            <a:off x="6621780" y="2177415"/>
            <a:ext cx="271780" cy="271780"/>
          </a:xfrm>
          <a:prstGeom prst="rect">
            <a:avLst/>
          </a:prstGeom>
          <a:ln w="0">
            <a:noFill/>
          </a:ln>
        </p:spPr>
      </p:pic>
      <p:sp>
        <p:nvSpPr>
          <p:cNvPr id="240" name="Text 23"/>
          <p:cNvSpPr/>
          <p:nvPr/>
        </p:nvSpPr>
        <p:spPr>
          <a:xfrm>
            <a:off x="7178040" y="1993265"/>
            <a:ext cx="4114165" cy="3651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000" spc="-1" strike="noStrike">
                <a:solidFill>
                  <a:srgbClr val="ffffff"/>
                </a:solidFill>
                <a:latin typeface="Malgun Gothic"/>
                <a:ea typeface="Malgun Gothic"/>
              </a:rPr>
              <a:t>문화빅데이터 플랫폼</a:t>
            </a:r>
            <a:endParaRPr b="0" lang="en-US" sz="2000" spc="-1" strike="noStrike">
              <a:solidFill>
                <a:srgbClr val="000000"/>
              </a:solidFill>
              <a:latin typeface="Noto Sans KR"/>
            </a:endParaRPr>
          </a:p>
        </p:txBody>
      </p:sp>
      <p:sp>
        <p:nvSpPr>
          <p:cNvPr id="241" name="Text 24"/>
          <p:cNvSpPr/>
          <p:nvPr/>
        </p:nvSpPr>
        <p:spPr>
          <a:xfrm>
            <a:off x="7178040" y="2359025"/>
            <a:ext cx="4297045" cy="27368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250" spc="-1" strike="noStrike">
                <a:solidFill>
                  <a:srgbClr val="cfe0d5"/>
                </a:solidFill>
                <a:latin typeface="Malgun Gothic"/>
                <a:ea typeface="Malgun Gothic"/>
              </a:rPr>
              <a:t>국민체육진흥공단 제공 </a:t>
            </a:r>
            <a:r>
              <a:rPr b="1" lang="en-US" sz="1250" spc="-1" strike="noStrike">
                <a:solidFill>
                  <a:srgbClr val="cfe0d5"/>
                </a:solidFill>
                <a:latin typeface="Malgun Gothic"/>
                <a:ea typeface="Malgun Gothic"/>
              </a:rPr>
              <a:t>· CSV · Selenium </a:t>
            </a:r>
            <a:r>
              <a:rPr b="1" lang="ko-KR" sz="1250" spc="-1" strike="noStrike">
                <a:solidFill>
                  <a:srgbClr val="cfe0d5"/>
                </a:solidFill>
                <a:latin typeface="Malgun Gothic"/>
                <a:ea typeface="Malgun Gothic"/>
              </a:rPr>
              <a:t>자동 수집</a:t>
            </a:r>
            <a:endParaRPr b="0" lang="en-US" sz="1250" spc="-1" strike="noStrike">
              <a:solidFill>
                <a:srgbClr val="000000"/>
              </a:solidFill>
              <a:latin typeface="Noto Sans KR"/>
            </a:endParaRPr>
          </a:p>
        </p:txBody>
      </p:sp>
      <p:sp>
        <p:nvSpPr>
          <p:cNvPr id="242" name="Text 25"/>
          <p:cNvSpPr/>
          <p:nvPr/>
        </p:nvSpPr>
        <p:spPr>
          <a:xfrm>
            <a:off x="6492240" y="2834640"/>
            <a:ext cx="4937760" cy="3017520"/>
          </a:xfrm>
          <a:prstGeom prst="rect">
            <a:avLst/>
          </a:prstGeom>
          <a:noFill/>
          <a:ln w="0">
            <a:noFill/>
          </a:ln>
        </p:spPr>
        <p:style>
          <a:lnRef idx="0"/>
          <a:fillRef idx="0"/>
          <a:effectRef idx="0"/>
          <a:fontRef idx="minor"/>
        </p:style>
        <p:txBody>
          <a:bodyPr wrap="square" lIns="0" tIns="0" rIns="0" bIns="0" numCol="1" vert="horz" anchor="t">
            <a:noAutofit/>
          </a:bodyPr>
          <a:lstStyle/>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전국공공체육시설</a:t>
            </a:r>
            <a:r>
              <a:rPr lang="ko-KR" sz="2000" b="1" strike="noStrike">
                <a:solidFill>
                  <a:srgbClr val="FFFFFF"/>
                </a:solidFill>
                <a:latin typeface="Malgun Gothic" charset="0"/>
                <a:ea typeface="Malgun Gothic" charset="0"/>
              </a:rPr>
              <a:t> </a:t>
            </a:r>
            <a:r>
              <a:rPr lang="ko-KR" sz="2000" b="1" strike="noStrike">
                <a:solidFill>
                  <a:srgbClr val="FFFFFF"/>
                </a:solidFill>
                <a:latin typeface="Malgun Gothic" charset="0"/>
                <a:ea typeface="Malgun Gothic" charset="0"/>
              </a:rPr>
              <a:t>데이터</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공공체육시설 프로그램 정보</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체육시설 인접 대중교통 정보</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체육시설 안전점검 정보</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전국체육시설 현황 데이터</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위치기반 체력측정 및 운동처방 정보</a:t>
            </a:r>
            <a:endParaRPr lang="ko-KR" altLang="en-US" sz="2000" b="1" strike="noStrike">
              <a:solidFill>
                <a:srgbClr val="FFFFFF"/>
              </a:solidFill>
              <a:latin typeface="Malgun Gothic" charset="0"/>
              <a:ea typeface="Malgun Gothic" charset="0"/>
            </a:endParaRPr>
          </a:p>
          <a:p>
            <a:pPr marL="342900" indent="-342900" defTabSz="914400">
              <a:lnSpc>
                <a:spcPct val="100000"/>
              </a:lnSpc>
              <a:spcAft>
                <a:spcPts val="901"/>
              </a:spcAft>
              <a:buFont typeface="Symbol"/>
              <a:buChar char=""/>
            </a:pPr>
            <a:r>
              <a:rPr lang="ko-KR" sz="2000" b="1" strike="noStrike">
                <a:solidFill>
                  <a:srgbClr val="FFFFFF"/>
                </a:solidFill>
                <a:latin typeface="Malgun Gothic" charset="0"/>
                <a:ea typeface="Malgun Gothic" charset="0"/>
              </a:rPr>
              <a:t>체력 측정별 운동처방 데이터</a:t>
            </a:r>
            <a:endParaRPr lang="ko-KR" altLang="en-US" sz="2000" b="1" strike="noStrike">
              <a:solidFill>
                <a:srgbClr val="FFFFFF"/>
              </a:solidFill>
              <a:latin typeface="Malgun Gothic" charset="0"/>
              <a:ea typeface="Malgun Gothic" charset="0"/>
            </a:endParaRPr>
          </a:p>
        </p:txBody>
      </p:sp>
      <p:sp>
        <p:nvSpPr>
          <p:cNvPr id="243" name="Text 26"/>
          <p:cNvSpPr/>
          <p:nvPr/>
        </p:nvSpPr>
        <p:spPr>
          <a:xfrm>
            <a:off x="548640" y="6199505"/>
            <a:ext cx="1106360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250" spc="-1" strike="noStrike">
                <a:solidFill>
                  <a:srgbClr val="b5654a"/>
                </a:solidFill>
                <a:latin typeface="Malgun Gothic"/>
                <a:ea typeface="Malgun Gothic"/>
              </a:rPr>
              <a:t>시설 위치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날씨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대기질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운영정보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프로그램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대중교통 </a:t>
            </a:r>
            <a:r>
              <a:rPr b="1" lang="en-US" sz="1250" spc="-1" strike="noStrike">
                <a:solidFill>
                  <a:srgbClr val="b5654a"/>
                </a:solidFill>
                <a:latin typeface="Malgun Gothic"/>
                <a:ea typeface="Malgun Gothic"/>
              </a:rPr>
              <a:t>· </a:t>
            </a:r>
            <a:r>
              <a:rPr b="1" lang="ko-KR" sz="1250" spc="-1" strike="noStrike">
                <a:solidFill>
                  <a:srgbClr val="b5654a"/>
                </a:solidFill>
                <a:latin typeface="Malgun Gothic"/>
                <a:ea typeface="Malgun Gothic"/>
              </a:rPr>
              <a:t>안전점검까지 — 여러 공공데이터를 결합하는 구조</a:t>
            </a:r>
            <a:endParaRPr b="0" lang="en-US" sz="1250" spc="-1" strike="noStrike">
              <a:solidFill>
                <a:srgbClr val="000000"/>
              </a:solidFill>
              <a:latin typeface="Noto Sans KR"/>
            </a:endParaRPr>
          </a:p>
        </p:txBody>
      </p:sp>
      <p:sp>
        <p:nvSpPr>
          <p:cNvPr id="244" name="도형 2"/>
          <p:cNvSpPr>
            <a:spLocks/>
          </p:cNvSpPr>
          <p:nvPr/>
        </p:nvSpPr>
        <p:spPr>
          <a:xfrm rot="0">
            <a:off x="11182985" y="6446520"/>
            <a:ext cx="457200" cy="228600"/>
          </a:xfrm>
          <a:prstGeom prst="rect"/>
          <a:noFill/>
          <a:ln>
            <a:noFill/>
            <a:prstDash/>
          </a:ln>
        </p:spPr>
        <p:style>
          <a:lnRef idx="0"/>
          <a:fillRef idx="0"/>
          <a:effectRef idx="0"/>
          <a:fontRef idx="minor"/>
        </p:style>
        <p:txBody>
          <a:bodyPr wrap="square" lIns="0" tIns="0" rIns="0" bIns="0" numCol="1" vert="horz" anchor="t">
            <a:noAutofit/>
          </a:bodyPr>
          <a:lstStyle/>
          <a:p>
            <a:pPr marL="0" indent="0" algn="r" defTabSz="914400">
              <a:lnSpc>
                <a:spcPct val="100000"/>
              </a:lnSpc>
              <a:buFontTx/>
              <a:buNone/>
              <a:tabLst>
                <a:tab pos="0" algn="l"/>
              </a:tabLst>
            </a:pPr>
            <a:r>
              <a:rPr lang="en-US" sz="900" b="1" strike="noStrike">
                <a:solidFill>
                  <a:srgbClr val="9A907C"/>
                </a:solidFill>
                <a:latin typeface="Malgun Gothic" charset="0"/>
                <a:ea typeface="Malgun Gothic" charset="0"/>
              </a:rPr>
              <a:t>09</a:t>
            </a:r>
            <a:r>
              <a:rPr lang="ko-KR" sz="900" b="1" strike="noStrike">
                <a:solidFill>
                  <a:srgbClr val="9A907C"/>
                </a:solidFill>
                <a:latin typeface="Malgun Gothic" charset="0"/>
                <a:ea typeface="Malgun Gothic" charset="0"/>
              </a:rPr>
              <a:t/>
            </a:r>
            <a:endParaRPr lang="ko-KR" altLang="en-US" sz="900" b="1" strike="noStrike">
              <a:solidFill>
                <a:srgbClr val="9A907C"/>
              </a:solidFill>
              <a:latin typeface="Malgun Gothic" charset="0"/>
              <a:ea typeface="Malgun Gothic" charset="0"/>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244"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45"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04</a:t>
            </a:r>
            <a:endParaRPr b="0" lang="en-US" sz="1300" spc="-1" strike="noStrike">
              <a:solidFill>
                <a:srgbClr val="000000"/>
              </a:solidFill>
              <a:latin typeface="Noto Sans KR"/>
            </a:endParaRPr>
          </a:p>
        </p:txBody>
      </p:sp>
      <p:sp>
        <p:nvSpPr>
          <p:cNvPr id="246"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SCORE · </a:t>
            </a:r>
            <a:r>
              <a:rPr b="1" lang="ko-KR" sz="1400" spc="199" strike="noStrike">
                <a:solidFill>
                  <a:srgbClr val="b5654a"/>
                </a:solidFill>
                <a:latin typeface="Malgun Gothic"/>
                <a:ea typeface="Malgun Gothic"/>
              </a:rPr>
              <a:t>추천 점수</a:t>
            </a:r>
            <a:endParaRPr b="0" lang="en-US" sz="1400" spc="-1" strike="noStrike">
              <a:solidFill>
                <a:srgbClr val="000000"/>
              </a:solidFill>
              <a:latin typeface="Noto Sans KR"/>
            </a:endParaRPr>
          </a:p>
        </p:txBody>
      </p:sp>
      <p:sp>
        <p:nvSpPr>
          <p:cNvPr id="247"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그 데이터를</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추천에 어떻게 반영했을까요</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248" name="Shape 4"/>
          <p:cNvSpPr>
            <a:spLocks/>
          </p:cNvSpPr>
          <p:nvPr/>
        </p:nvSpPr>
        <p:spPr>
          <a:xfrm rot="0">
            <a:off x="548640" y="1810385"/>
            <a:ext cx="2011680" cy="1051560"/>
          </a:xfrm>
          <a:prstGeom prst="roundRect">
            <a:avLst>
              <a:gd name="adj" fmla="val 12174"/>
            </a:avLst>
          </a:prstGeom>
          <a:solidFill>
            <a:srgbClr val="EADFCB"/>
          </a:solidFill>
          <a:ln w="12700" cap="flat" cmpd="sng">
            <a:solidFill>
              <a:srgbClr val="EADFCB">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5" name="그룹 9"/>
          <p:cNvGrpSpPr>
            <a:grpSpLocks/>
          </p:cNvGrpSpPr>
          <p:nvPr/>
        </p:nvGrpSpPr>
        <p:grpSpPr>
          <a:xfrm rot="0">
            <a:off x="640080" y="2016125"/>
            <a:ext cx="1828800" cy="841375"/>
            <a:chOff x="640080" y="2016125"/>
            <a:chExt cx="1828800" cy="841375"/>
          </a:xfrm>
        </p:grpSpPr>
        <p:sp>
          <p:nvSpPr>
            <p:cNvPr id="249" name="Text 5"/>
            <p:cNvSpPr>
              <a:spLocks/>
            </p:cNvSpPr>
            <p:nvPr/>
          </p:nvSpPr>
          <p:spPr>
            <a:xfrm rot="0">
              <a:off x="685800"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800" b="1" strike="noStrike">
                  <a:solidFill>
                    <a:srgbClr val="1E2621"/>
                  </a:solidFill>
                  <a:latin typeface="Malgun Gothic" charset="0"/>
                  <a:ea typeface="Malgun Gothic" charset="0"/>
                </a:rPr>
                <a:t>후보 거르기</a:t>
              </a:r>
              <a:endParaRPr lang="ko-KR" altLang="en-US" sz="1800" b="1" strike="noStrike">
                <a:solidFill>
                  <a:srgbClr val="1E2621"/>
                </a:solidFill>
                <a:latin typeface="Malgun Gothic" charset="0"/>
                <a:ea typeface="Malgun Gothic" charset="0"/>
              </a:endParaRPr>
            </a:p>
          </p:txBody>
        </p:sp>
        <p:sp>
          <p:nvSpPr>
            <p:cNvPr id="250" name="Text 6"/>
            <p:cNvSpPr>
              <a:spLocks/>
            </p:cNvSpPr>
            <p:nvPr/>
          </p:nvSpPr>
          <p:spPr>
            <a:xfrm rot="0">
              <a:off x="640080"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00" b="1" strike="noStrike">
                  <a:solidFill>
                    <a:srgbClr val="1E2621"/>
                  </a:solidFill>
                  <a:latin typeface="Malgun Gothic" charset="0"/>
                  <a:ea typeface="Malgun Gothic" charset="0"/>
                </a:rPr>
                <a:t>운동 종목 </a:t>
              </a:r>
              <a:r>
                <a:rPr lang="en-US" sz="1200" b="1" strike="noStrike">
                  <a:solidFill>
                    <a:srgbClr val="1E2621"/>
                  </a:solidFill>
                  <a:latin typeface="Malgun Gothic" charset="0"/>
                  <a:ea typeface="Malgun Gothic" charset="0"/>
                </a:rPr>
                <a:t>· </a:t>
              </a:r>
              <a:r>
                <a:rPr lang="ko-KR" sz="1200" b="1" strike="noStrike">
                  <a:solidFill>
                    <a:srgbClr val="1E2621"/>
                  </a:solidFill>
                  <a:latin typeface="Malgun Gothic" charset="0"/>
                  <a:ea typeface="Malgun Gothic" charset="0"/>
                </a:rPr>
                <a:t>최대 이동시간</a:t>
              </a:r>
              <a:endParaRPr lang="ko-KR" altLang="en-US" sz="1200" b="1" strike="noStrike">
                <a:solidFill>
                  <a:srgbClr val="1E2621"/>
                </a:solidFill>
                <a:latin typeface="Malgun Gothic" charset="0"/>
                <a:ea typeface="Malgun Gothic" charset="0"/>
              </a:endParaRPr>
            </a:p>
          </p:txBody>
        </p:sp>
      </p:grpSp>
      <p:sp>
        <p:nvSpPr>
          <p:cNvPr id="251" name="Shape 7"/>
          <p:cNvSpPr>
            <a:spLocks/>
          </p:cNvSpPr>
          <p:nvPr/>
        </p:nvSpPr>
        <p:spPr>
          <a:xfrm rot="0">
            <a:off x="2816225" y="1810385"/>
            <a:ext cx="2011680" cy="1051560"/>
          </a:xfrm>
          <a:prstGeom prst="roundRect">
            <a:avLst>
              <a:gd name="adj" fmla="val 12174"/>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6" name="그룹 10"/>
          <p:cNvGrpSpPr>
            <a:grpSpLocks/>
          </p:cNvGrpSpPr>
          <p:nvPr/>
        </p:nvGrpSpPr>
        <p:grpSpPr>
          <a:xfrm rot="0">
            <a:off x="2907665" y="2016125"/>
            <a:ext cx="1828800" cy="841375"/>
            <a:chOff x="2907665" y="2016125"/>
            <a:chExt cx="1828800" cy="841375"/>
          </a:xfrm>
        </p:grpSpPr>
        <p:sp>
          <p:nvSpPr>
            <p:cNvPr id="252" name="Text 8"/>
            <p:cNvSpPr>
              <a:spLocks/>
            </p:cNvSpPr>
            <p:nvPr/>
          </p:nvSpPr>
          <p:spPr>
            <a:xfrm rot="0">
              <a:off x="2953385"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800" b="1" strike="noStrike">
                  <a:solidFill>
                    <a:srgbClr val="FFFFFF"/>
                  </a:solidFill>
                  <a:latin typeface="Malgun Gothic" charset="0"/>
                  <a:ea typeface="Malgun Gothic" charset="0"/>
                </a:rPr>
                <a:t>기본 </a:t>
              </a:r>
              <a:r>
                <a:rPr lang="en-US" sz="1800" b="1" strike="noStrike">
                  <a:solidFill>
                    <a:srgbClr val="FFFFFF"/>
                  </a:solidFill>
                  <a:latin typeface="Malgun Gothic" charset="0"/>
                  <a:ea typeface="Malgun Gothic" charset="0"/>
                </a:rPr>
                <a:t>45</a:t>
              </a:r>
              <a:r>
                <a:rPr lang="ko-KR" sz="1800" b="1" strike="noStrike">
                  <a:solidFill>
                    <a:srgbClr val="FFFFFF"/>
                  </a:solidFill>
                  <a:latin typeface="Malgun Gothic" charset="0"/>
                  <a:ea typeface="Malgun Gothic" charset="0"/>
                </a:rPr>
                <a:t>점</a:t>
              </a:r>
              <a:endParaRPr lang="ko-KR" altLang="en-US" sz="1800" b="1" strike="noStrike">
                <a:solidFill>
                  <a:srgbClr val="FFFFFF"/>
                </a:solidFill>
                <a:latin typeface="Malgun Gothic" charset="0"/>
                <a:ea typeface="Malgun Gothic" charset="0"/>
              </a:endParaRPr>
            </a:p>
          </p:txBody>
        </p:sp>
        <p:sp>
          <p:nvSpPr>
            <p:cNvPr id="253" name="Text 9"/>
            <p:cNvSpPr>
              <a:spLocks/>
            </p:cNvSpPr>
            <p:nvPr/>
          </p:nvSpPr>
          <p:spPr>
            <a:xfrm rot="0">
              <a:off x="2907665"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00" b="1" strike="noStrike">
                  <a:solidFill>
                    <a:srgbClr val="FFFFFF"/>
                  </a:solidFill>
                  <a:latin typeface="Malgun Gothic" charset="0"/>
                  <a:ea typeface="Malgun Gothic" charset="0"/>
                </a:rPr>
                <a:t>모든 후보 공통</a:t>
              </a:r>
              <a:endParaRPr lang="ko-KR" altLang="en-US" sz="1200" b="1" strike="noStrike">
                <a:solidFill>
                  <a:srgbClr val="FFFFFF"/>
                </a:solidFill>
                <a:latin typeface="Malgun Gothic" charset="0"/>
                <a:ea typeface="Malgun Gothic" charset="0"/>
              </a:endParaRPr>
            </a:p>
          </p:txBody>
        </p:sp>
      </p:grpSp>
      <p:sp>
        <p:nvSpPr>
          <p:cNvPr id="254" name="Shape 10"/>
          <p:cNvSpPr>
            <a:spLocks/>
          </p:cNvSpPr>
          <p:nvPr/>
        </p:nvSpPr>
        <p:spPr>
          <a:xfrm rot="0">
            <a:off x="5083810" y="1810385"/>
            <a:ext cx="2011680" cy="1051560"/>
          </a:xfrm>
          <a:prstGeom prst="roundRect">
            <a:avLst>
              <a:gd name="adj" fmla="val 12174"/>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7" name="그룹 11"/>
          <p:cNvGrpSpPr>
            <a:grpSpLocks/>
          </p:cNvGrpSpPr>
          <p:nvPr/>
        </p:nvGrpSpPr>
        <p:grpSpPr>
          <a:xfrm rot="0">
            <a:off x="5175250" y="2016125"/>
            <a:ext cx="1828800" cy="841375"/>
            <a:chOff x="5175250" y="2016125"/>
            <a:chExt cx="1828800" cy="841375"/>
          </a:xfrm>
        </p:grpSpPr>
        <p:sp>
          <p:nvSpPr>
            <p:cNvPr id="255" name="Text 11"/>
            <p:cNvSpPr>
              <a:spLocks/>
            </p:cNvSpPr>
            <p:nvPr/>
          </p:nvSpPr>
          <p:spPr>
            <a:xfrm rot="0">
              <a:off x="5220970"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800" b="1" strike="noStrike">
                  <a:solidFill>
                    <a:srgbClr val="FFFFFF"/>
                  </a:solidFill>
                  <a:latin typeface="Malgun Gothic" charset="0"/>
                  <a:ea typeface="Malgun Gothic" charset="0"/>
                </a:rPr>
                <a:t>+ </a:t>
              </a:r>
              <a:r>
                <a:rPr lang="ko-KR" sz="1800" b="1" strike="noStrike">
                  <a:solidFill>
                    <a:srgbClr val="FFFFFF"/>
                  </a:solidFill>
                  <a:latin typeface="Malgun Gothic" charset="0"/>
                  <a:ea typeface="Malgun Gothic" charset="0"/>
                </a:rPr>
                <a:t>거리 점수</a:t>
              </a:r>
              <a:endParaRPr lang="ko-KR" altLang="en-US" sz="1800" b="1" strike="noStrike">
                <a:solidFill>
                  <a:srgbClr val="FFFFFF"/>
                </a:solidFill>
                <a:latin typeface="Malgun Gothic" charset="0"/>
                <a:ea typeface="Malgun Gothic" charset="0"/>
              </a:endParaRPr>
            </a:p>
          </p:txBody>
        </p:sp>
        <p:sp>
          <p:nvSpPr>
            <p:cNvPr id="256" name="Text 12"/>
            <p:cNvSpPr>
              <a:spLocks/>
            </p:cNvSpPr>
            <p:nvPr/>
          </p:nvSpPr>
          <p:spPr>
            <a:xfrm rot="0">
              <a:off x="5175250"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200" b="1" strike="noStrike">
                  <a:solidFill>
                    <a:srgbClr val="FFFFFF"/>
                  </a:solidFill>
                  <a:latin typeface="Malgun Gothic" charset="0"/>
                  <a:ea typeface="Malgun Gothic" charset="0"/>
                </a:rPr>
                <a:t>max(0, 40 – km × 18)</a:t>
              </a:r>
              <a:endParaRPr lang="ko-KR" altLang="en-US" sz="1200" b="1" strike="noStrike">
                <a:solidFill>
                  <a:srgbClr val="FFFFFF"/>
                </a:solidFill>
                <a:latin typeface="Malgun Gothic" charset="0"/>
                <a:ea typeface="Malgun Gothic" charset="0"/>
              </a:endParaRPr>
            </a:p>
          </p:txBody>
        </p:sp>
      </p:grpSp>
      <p:sp>
        <p:nvSpPr>
          <p:cNvPr id="257" name="Shape 13"/>
          <p:cNvSpPr>
            <a:spLocks/>
          </p:cNvSpPr>
          <p:nvPr/>
        </p:nvSpPr>
        <p:spPr>
          <a:xfrm rot="0">
            <a:off x="7352030" y="1810385"/>
            <a:ext cx="2011680" cy="1051560"/>
          </a:xfrm>
          <a:prstGeom prst="roundRect">
            <a:avLst>
              <a:gd name="adj" fmla="val 12174"/>
            </a:avLst>
          </a:prstGeom>
          <a:solidFill>
            <a:srgbClr val="2E5A46"/>
          </a:solidFill>
          <a:ln w="12700" cap="flat" cmpd="sng">
            <a:solidFill>
              <a:srgbClr val="2E5A46">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8" name="그룹 12"/>
          <p:cNvGrpSpPr>
            <a:grpSpLocks/>
          </p:cNvGrpSpPr>
          <p:nvPr/>
        </p:nvGrpSpPr>
        <p:grpSpPr>
          <a:xfrm rot="0">
            <a:off x="7443470" y="2016125"/>
            <a:ext cx="1828800" cy="841375"/>
            <a:chOff x="7443470" y="2016125"/>
            <a:chExt cx="1828800" cy="841375"/>
          </a:xfrm>
        </p:grpSpPr>
        <p:sp>
          <p:nvSpPr>
            <p:cNvPr id="258" name="Text 14"/>
            <p:cNvSpPr>
              <a:spLocks/>
            </p:cNvSpPr>
            <p:nvPr/>
          </p:nvSpPr>
          <p:spPr>
            <a:xfrm rot="0">
              <a:off x="7489190"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800" b="1" strike="noStrike">
                  <a:solidFill>
                    <a:srgbClr val="FFFFFF"/>
                  </a:solidFill>
                  <a:latin typeface="Malgun Gothic" charset="0"/>
                  <a:ea typeface="Malgun Gothic" charset="0"/>
                </a:rPr>
                <a:t>+ </a:t>
              </a:r>
              <a:r>
                <a:rPr lang="ko-KR" sz="1800" b="1" strike="noStrike">
                  <a:solidFill>
                    <a:srgbClr val="FFFFFF"/>
                  </a:solidFill>
                  <a:latin typeface="Malgun Gothic" charset="0"/>
                  <a:ea typeface="Malgun Gothic" charset="0"/>
                </a:rPr>
                <a:t>환경 보정</a:t>
              </a:r>
              <a:endParaRPr lang="ko-KR" altLang="en-US" sz="1800" b="1" strike="noStrike">
                <a:solidFill>
                  <a:srgbClr val="FFFFFF"/>
                </a:solidFill>
                <a:latin typeface="Malgun Gothic" charset="0"/>
                <a:ea typeface="Malgun Gothic" charset="0"/>
              </a:endParaRPr>
            </a:p>
          </p:txBody>
        </p:sp>
        <p:sp>
          <p:nvSpPr>
            <p:cNvPr id="259" name="Text 15"/>
            <p:cNvSpPr>
              <a:spLocks/>
            </p:cNvSpPr>
            <p:nvPr/>
          </p:nvSpPr>
          <p:spPr>
            <a:xfrm rot="0">
              <a:off x="7443470"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00" b="1" strike="noStrike">
                  <a:solidFill>
                    <a:srgbClr val="FFFFFF"/>
                  </a:solidFill>
                  <a:latin typeface="Malgun Gothic" charset="0"/>
                  <a:ea typeface="Malgun Gothic" charset="0"/>
                </a:rPr>
                <a:t>날씨 </a:t>
              </a:r>
              <a:r>
                <a:rPr lang="en-US" sz="1200" b="1" strike="noStrike">
                  <a:solidFill>
                    <a:srgbClr val="FFFFFF"/>
                  </a:solidFill>
                  <a:latin typeface="Malgun Gothic" charset="0"/>
                  <a:ea typeface="Malgun Gothic" charset="0"/>
                </a:rPr>
                <a:t>· </a:t>
              </a:r>
              <a:r>
                <a:rPr lang="ko-KR" sz="1200" b="1" strike="noStrike">
                  <a:solidFill>
                    <a:srgbClr val="FFFFFF"/>
                  </a:solidFill>
                  <a:latin typeface="Malgun Gothic" charset="0"/>
                  <a:ea typeface="Malgun Gothic" charset="0"/>
                </a:rPr>
                <a:t>대기질 </a:t>
              </a:r>
              <a:r>
                <a:rPr lang="en-US" sz="1200" b="1" strike="noStrike">
                  <a:solidFill>
                    <a:srgbClr val="FFFFFF"/>
                  </a:solidFill>
                  <a:latin typeface="Malgun Gothic" charset="0"/>
                  <a:ea typeface="Malgun Gothic" charset="0"/>
                </a:rPr>
                <a:t>· </a:t>
              </a:r>
              <a:r>
                <a:rPr lang="ko-KR" sz="1200" b="1" strike="noStrike">
                  <a:solidFill>
                    <a:srgbClr val="FFFFFF"/>
                  </a:solidFill>
                  <a:latin typeface="Malgun Gothic" charset="0"/>
                  <a:ea typeface="Malgun Gothic" charset="0"/>
                </a:rPr>
                <a:t>실내외</a:t>
              </a:r>
              <a:endParaRPr lang="ko-KR" altLang="en-US" sz="1200" b="1" strike="noStrike">
                <a:solidFill>
                  <a:srgbClr val="FFFFFF"/>
                </a:solidFill>
                <a:latin typeface="Malgun Gothic" charset="0"/>
                <a:ea typeface="Malgun Gothic" charset="0"/>
              </a:endParaRPr>
            </a:p>
          </p:txBody>
        </p:sp>
      </p:grpSp>
      <p:sp>
        <p:nvSpPr>
          <p:cNvPr id="260" name="Shape 16"/>
          <p:cNvSpPr>
            <a:spLocks/>
          </p:cNvSpPr>
          <p:nvPr/>
        </p:nvSpPr>
        <p:spPr>
          <a:xfrm rot="0">
            <a:off x="9619615" y="1810385"/>
            <a:ext cx="2011680" cy="1051560"/>
          </a:xfrm>
          <a:prstGeom prst="roundRect">
            <a:avLst>
              <a:gd name="adj" fmla="val 12174"/>
            </a:avLst>
          </a:prstGeom>
          <a:solidFill>
            <a:srgbClr val="B5654A"/>
          </a:solidFill>
          <a:ln w="12700" cap="flat" cmpd="sng">
            <a:solidFill>
              <a:srgbClr val="B5654A">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grpSp>
        <p:nvGrpSpPr>
          <p:cNvPr id="299" name="그룹 13"/>
          <p:cNvGrpSpPr>
            <a:grpSpLocks/>
          </p:cNvGrpSpPr>
          <p:nvPr/>
        </p:nvGrpSpPr>
        <p:grpSpPr>
          <a:xfrm rot="0">
            <a:off x="9711055" y="2016125"/>
            <a:ext cx="1828800" cy="841375"/>
            <a:chOff x="9711055" y="2016125"/>
            <a:chExt cx="1828800" cy="841375"/>
          </a:xfrm>
        </p:grpSpPr>
        <p:sp>
          <p:nvSpPr>
            <p:cNvPr id="261" name="Text 17"/>
            <p:cNvSpPr>
              <a:spLocks/>
            </p:cNvSpPr>
            <p:nvPr/>
          </p:nvSpPr>
          <p:spPr>
            <a:xfrm rot="0">
              <a:off x="9756775" y="2016125"/>
              <a:ext cx="173736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800" b="1" strike="noStrike">
                  <a:solidFill>
                    <a:srgbClr val="FFFFFF"/>
                  </a:solidFill>
                  <a:latin typeface="Malgun Gothic" charset="0"/>
                  <a:ea typeface="Malgun Gothic" charset="0"/>
                </a:rPr>
                <a:t>0~99</a:t>
              </a:r>
              <a:r>
                <a:rPr lang="ko-KR" sz="1800" b="1" strike="noStrike">
                  <a:solidFill>
                    <a:srgbClr val="FFFFFF"/>
                  </a:solidFill>
                  <a:latin typeface="Malgun Gothic" charset="0"/>
                  <a:ea typeface="Malgun Gothic" charset="0"/>
                </a:rPr>
                <a:t>점 제한</a:t>
              </a:r>
              <a:endParaRPr lang="ko-KR" altLang="en-US" sz="1800" b="1" strike="noStrike">
                <a:solidFill>
                  <a:srgbClr val="FFFFFF"/>
                </a:solidFill>
                <a:latin typeface="Malgun Gothic" charset="0"/>
                <a:ea typeface="Malgun Gothic" charset="0"/>
              </a:endParaRPr>
            </a:p>
          </p:txBody>
        </p:sp>
        <p:sp>
          <p:nvSpPr>
            <p:cNvPr id="262" name="Text 18"/>
            <p:cNvSpPr>
              <a:spLocks/>
            </p:cNvSpPr>
            <p:nvPr/>
          </p:nvSpPr>
          <p:spPr>
            <a:xfrm rot="0">
              <a:off x="9711055" y="2446020"/>
              <a:ext cx="1828800" cy="41148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200" b="1" strike="noStrike">
                  <a:solidFill>
                    <a:srgbClr val="FFFFFF"/>
                  </a:solidFill>
                  <a:latin typeface="Malgun Gothic" charset="0"/>
                  <a:ea typeface="Malgun Gothic" charset="0"/>
                </a:rPr>
                <a:t>→ </a:t>
              </a:r>
              <a:r>
                <a:rPr lang="ko-KR" sz="1200" b="1" strike="noStrike">
                  <a:solidFill>
                    <a:srgbClr val="FFFFFF"/>
                  </a:solidFill>
                  <a:latin typeface="Malgun Gothic" charset="0"/>
                  <a:ea typeface="Malgun Gothic" charset="0"/>
                </a:rPr>
                <a:t>운영정보 반영</a:t>
              </a:r>
              <a:endParaRPr lang="ko-KR" altLang="en-US" sz="1200" b="1" strike="noStrike">
                <a:solidFill>
                  <a:srgbClr val="FFFFFF"/>
                </a:solidFill>
                <a:latin typeface="Malgun Gothic" charset="0"/>
                <a:ea typeface="Malgun Gothic" charset="0"/>
              </a:endParaRPr>
            </a:p>
          </p:txBody>
        </p:sp>
      </p:grpSp>
      <p:sp>
        <p:nvSpPr>
          <p:cNvPr id="263" name="Shape 19"/>
          <p:cNvSpPr/>
          <p:nvPr/>
        </p:nvSpPr>
        <p:spPr>
          <a:xfrm>
            <a:off x="548640" y="315468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64" name="Text 20"/>
          <p:cNvSpPr/>
          <p:nvPr/>
        </p:nvSpPr>
        <p:spPr>
          <a:xfrm>
            <a:off x="731520" y="315468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비 오는 날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실내 시설</a:t>
            </a:r>
            <a:endParaRPr b="0" lang="en-US" sz="1350" spc="-1" strike="noStrike">
              <a:solidFill>
                <a:srgbClr val="000000"/>
              </a:solidFill>
              <a:latin typeface="Noto Sans KR"/>
            </a:endParaRPr>
          </a:p>
        </p:txBody>
      </p:sp>
      <p:sp>
        <p:nvSpPr>
          <p:cNvPr id="265" name="Text 21"/>
          <p:cNvSpPr/>
          <p:nvPr/>
        </p:nvSpPr>
        <p:spPr>
          <a:xfrm>
            <a:off x="3154680" y="315468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2e5a46"/>
                </a:solidFill>
                <a:latin typeface="Malgun Gothic"/>
                <a:ea typeface="Malgun Gothic"/>
              </a:rPr>
              <a:t>+8</a:t>
            </a:r>
            <a:endParaRPr b="0" lang="en-US" sz="2200" spc="-1" strike="noStrike">
              <a:solidFill>
                <a:srgbClr val="000000"/>
              </a:solidFill>
              <a:latin typeface="Noto Sans KR"/>
            </a:endParaRPr>
          </a:p>
        </p:txBody>
      </p:sp>
      <p:sp>
        <p:nvSpPr>
          <p:cNvPr id="266" name="Shape 22"/>
          <p:cNvSpPr/>
          <p:nvPr/>
        </p:nvSpPr>
        <p:spPr>
          <a:xfrm>
            <a:off x="4297680" y="315468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67" name="Text 23"/>
          <p:cNvSpPr/>
          <p:nvPr/>
        </p:nvSpPr>
        <p:spPr>
          <a:xfrm>
            <a:off x="4480560" y="315468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비 오는 날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실외 시설</a:t>
            </a:r>
            <a:endParaRPr b="0" lang="en-US" sz="1350" spc="-1" strike="noStrike">
              <a:solidFill>
                <a:srgbClr val="000000"/>
              </a:solidFill>
              <a:latin typeface="Noto Sans KR"/>
            </a:endParaRPr>
          </a:p>
        </p:txBody>
      </p:sp>
      <p:sp>
        <p:nvSpPr>
          <p:cNvPr id="268" name="Text 24"/>
          <p:cNvSpPr/>
          <p:nvPr/>
        </p:nvSpPr>
        <p:spPr>
          <a:xfrm>
            <a:off x="6903720" y="315468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24</a:t>
            </a:r>
            <a:endParaRPr b="0" lang="en-US" sz="2200" spc="-1" strike="noStrike">
              <a:solidFill>
                <a:srgbClr val="000000"/>
              </a:solidFill>
              <a:latin typeface="Noto Sans KR"/>
            </a:endParaRPr>
          </a:p>
        </p:txBody>
      </p:sp>
      <p:sp>
        <p:nvSpPr>
          <p:cNvPr id="269" name="Shape 25"/>
          <p:cNvSpPr/>
          <p:nvPr/>
        </p:nvSpPr>
        <p:spPr>
          <a:xfrm>
            <a:off x="548640" y="388620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70" name="Text 26"/>
          <p:cNvSpPr/>
          <p:nvPr/>
        </p:nvSpPr>
        <p:spPr>
          <a:xfrm>
            <a:off x="731520" y="388620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실외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기온 </a:t>
            </a:r>
            <a:r>
              <a:rPr b="1" lang="en-US" sz="1350" spc="-1" strike="noStrike">
                <a:solidFill>
                  <a:srgbClr val="1e2621"/>
                </a:solidFill>
                <a:latin typeface="Malgun Gothic"/>
                <a:ea typeface="Malgun Gothic"/>
              </a:rPr>
              <a:t>10~25℃</a:t>
            </a:r>
            <a:endParaRPr b="0" lang="en-US" sz="1350" spc="-1" strike="noStrike">
              <a:solidFill>
                <a:srgbClr val="000000"/>
              </a:solidFill>
              <a:latin typeface="Noto Sans KR"/>
            </a:endParaRPr>
          </a:p>
        </p:txBody>
      </p:sp>
      <p:sp>
        <p:nvSpPr>
          <p:cNvPr id="271" name="Text 27"/>
          <p:cNvSpPr/>
          <p:nvPr/>
        </p:nvSpPr>
        <p:spPr>
          <a:xfrm>
            <a:off x="3154680" y="388620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2e5a46"/>
                </a:solidFill>
                <a:latin typeface="Malgun Gothic"/>
                <a:ea typeface="Malgun Gothic"/>
              </a:rPr>
              <a:t>+6</a:t>
            </a:r>
            <a:endParaRPr b="0" lang="en-US" sz="2200" spc="-1" strike="noStrike">
              <a:solidFill>
                <a:srgbClr val="000000"/>
              </a:solidFill>
              <a:latin typeface="Noto Sans KR"/>
            </a:endParaRPr>
          </a:p>
        </p:txBody>
      </p:sp>
      <p:sp>
        <p:nvSpPr>
          <p:cNvPr id="272" name="Shape 28"/>
          <p:cNvSpPr/>
          <p:nvPr/>
        </p:nvSpPr>
        <p:spPr>
          <a:xfrm>
            <a:off x="4297680" y="388620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73" name="Text 29"/>
          <p:cNvSpPr>
            <a:spLocks/>
          </p:cNvSpPr>
          <p:nvPr/>
        </p:nvSpPr>
        <p:spPr>
          <a:xfrm rot="0">
            <a:off x="4480560" y="3886200"/>
            <a:ext cx="2621280" cy="60388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350" b="1" strike="noStrike">
                <a:solidFill>
                  <a:srgbClr val="1E2621"/>
                </a:solidFill>
                <a:latin typeface="Malgun Gothic" charset="0"/>
                <a:ea typeface="Malgun Gothic" charset="0"/>
              </a:rPr>
              <a:t>실외 </a:t>
            </a:r>
            <a:r>
              <a:rPr lang="en-US" sz="1350" b="1" strike="noStrike">
                <a:solidFill>
                  <a:srgbClr val="1E2621"/>
                </a:solidFill>
                <a:latin typeface="Malgun Gothic" charset="0"/>
                <a:ea typeface="Malgun Gothic" charset="0"/>
              </a:rPr>
              <a:t>· </a:t>
            </a:r>
            <a:r>
              <a:rPr lang="ko-KR" sz="1350" b="1" strike="noStrike">
                <a:solidFill>
                  <a:srgbClr val="1E2621"/>
                </a:solidFill>
                <a:latin typeface="Malgun Gothic" charset="0"/>
                <a:ea typeface="Malgun Gothic" charset="0"/>
              </a:rPr>
              <a:t>기온 </a:t>
            </a:r>
            <a:r>
              <a:rPr lang="en-US" sz="1350" b="1" strike="noStrike">
                <a:solidFill>
                  <a:srgbClr val="1E2621"/>
                </a:solidFill>
                <a:latin typeface="Malgun Gothic" charset="0"/>
                <a:ea typeface="Malgun Gothic" charset="0"/>
              </a:rPr>
              <a:t>5℃ </a:t>
            </a:r>
            <a:r>
              <a:rPr lang="ko-KR" sz="1350" b="1" strike="noStrike">
                <a:solidFill>
                  <a:srgbClr val="1E2621"/>
                </a:solidFill>
                <a:latin typeface="Malgun Gothic" charset="0"/>
                <a:ea typeface="Malgun Gothic" charset="0"/>
              </a:rPr>
              <a:t>미만 </a:t>
            </a:r>
            <a:r>
              <a:rPr lang="en-US" sz="1350" b="1" strike="noStrike">
                <a:solidFill>
                  <a:srgbClr val="1E2621"/>
                </a:solidFill>
                <a:latin typeface="Malgun Gothic" charset="0"/>
                <a:ea typeface="Malgun Gothic" charset="0"/>
              </a:rPr>
              <a:t>/ 30℃ </a:t>
            </a:r>
            <a:r>
              <a:rPr lang="ko-KR" sz="1350" b="1" strike="noStrike">
                <a:solidFill>
                  <a:srgbClr val="1E2621"/>
                </a:solidFill>
                <a:latin typeface="Malgun Gothic" charset="0"/>
                <a:ea typeface="Malgun Gothic" charset="0"/>
              </a:rPr>
              <a:t>초과</a:t>
            </a:r>
            <a:endParaRPr lang="ko-KR" altLang="en-US" sz="1350" b="1" strike="noStrike">
              <a:solidFill>
                <a:srgbClr val="1E2621"/>
              </a:solidFill>
              <a:latin typeface="Malgun Gothic" charset="0"/>
              <a:ea typeface="Malgun Gothic" charset="0"/>
            </a:endParaRPr>
          </a:p>
        </p:txBody>
      </p:sp>
      <p:sp>
        <p:nvSpPr>
          <p:cNvPr id="274" name="Text 30"/>
          <p:cNvSpPr/>
          <p:nvPr/>
        </p:nvSpPr>
        <p:spPr>
          <a:xfrm>
            <a:off x="6903720" y="388620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10</a:t>
            </a:r>
            <a:endParaRPr b="0" lang="en-US" sz="2200" spc="-1" strike="noStrike">
              <a:solidFill>
                <a:srgbClr val="000000"/>
              </a:solidFill>
              <a:latin typeface="Noto Sans KR"/>
            </a:endParaRPr>
          </a:p>
        </p:txBody>
      </p:sp>
      <p:sp>
        <p:nvSpPr>
          <p:cNvPr id="275" name="Shape 31"/>
          <p:cNvSpPr/>
          <p:nvPr/>
        </p:nvSpPr>
        <p:spPr>
          <a:xfrm>
            <a:off x="548640" y="461772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76" name="Text 32"/>
          <p:cNvSpPr/>
          <p:nvPr/>
        </p:nvSpPr>
        <p:spPr>
          <a:xfrm>
            <a:off x="731520" y="461772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실외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습도 </a:t>
            </a:r>
            <a:r>
              <a:rPr b="1" lang="en-US" sz="1350" spc="-1" strike="noStrike">
                <a:solidFill>
                  <a:srgbClr val="1e2621"/>
                </a:solidFill>
                <a:latin typeface="Malgun Gothic"/>
                <a:ea typeface="Malgun Gothic"/>
              </a:rPr>
              <a:t>80% </a:t>
            </a:r>
            <a:r>
              <a:rPr b="1" lang="ko-KR" sz="1350" spc="-1" strike="noStrike">
                <a:solidFill>
                  <a:srgbClr val="1e2621"/>
                </a:solidFill>
                <a:latin typeface="Malgun Gothic"/>
                <a:ea typeface="Malgun Gothic"/>
              </a:rPr>
              <a:t>이상</a:t>
            </a:r>
            <a:endParaRPr b="0" lang="en-US" sz="1350" spc="-1" strike="noStrike">
              <a:solidFill>
                <a:srgbClr val="000000"/>
              </a:solidFill>
              <a:latin typeface="Noto Sans KR"/>
            </a:endParaRPr>
          </a:p>
        </p:txBody>
      </p:sp>
      <p:sp>
        <p:nvSpPr>
          <p:cNvPr id="277" name="Text 33"/>
          <p:cNvSpPr/>
          <p:nvPr/>
        </p:nvSpPr>
        <p:spPr>
          <a:xfrm>
            <a:off x="3154680" y="461772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8</a:t>
            </a:r>
            <a:endParaRPr b="0" lang="en-US" sz="2200" spc="-1" strike="noStrike">
              <a:solidFill>
                <a:srgbClr val="000000"/>
              </a:solidFill>
              <a:latin typeface="Noto Sans KR"/>
            </a:endParaRPr>
          </a:p>
        </p:txBody>
      </p:sp>
      <p:sp>
        <p:nvSpPr>
          <p:cNvPr id="278" name="Shape 34"/>
          <p:cNvSpPr/>
          <p:nvPr/>
        </p:nvSpPr>
        <p:spPr>
          <a:xfrm>
            <a:off x="4297680" y="461772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79" name="Text 35"/>
          <p:cNvSpPr/>
          <p:nvPr/>
        </p:nvSpPr>
        <p:spPr>
          <a:xfrm>
            <a:off x="4480560" y="461772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실외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풍속 </a:t>
            </a:r>
            <a:r>
              <a:rPr b="1" lang="en-US" sz="1350" spc="-1" strike="noStrike">
                <a:solidFill>
                  <a:srgbClr val="1e2621"/>
                </a:solidFill>
                <a:latin typeface="Malgun Gothic"/>
                <a:ea typeface="Malgun Gothic"/>
              </a:rPr>
              <a:t>8m/s </a:t>
            </a:r>
            <a:r>
              <a:rPr b="1" lang="ko-KR" sz="1350" spc="-1" strike="noStrike">
                <a:solidFill>
                  <a:srgbClr val="1e2621"/>
                </a:solidFill>
                <a:latin typeface="Malgun Gothic"/>
                <a:ea typeface="Malgun Gothic"/>
              </a:rPr>
              <a:t>이상</a:t>
            </a:r>
            <a:endParaRPr b="0" lang="en-US" sz="1350" spc="-1" strike="noStrike">
              <a:solidFill>
                <a:srgbClr val="000000"/>
              </a:solidFill>
              <a:latin typeface="Noto Sans KR"/>
            </a:endParaRPr>
          </a:p>
        </p:txBody>
      </p:sp>
      <p:sp>
        <p:nvSpPr>
          <p:cNvPr id="280" name="Text 36"/>
          <p:cNvSpPr/>
          <p:nvPr/>
        </p:nvSpPr>
        <p:spPr>
          <a:xfrm>
            <a:off x="6903720" y="461772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8</a:t>
            </a:r>
            <a:endParaRPr b="0" lang="en-US" sz="2200" spc="-1" strike="noStrike">
              <a:solidFill>
                <a:srgbClr val="000000"/>
              </a:solidFill>
              <a:latin typeface="Noto Sans KR"/>
            </a:endParaRPr>
          </a:p>
        </p:txBody>
      </p:sp>
      <p:sp>
        <p:nvSpPr>
          <p:cNvPr id="281" name="Shape 37"/>
          <p:cNvSpPr/>
          <p:nvPr/>
        </p:nvSpPr>
        <p:spPr>
          <a:xfrm>
            <a:off x="548640" y="534924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82" name="Text 38"/>
          <p:cNvSpPr/>
          <p:nvPr/>
        </p:nvSpPr>
        <p:spPr>
          <a:xfrm>
            <a:off x="731520" y="534924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미세먼지 높은 날 </a:t>
            </a:r>
            <a:r>
              <a:rPr b="1" lang="en-US" sz="1350" spc="-1" strike="noStrike">
                <a:solidFill>
                  <a:srgbClr val="1e2621"/>
                </a:solidFill>
                <a:latin typeface="Malgun Gothic"/>
                <a:ea typeface="Malgun Gothic"/>
              </a:rPr>
              <a:t>· </a:t>
            </a:r>
            <a:r>
              <a:rPr b="1" lang="ko-KR" sz="1350" spc="-1" strike="noStrike">
                <a:solidFill>
                  <a:srgbClr val="1e2621"/>
                </a:solidFill>
                <a:latin typeface="Malgun Gothic"/>
                <a:ea typeface="Malgun Gothic"/>
              </a:rPr>
              <a:t>실내 시설</a:t>
            </a:r>
            <a:endParaRPr b="0" lang="en-US" sz="1350" spc="-1" strike="noStrike">
              <a:solidFill>
                <a:srgbClr val="000000"/>
              </a:solidFill>
              <a:latin typeface="Noto Sans KR"/>
            </a:endParaRPr>
          </a:p>
        </p:txBody>
      </p:sp>
      <p:sp>
        <p:nvSpPr>
          <p:cNvPr id="283" name="Text 39"/>
          <p:cNvSpPr/>
          <p:nvPr/>
        </p:nvSpPr>
        <p:spPr>
          <a:xfrm>
            <a:off x="3154680" y="534924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2e5a46"/>
                </a:solidFill>
                <a:latin typeface="Malgun Gothic"/>
                <a:ea typeface="Malgun Gothic"/>
              </a:rPr>
              <a:t>+14</a:t>
            </a:r>
            <a:endParaRPr b="0" lang="en-US" sz="2200" spc="-1" strike="noStrike">
              <a:solidFill>
                <a:srgbClr val="000000"/>
              </a:solidFill>
              <a:latin typeface="Noto Sans KR"/>
            </a:endParaRPr>
          </a:p>
        </p:txBody>
      </p:sp>
      <p:sp>
        <p:nvSpPr>
          <p:cNvPr id="284" name="Shape 40"/>
          <p:cNvSpPr/>
          <p:nvPr/>
        </p:nvSpPr>
        <p:spPr>
          <a:xfrm>
            <a:off x="4297680" y="5349240"/>
            <a:ext cx="3565525" cy="603250"/>
          </a:xfrm>
          <a:prstGeom prst="roundRect">
            <a:avLst>
              <a:gd name="adj" fmla="val 21212"/>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85" name="Text 41"/>
          <p:cNvSpPr/>
          <p:nvPr/>
        </p:nvSpPr>
        <p:spPr>
          <a:xfrm>
            <a:off x="4480560" y="5349240"/>
            <a:ext cx="2513965" cy="60325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350" spc="-1" strike="noStrike">
                <a:solidFill>
                  <a:srgbClr val="1e2621"/>
                </a:solidFill>
                <a:latin typeface="Malgun Gothic"/>
                <a:ea typeface="Malgun Gothic"/>
              </a:rPr>
              <a:t>특정 당일</a:t>
            </a:r>
            <a:r>
              <a:rPr b="1" lang="en-US" sz="1350" spc="-1" strike="noStrike">
                <a:solidFill>
                  <a:srgbClr val="1e2621"/>
                </a:solidFill>
                <a:latin typeface="Malgun Gothic"/>
                <a:ea typeface="Malgun Gothic"/>
              </a:rPr>
              <a:t>·</a:t>
            </a:r>
            <a:r>
              <a:rPr b="1" lang="ko-KR" sz="1350" spc="-1" strike="noStrike">
                <a:solidFill>
                  <a:srgbClr val="1e2621"/>
                </a:solidFill>
                <a:latin typeface="Malgun Gothic"/>
                <a:ea typeface="Malgun Gothic"/>
              </a:rPr>
              <a:t>임시 휴무 문구 감지</a:t>
            </a:r>
            <a:endParaRPr b="0" lang="en-US" sz="1350" spc="-1" strike="noStrike">
              <a:solidFill>
                <a:srgbClr val="000000"/>
              </a:solidFill>
              <a:latin typeface="Noto Sans KR"/>
            </a:endParaRPr>
          </a:p>
        </p:txBody>
      </p:sp>
      <p:sp>
        <p:nvSpPr>
          <p:cNvPr id="286" name="Text 42"/>
          <p:cNvSpPr/>
          <p:nvPr/>
        </p:nvSpPr>
        <p:spPr>
          <a:xfrm>
            <a:off x="6903720" y="5349240"/>
            <a:ext cx="822325" cy="60325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200" spc="-1" strike="noStrike">
                <a:solidFill>
                  <a:srgbClr val="b5654a"/>
                </a:solidFill>
                <a:latin typeface="Malgun Gothic"/>
                <a:ea typeface="Malgun Gothic"/>
              </a:rPr>
              <a:t>–</a:t>
            </a:r>
            <a:r>
              <a:rPr b="1" lang="en-US" sz="2200" spc="-1" strike="noStrike">
                <a:solidFill>
                  <a:srgbClr val="b5654a"/>
                </a:solidFill>
                <a:latin typeface="Malgun Gothic"/>
                <a:ea typeface="Malgun Gothic"/>
              </a:rPr>
              <a:t>25</a:t>
            </a:r>
            <a:endParaRPr b="0" lang="en-US" sz="2200" spc="-1" strike="noStrike">
              <a:solidFill>
                <a:srgbClr val="000000"/>
              </a:solidFill>
              <a:latin typeface="Noto Sans KR"/>
            </a:endParaRPr>
          </a:p>
        </p:txBody>
      </p:sp>
      <p:sp>
        <p:nvSpPr>
          <p:cNvPr id="287" name="Shape 43"/>
          <p:cNvSpPr>
            <a:spLocks/>
          </p:cNvSpPr>
          <p:nvPr/>
        </p:nvSpPr>
        <p:spPr>
          <a:xfrm rot="0">
            <a:off x="8183880" y="3154680"/>
            <a:ext cx="3456940" cy="2798445"/>
          </a:xfrm>
          <a:prstGeom prst="roundRect">
            <a:avLst>
              <a:gd name="adj" fmla="val 4575"/>
            </a:avLst>
          </a:prstGeom>
          <a:solidFill>
            <a:srgbClr val="1E3B2F"/>
          </a:solidFill>
          <a:ln w="12700" cap="flat" cmpd="sng">
            <a:solidFill>
              <a:srgbClr val="1E3B2F">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FFFFFF"/>
              </a:solidFill>
              <a:latin typeface="Noto Sans KR" charset="0"/>
            </a:endParaRPr>
          </a:p>
        </p:txBody>
      </p:sp>
      <p:sp>
        <p:nvSpPr>
          <p:cNvPr id="288" name="Text 44"/>
          <p:cNvSpPr>
            <a:spLocks/>
          </p:cNvSpPr>
          <p:nvPr/>
        </p:nvSpPr>
        <p:spPr>
          <a:xfrm rot="0">
            <a:off x="8412480" y="3383280"/>
            <a:ext cx="3017520" cy="3657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00000"/>
              </a:lnSpc>
              <a:buFontTx/>
              <a:buNone/>
              <a:tabLst>
                <a:tab pos="0" algn="l"/>
              </a:tabLst>
            </a:pPr>
            <a:r>
              <a:rPr lang="en-US" sz="1700" b="1" strike="noStrike">
                <a:solidFill>
                  <a:srgbClr val="9DB5A8"/>
                </a:solidFill>
                <a:latin typeface="Malgun Gothic" charset="0"/>
                <a:ea typeface="Malgun Gothic" charset="0"/>
              </a:rPr>
              <a:t>AI</a:t>
            </a:r>
            <a:r>
              <a:rPr lang="ko-KR" sz="1700" b="1" strike="noStrike">
                <a:solidFill>
                  <a:srgbClr val="9DB5A8"/>
                </a:solidFill>
                <a:latin typeface="Malgun Gothic" charset="0"/>
                <a:ea typeface="Malgun Gothic" charset="0"/>
              </a:rPr>
              <a:t>가</a:t>
            </a:r>
            <a:r>
              <a:rPr lang="ko-KR" sz="1700" b="1" strike="noStrike">
                <a:solidFill>
                  <a:srgbClr val="9DB5A8"/>
                </a:solidFill>
                <a:latin typeface="Malgun Gothic" charset="0"/>
                <a:ea typeface="Malgun Gothic" charset="0"/>
              </a:rPr>
              <a:t> </a:t>
            </a:r>
            <a:r>
              <a:rPr lang="ko-KR" sz="1700" b="1" strike="noStrike">
                <a:solidFill>
                  <a:srgbClr val="9DB5A8"/>
                </a:solidFill>
                <a:latin typeface="Malgun Gothic" charset="0"/>
                <a:ea typeface="Malgun Gothic" charset="0"/>
              </a:rPr>
              <a:t>계산한</a:t>
            </a:r>
            <a:r>
              <a:rPr lang="ko-KR" sz="1700" b="1" strike="noStrike">
                <a:solidFill>
                  <a:srgbClr val="9DB5A8"/>
                </a:solidFill>
                <a:latin typeface="Malgun Gothic" charset="0"/>
                <a:ea typeface="Malgun Gothic" charset="0"/>
              </a:rPr>
              <a:t> </a:t>
            </a:r>
            <a:r>
              <a:rPr lang="ko-KR" sz="1700" b="1" strike="noStrike">
                <a:solidFill>
                  <a:srgbClr val="9DB5A8"/>
                </a:solidFill>
                <a:latin typeface="Malgun Gothic" charset="0"/>
                <a:ea typeface="Malgun Gothic" charset="0"/>
              </a:rPr>
              <a:t>확률</a:t>
            </a:r>
            <a:r>
              <a:rPr lang="en-US" sz="1700" b="1" strike="noStrike">
                <a:solidFill>
                  <a:srgbClr val="9DB5A8"/>
                </a:solidFill>
                <a:latin typeface="Malgun Gothic" charset="0"/>
                <a:ea typeface="Malgun Gothic" charset="0"/>
              </a:rPr>
              <a:t>?</a:t>
            </a:r>
            <a:endParaRPr lang="ko-KR" altLang="en-US" sz="1700" b="1" strike="noStrike">
              <a:solidFill>
                <a:srgbClr val="9DB5A8"/>
              </a:solidFill>
              <a:latin typeface="Malgun Gothic" charset="0"/>
              <a:ea typeface="Malgun Gothic" charset="0"/>
            </a:endParaRPr>
          </a:p>
        </p:txBody>
      </p:sp>
      <p:sp>
        <p:nvSpPr>
          <p:cNvPr id="289" name="Text 45"/>
          <p:cNvSpPr/>
          <p:nvPr/>
        </p:nvSpPr>
        <p:spPr>
          <a:xfrm>
            <a:off x="8412480" y="3749040"/>
            <a:ext cx="3016885" cy="4565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400" spc="-1" strike="noStrike">
                <a:solidFill>
                  <a:srgbClr val="d9a441"/>
                </a:solidFill>
                <a:latin typeface="Malgun Gothic"/>
                <a:ea typeface="Malgun Gothic"/>
              </a:rPr>
              <a:t>아니요</a:t>
            </a:r>
            <a:r>
              <a:rPr b="1" lang="en-US" sz="2400" spc="-1" strike="noStrike">
                <a:solidFill>
                  <a:srgbClr val="d9a441"/>
                </a:solidFill>
                <a:latin typeface="Malgun Gothic"/>
                <a:ea typeface="Malgun Gothic"/>
              </a:rPr>
              <a:t>.</a:t>
            </a:r>
            <a:endParaRPr b="0" lang="en-US" sz="2400" spc="-1" strike="noStrike">
              <a:solidFill>
                <a:srgbClr val="000000"/>
              </a:solidFill>
              <a:latin typeface="Noto Sans KR"/>
            </a:endParaRPr>
          </a:p>
        </p:txBody>
      </p:sp>
      <p:sp>
        <p:nvSpPr>
          <p:cNvPr id="290" name="Text 46"/>
          <p:cNvSpPr/>
          <p:nvPr/>
        </p:nvSpPr>
        <p:spPr>
          <a:xfrm>
            <a:off x="8412480" y="4297680"/>
            <a:ext cx="3016885" cy="822325"/>
          </a:xfrm>
          <a:prstGeom prst="rect">
            <a:avLst/>
          </a:prstGeom>
          <a:noFill/>
          <a:ln w="0">
            <a:noFill/>
          </a:ln>
        </p:spPr>
        <p:style>
          <a:lnRef idx="0"/>
          <a:fillRef idx="0"/>
          <a:effectRef idx="0"/>
          <a:fontRef idx="minor"/>
        </p:style>
        <p:txBody>
          <a:bodyPr lIns="0" rIns="0" tIns="0" bIns="0" anchor="t">
            <a:noAutofit/>
          </a:bodyPr>
          <a:p>
            <a:pPr defTabSz="914400">
              <a:lnSpc>
                <a:spcPct val="110000"/>
              </a:lnSpc>
              <a:tabLst>
                <a:tab algn="l" pos="0"/>
              </a:tabLst>
            </a:pPr>
            <a:r>
              <a:rPr b="1" lang="ko-KR" sz="2000" spc="-1" strike="noStrike">
                <a:solidFill>
                  <a:srgbClr val="ffffff"/>
                </a:solidFill>
                <a:latin typeface="Malgun Gothic"/>
                <a:ea typeface="Malgun Gothic"/>
              </a:rPr>
              <a:t>팀이 설정한</a:t>
            </a:r>
            <a:endParaRPr b="0" lang="en-US" sz="2000" spc="-1" strike="noStrike">
              <a:solidFill>
                <a:srgbClr val="000000"/>
              </a:solidFill>
              <a:latin typeface="Noto Sans KR"/>
            </a:endParaRPr>
          </a:p>
          <a:p>
            <a:pPr defTabSz="914400">
              <a:lnSpc>
                <a:spcPct val="110000"/>
              </a:lnSpc>
              <a:tabLst>
                <a:tab algn="l" pos="0"/>
              </a:tabLst>
            </a:pPr>
            <a:r>
              <a:rPr b="1" lang="ko-KR" sz="2000" spc="-1" strike="noStrike">
                <a:solidFill>
                  <a:srgbClr val="ffffff"/>
                </a:solidFill>
                <a:latin typeface="Malgun Gothic"/>
                <a:ea typeface="Malgun Gothic"/>
              </a:rPr>
              <a:t>규칙 기반 우선순위</a:t>
            </a:r>
            <a:endParaRPr b="0" lang="en-US" sz="2000" spc="-1" strike="noStrike">
              <a:solidFill>
                <a:srgbClr val="000000"/>
              </a:solidFill>
              <a:latin typeface="Noto Sans KR"/>
            </a:endParaRPr>
          </a:p>
        </p:txBody>
      </p:sp>
      <p:sp>
        <p:nvSpPr>
          <p:cNvPr id="291" name="Text 47"/>
          <p:cNvSpPr/>
          <p:nvPr/>
        </p:nvSpPr>
        <p:spPr>
          <a:xfrm>
            <a:off x="8412480" y="5212080"/>
            <a:ext cx="3016885" cy="5937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250" spc="-1" strike="noStrike">
                <a:solidFill>
                  <a:srgbClr val="cfe0d5"/>
                </a:solidFill>
                <a:latin typeface="Malgun Gothic"/>
                <a:ea typeface="Malgun Gothic"/>
              </a:rPr>
              <a:t>추천 카드에 점수의 이유를 함께 보여줄 수 있습니다</a:t>
            </a:r>
            <a:endParaRPr b="0" lang="en-US" sz="1250" spc="-1" strike="noStrike">
              <a:solidFill>
                <a:srgbClr val="000000"/>
              </a:solidFill>
              <a:latin typeface="Noto Sans KR"/>
            </a:endParaRPr>
          </a:p>
        </p:txBody>
      </p:sp>
      <p:sp>
        <p:nvSpPr>
          <p:cNvPr id="292" name="Text 48"/>
          <p:cNvSpPr/>
          <p:nvPr/>
        </p:nvSpPr>
        <p:spPr>
          <a:xfrm>
            <a:off x="548640" y="6144895"/>
            <a:ext cx="758888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50" spc="-1" strike="noStrike">
                <a:solidFill>
                  <a:srgbClr val="5e5b52"/>
                </a:solidFill>
                <a:latin typeface="Malgun Gothic"/>
                <a:ea typeface="Malgun Gothic"/>
              </a:rPr>
              <a:t>※ </a:t>
            </a:r>
            <a:r>
              <a:rPr b="1" lang="ko-KR" sz="1150" spc="-1" strike="noStrike">
                <a:solidFill>
                  <a:srgbClr val="5e5b52"/>
                </a:solidFill>
                <a:latin typeface="Malgun Gothic"/>
                <a:ea typeface="Malgun Gothic"/>
              </a:rPr>
              <a:t>일반 시설 추천 경로 기준 </a:t>
            </a:r>
            <a:r>
              <a:rPr b="1" lang="en-US" sz="1150" spc="-1" strike="noStrike">
                <a:solidFill>
                  <a:srgbClr val="5e5b52"/>
                </a:solidFill>
                <a:latin typeface="Malgun Gothic"/>
                <a:ea typeface="Malgun Gothic"/>
              </a:rPr>
              <a:t>· </a:t>
            </a:r>
            <a:r>
              <a:rPr b="1" lang="ko-KR" sz="1150" spc="-1" strike="noStrike">
                <a:solidFill>
                  <a:srgbClr val="5e5b52"/>
                </a:solidFill>
                <a:latin typeface="Malgun Gothic"/>
                <a:ea typeface="Malgun Gothic"/>
              </a:rPr>
              <a:t>카카오 검색으로 보완하는 후보는 별도 점수식 사용</a:t>
            </a:r>
            <a:endParaRPr b="0" lang="en-US" sz="1150" spc="-1" strike="noStrike">
              <a:solidFill>
                <a:srgbClr val="000000"/>
              </a:solidFill>
              <a:latin typeface="Noto Sans KR"/>
            </a:endParaRPr>
          </a:p>
        </p:txBody>
      </p:sp>
      <p:sp>
        <p:nvSpPr>
          <p:cNvPr id="293" name="Text 49"/>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294" name="Text 50"/>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10</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295"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296"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04</a:t>
            </a:r>
            <a:endParaRPr b="0" lang="en-US" sz="1300" spc="-1" strike="noStrike">
              <a:solidFill>
                <a:srgbClr val="000000"/>
              </a:solidFill>
              <a:latin typeface="Noto Sans KR"/>
            </a:endParaRPr>
          </a:p>
        </p:txBody>
      </p:sp>
      <p:sp>
        <p:nvSpPr>
          <p:cNvPr id="297"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SCORE · </a:t>
            </a:r>
            <a:r>
              <a:rPr b="1" lang="ko-KR" sz="1400" spc="199" strike="noStrike">
                <a:solidFill>
                  <a:srgbClr val="b5654a"/>
                </a:solidFill>
                <a:latin typeface="Malgun Gothic"/>
                <a:ea typeface="Malgun Gothic"/>
              </a:rPr>
              <a:t>계산 예시</a:t>
            </a:r>
            <a:endParaRPr b="0" lang="en-US" sz="1400" spc="-1" strike="noStrike">
              <a:solidFill>
                <a:srgbClr val="000000"/>
              </a:solidFill>
              <a:latin typeface="Noto Sans KR"/>
            </a:endParaRPr>
          </a:p>
        </p:txBody>
      </p:sp>
      <p:sp>
        <p:nvSpPr>
          <p:cNvPr id="298"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같은 </a:t>
            </a:r>
            <a:r>
              <a:rPr b="1" lang="en-US" sz="3400" spc="-1" strike="noStrike">
                <a:solidFill>
                  <a:srgbClr val="1e2621"/>
                </a:solidFill>
                <a:latin typeface="Malgun Gothic"/>
                <a:ea typeface="Malgun Gothic"/>
              </a:rPr>
              <a:t>1km, </a:t>
            </a:r>
            <a:r>
              <a:rPr b="1" lang="ko-KR" sz="3400" spc="-1" strike="noStrike">
                <a:solidFill>
                  <a:srgbClr val="1e2621"/>
                </a:solidFill>
                <a:latin typeface="Malgun Gothic"/>
                <a:ea typeface="Malgun Gothic"/>
              </a:rPr>
              <a:t>비 오고 미세먼지 나쁜 날이라면</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299" name="Shape 4"/>
          <p:cNvSpPr/>
          <p:nvPr/>
        </p:nvSpPr>
        <p:spPr>
          <a:xfrm>
            <a:off x="548640" y="1828800"/>
            <a:ext cx="5449570" cy="3977005"/>
          </a:xfrm>
          <a:prstGeom prst="roundRect">
            <a:avLst>
              <a:gd name="adj" fmla="val 321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00" name="Text 5"/>
          <p:cNvSpPr/>
          <p:nvPr/>
        </p:nvSpPr>
        <p:spPr>
          <a:xfrm>
            <a:off x="868680" y="2011680"/>
            <a:ext cx="2742565" cy="4565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200" spc="-1" strike="noStrike">
                <a:solidFill>
                  <a:srgbClr val="2e5a46"/>
                </a:solidFill>
                <a:latin typeface="Malgun Gothic"/>
                <a:ea typeface="Malgun Gothic"/>
              </a:rPr>
              <a:t>실내 시설</a:t>
            </a:r>
            <a:endParaRPr b="0" lang="en-US" sz="2200" spc="-1" strike="noStrike">
              <a:solidFill>
                <a:srgbClr val="000000"/>
              </a:solidFill>
              <a:latin typeface="Noto Sans KR"/>
            </a:endParaRPr>
          </a:p>
        </p:txBody>
      </p:sp>
      <p:sp>
        <p:nvSpPr>
          <p:cNvPr id="301" name="Text 6"/>
          <p:cNvSpPr/>
          <p:nvPr/>
        </p:nvSpPr>
        <p:spPr>
          <a:xfrm>
            <a:off x="3291840" y="1783080"/>
            <a:ext cx="2422525" cy="114236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7200" spc="-1" strike="noStrike">
                <a:solidFill>
                  <a:srgbClr val="2e5a46"/>
                </a:solidFill>
                <a:latin typeface="Malgun Gothic"/>
                <a:ea typeface="Malgun Gothic"/>
              </a:rPr>
              <a:t>89</a:t>
            </a:r>
            <a:r>
              <a:rPr b="1" lang="en-US" sz="2400" spc="-1" strike="noStrike">
                <a:solidFill>
                  <a:srgbClr val="2e5a46"/>
                </a:solidFill>
                <a:latin typeface="Malgun Gothic"/>
                <a:ea typeface="Malgun Gothic"/>
              </a:rPr>
              <a:t> </a:t>
            </a:r>
            <a:r>
              <a:rPr b="1" lang="ko-KR" sz="2400" spc="-1" strike="noStrike">
                <a:solidFill>
                  <a:srgbClr val="2e5a46"/>
                </a:solidFill>
                <a:latin typeface="Malgun Gothic"/>
                <a:ea typeface="Malgun Gothic"/>
              </a:rPr>
              <a:t>점</a:t>
            </a:r>
            <a:endParaRPr b="0" lang="en-US" sz="2400" spc="-1" strike="noStrike">
              <a:solidFill>
                <a:srgbClr val="000000"/>
              </a:solidFill>
              <a:latin typeface="Noto Sans KR"/>
            </a:endParaRPr>
          </a:p>
        </p:txBody>
      </p:sp>
      <p:sp>
        <p:nvSpPr>
          <p:cNvPr id="302" name="Text 7"/>
          <p:cNvSpPr/>
          <p:nvPr/>
        </p:nvSpPr>
        <p:spPr>
          <a:xfrm>
            <a:off x="868680" y="301752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기본 점수</a:t>
            </a:r>
            <a:endParaRPr b="0" lang="en-US" sz="1600" spc="-1" strike="noStrike">
              <a:solidFill>
                <a:srgbClr val="000000"/>
              </a:solidFill>
              <a:latin typeface="Noto Sans KR"/>
            </a:endParaRPr>
          </a:p>
        </p:txBody>
      </p:sp>
      <p:sp>
        <p:nvSpPr>
          <p:cNvPr id="303" name="Text 8"/>
          <p:cNvSpPr/>
          <p:nvPr/>
        </p:nvSpPr>
        <p:spPr>
          <a:xfrm>
            <a:off x="4206240" y="301752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45</a:t>
            </a:r>
            <a:endParaRPr b="0" lang="en-US" sz="2000" spc="-1" strike="noStrike">
              <a:solidFill>
                <a:srgbClr val="000000"/>
              </a:solidFill>
              <a:latin typeface="Noto Sans KR"/>
            </a:endParaRPr>
          </a:p>
        </p:txBody>
      </p:sp>
      <p:sp>
        <p:nvSpPr>
          <p:cNvPr id="304" name="Text 9"/>
          <p:cNvSpPr/>
          <p:nvPr/>
        </p:nvSpPr>
        <p:spPr>
          <a:xfrm>
            <a:off x="868680" y="352044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거리 점수 </a:t>
            </a:r>
            <a:r>
              <a:rPr b="1" lang="en-US" sz="1600" spc="-1" strike="noStrike">
                <a:solidFill>
                  <a:srgbClr val="5e5b52"/>
                </a:solidFill>
                <a:latin typeface="Malgun Gothic"/>
                <a:ea typeface="Malgun Gothic"/>
              </a:rPr>
              <a:t>(1km)</a:t>
            </a:r>
            <a:endParaRPr b="0" lang="en-US" sz="1600" spc="-1" strike="noStrike">
              <a:solidFill>
                <a:srgbClr val="000000"/>
              </a:solidFill>
              <a:latin typeface="Noto Sans KR"/>
            </a:endParaRPr>
          </a:p>
        </p:txBody>
      </p:sp>
      <p:sp>
        <p:nvSpPr>
          <p:cNvPr id="305" name="Text 10"/>
          <p:cNvSpPr/>
          <p:nvPr/>
        </p:nvSpPr>
        <p:spPr>
          <a:xfrm>
            <a:off x="4206240" y="352044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+22</a:t>
            </a:r>
            <a:endParaRPr b="0" lang="en-US" sz="2000" spc="-1" strike="noStrike">
              <a:solidFill>
                <a:srgbClr val="000000"/>
              </a:solidFill>
              <a:latin typeface="Noto Sans KR"/>
            </a:endParaRPr>
          </a:p>
        </p:txBody>
      </p:sp>
      <p:sp>
        <p:nvSpPr>
          <p:cNvPr id="306" name="Text 11"/>
          <p:cNvSpPr/>
          <p:nvPr/>
        </p:nvSpPr>
        <p:spPr>
          <a:xfrm>
            <a:off x="868680" y="402336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강수 보정</a:t>
            </a:r>
            <a:endParaRPr b="0" lang="en-US" sz="1600" spc="-1" strike="noStrike">
              <a:solidFill>
                <a:srgbClr val="000000"/>
              </a:solidFill>
              <a:latin typeface="Noto Sans KR"/>
            </a:endParaRPr>
          </a:p>
        </p:txBody>
      </p:sp>
      <p:sp>
        <p:nvSpPr>
          <p:cNvPr id="307" name="Text 12"/>
          <p:cNvSpPr/>
          <p:nvPr/>
        </p:nvSpPr>
        <p:spPr>
          <a:xfrm>
            <a:off x="4206240" y="402336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+8</a:t>
            </a:r>
            <a:endParaRPr b="0" lang="en-US" sz="2000" spc="-1" strike="noStrike">
              <a:solidFill>
                <a:srgbClr val="000000"/>
              </a:solidFill>
              <a:latin typeface="Noto Sans KR"/>
            </a:endParaRPr>
          </a:p>
        </p:txBody>
      </p:sp>
      <p:sp>
        <p:nvSpPr>
          <p:cNvPr id="308" name="Text 13"/>
          <p:cNvSpPr/>
          <p:nvPr/>
        </p:nvSpPr>
        <p:spPr>
          <a:xfrm>
            <a:off x="868680" y="452628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미세먼지 실내 가점</a:t>
            </a:r>
            <a:endParaRPr b="0" lang="en-US" sz="1600" spc="-1" strike="noStrike">
              <a:solidFill>
                <a:srgbClr val="000000"/>
              </a:solidFill>
              <a:latin typeface="Noto Sans KR"/>
            </a:endParaRPr>
          </a:p>
        </p:txBody>
      </p:sp>
      <p:sp>
        <p:nvSpPr>
          <p:cNvPr id="309" name="Text 14"/>
          <p:cNvSpPr/>
          <p:nvPr/>
        </p:nvSpPr>
        <p:spPr>
          <a:xfrm>
            <a:off x="4206240" y="452628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+14</a:t>
            </a:r>
            <a:endParaRPr b="0" lang="en-US" sz="2000" spc="-1" strike="noStrike">
              <a:solidFill>
                <a:srgbClr val="000000"/>
              </a:solidFill>
              <a:latin typeface="Noto Sans KR"/>
            </a:endParaRPr>
          </a:p>
        </p:txBody>
      </p:sp>
      <p:sp>
        <p:nvSpPr>
          <p:cNvPr id="310" name="Shape 15"/>
          <p:cNvSpPr>
            <a:spLocks/>
          </p:cNvSpPr>
          <p:nvPr/>
        </p:nvSpPr>
        <p:spPr>
          <a:xfrm rot="0">
            <a:off x="868680" y="5166360"/>
            <a:ext cx="4810125" cy="329565"/>
          </a:xfrm>
          <a:prstGeom prst="roundRect">
            <a:avLst>
              <a:gd name="adj" fmla="val 50000"/>
            </a:avLst>
          </a:prstGeom>
          <a:solidFill>
            <a:srgbClr val="EADFCB"/>
          </a:solidFill>
          <a:ln w="12700" cap="flat" cmpd="sng">
            <a:solidFill>
              <a:srgbClr val="EADFCB">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11" name="Shape 16"/>
          <p:cNvSpPr>
            <a:spLocks/>
          </p:cNvSpPr>
          <p:nvPr/>
        </p:nvSpPr>
        <p:spPr>
          <a:xfrm rot="0">
            <a:off x="868680" y="5166360"/>
            <a:ext cx="4324350" cy="321310"/>
          </a:xfrm>
          <a:prstGeom prst="roundRect">
            <a:avLst>
              <a:gd name="adj" fmla="val 50000"/>
            </a:avLst>
          </a:prstGeom>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312" name="Shape 17"/>
          <p:cNvSpPr/>
          <p:nvPr/>
        </p:nvSpPr>
        <p:spPr>
          <a:xfrm>
            <a:off x="6190615" y="1828800"/>
            <a:ext cx="5449570" cy="3977005"/>
          </a:xfrm>
          <a:prstGeom prst="roundRect">
            <a:avLst>
              <a:gd name="adj" fmla="val 321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13" name="Text 18"/>
          <p:cNvSpPr/>
          <p:nvPr/>
        </p:nvSpPr>
        <p:spPr>
          <a:xfrm>
            <a:off x="6510655" y="2011680"/>
            <a:ext cx="2742565" cy="4565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200" spc="-1" strike="noStrike">
                <a:solidFill>
                  <a:srgbClr val="b5654a"/>
                </a:solidFill>
                <a:latin typeface="Malgun Gothic"/>
                <a:ea typeface="Malgun Gothic"/>
              </a:rPr>
              <a:t>실외 시설</a:t>
            </a:r>
            <a:endParaRPr b="0" lang="en-US" sz="2200" spc="-1" strike="noStrike">
              <a:solidFill>
                <a:srgbClr val="000000"/>
              </a:solidFill>
              <a:latin typeface="Noto Sans KR"/>
            </a:endParaRPr>
          </a:p>
        </p:txBody>
      </p:sp>
      <p:sp>
        <p:nvSpPr>
          <p:cNvPr id="314" name="Text 19"/>
          <p:cNvSpPr/>
          <p:nvPr/>
        </p:nvSpPr>
        <p:spPr>
          <a:xfrm>
            <a:off x="8933815" y="1783080"/>
            <a:ext cx="2422525" cy="114236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7200" spc="-1" strike="noStrike">
                <a:solidFill>
                  <a:srgbClr val="b5654a"/>
                </a:solidFill>
                <a:latin typeface="Malgun Gothic"/>
                <a:ea typeface="Malgun Gothic"/>
              </a:rPr>
              <a:t>43</a:t>
            </a:r>
            <a:r>
              <a:rPr b="1" lang="en-US" sz="2400" spc="-1" strike="noStrike">
                <a:solidFill>
                  <a:srgbClr val="b5654a"/>
                </a:solidFill>
                <a:latin typeface="Malgun Gothic"/>
                <a:ea typeface="Malgun Gothic"/>
              </a:rPr>
              <a:t> </a:t>
            </a:r>
            <a:r>
              <a:rPr b="1" lang="ko-KR" sz="2400" spc="-1" strike="noStrike">
                <a:solidFill>
                  <a:srgbClr val="b5654a"/>
                </a:solidFill>
                <a:latin typeface="Malgun Gothic"/>
                <a:ea typeface="Malgun Gothic"/>
              </a:rPr>
              <a:t>점</a:t>
            </a:r>
            <a:endParaRPr b="0" lang="en-US" sz="2400" spc="-1" strike="noStrike">
              <a:solidFill>
                <a:srgbClr val="000000"/>
              </a:solidFill>
              <a:latin typeface="Noto Sans KR"/>
            </a:endParaRPr>
          </a:p>
        </p:txBody>
      </p:sp>
      <p:sp>
        <p:nvSpPr>
          <p:cNvPr id="315" name="Text 20"/>
          <p:cNvSpPr/>
          <p:nvPr/>
        </p:nvSpPr>
        <p:spPr>
          <a:xfrm>
            <a:off x="6510655" y="301752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기본 점수</a:t>
            </a:r>
            <a:endParaRPr b="0" lang="en-US" sz="1600" spc="-1" strike="noStrike">
              <a:solidFill>
                <a:srgbClr val="000000"/>
              </a:solidFill>
              <a:latin typeface="Noto Sans KR"/>
            </a:endParaRPr>
          </a:p>
        </p:txBody>
      </p:sp>
      <p:sp>
        <p:nvSpPr>
          <p:cNvPr id="316" name="Text 21"/>
          <p:cNvSpPr/>
          <p:nvPr/>
        </p:nvSpPr>
        <p:spPr>
          <a:xfrm>
            <a:off x="9848215" y="301752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45</a:t>
            </a:r>
            <a:endParaRPr b="0" lang="en-US" sz="2000" spc="-1" strike="noStrike">
              <a:solidFill>
                <a:srgbClr val="000000"/>
              </a:solidFill>
              <a:latin typeface="Noto Sans KR"/>
            </a:endParaRPr>
          </a:p>
        </p:txBody>
      </p:sp>
      <p:sp>
        <p:nvSpPr>
          <p:cNvPr id="317" name="Text 22"/>
          <p:cNvSpPr/>
          <p:nvPr/>
        </p:nvSpPr>
        <p:spPr>
          <a:xfrm>
            <a:off x="6510655" y="352044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거리 점수 </a:t>
            </a:r>
            <a:r>
              <a:rPr b="1" lang="en-US" sz="1600" spc="-1" strike="noStrike">
                <a:solidFill>
                  <a:srgbClr val="5e5b52"/>
                </a:solidFill>
                <a:latin typeface="Malgun Gothic"/>
                <a:ea typeface="Malgun Gothic"/>
              </a:rPr>
              <a:t>(1km)</a:t>
            </a:r>
            <a:endParaRPr b="0" lang="en-US" sz="1600" spc="-1" strike="noStrike">
              <a:solidFill>
                <a:srgbClr val="000000"/>
              </a:solidFill>
              <a:latin typeface="Noto Sans KR"/>
            </a:endParaRPr>
          </a:p>
        </p:txBody>
      </p:sp>
      <p:sp>
        <p:nvSpPr>
          <p:cNvPr id="318" name="Text 23"/>
          <p:cNvSpPr/>
          <p:nvPr/>
        </p:nvSpPr>
        <p:spPr>
          <a:xfrm>
            <a:off x="9848215" y="352044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+22</a:t>
            </a:r>
            <a:endParaRPr b="0" lang="en-US" sz="2000" spc="-1" strike="noStrike">
              <a:solidFill>
                <a:srgbClr val="000000"/>
              </a:solidFill>
              <a:latin typeface="Noto Sans KR"/>
            </a:endParaRPr>
          </a:p>
        </p:txBody>
      </p:sp>
      <p:sp>
        <p:nvSpPr>
          <p:cNvPr id="319" name="Text 24"/>
          <p:cNvSpPr/>
          <p:nvPr/>
        </p:nvSpPr>
        <p:spPr>
          <a:xfrm>
            <a:off x="6510655" y="402336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강수 보정</a:t>
            </a:r>
            <a:endParaRPr b="0" lang="en-US" sz="1600" spc="-1" strike="noStrike">
              <a:solidFill>
                <a:srgbClr val="000000"/>
              </a:solidFill>
              <a:latin typeface="Noto Sans KR"/>
            </a:endParaRPr>
          </a:p>
        </p:txBody>
      </p:sp>
      <p:sp>
        <p:nvSpPr>
          <p:cNvPr id="320" name="Text 25"/>
          <p:cNvSpPr/>
          <p:nvPr/>
        </p:nvSpPr>
        <p:spPr>
          <a:xfrm>
            <a:off x="9848215" y="402336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b5654a"/>
                </a:solidFill>
                <a:latin typeface="Malgun Gothic"/>
                <a:ea typeface="Malgun Gothic"/>
              </a:rPr>
              <a:t>–</a:t>
            </a:r>
            <a:r>
              <a:rPr b="1" lang="en-US" sz="2000" spc="-1" strike="noStrike">
                <a:solidFill>
                  <a:srgbClr val="b5654a"/>
                </a:solidFill>
                <a:latin typeface="Malgun Gothic"/>
                <a:ea typeface="Malgun Gothic"/>
              </a:rPr>
              <a:t>24</a:t>
            </a:r>
            <a:endParaRPr b="0" lang="en-US" sz="2000" spc="-1" strike="noStrike">
              <a:solidFill>
                <a:srgbClr val="000000"/>
              </a:solidFill>
              <a:latin typeface="Noto Sans KR"/>
            </a:endParaRPr>
          </a:p>
        </p:txBody>
      </p:sp>
      <p:sp>
        <p:nvSpPr>
          <p:cNvPr id="321" name="Text 26"/>
          <p:cNvSpPr/>
          <p:nvPr/>
        </p:nvSpPr>
        <p:spPr>
          <a:xfrm>
            <a:off x="6510655" y="4526280"/>
            <a:ext cx="3199765" cy="41084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600" spc="-1" strike="noStrike">
                <a:solidFill>
                  <a:srgbClr val="5e5b52"/>
                </a:solidFill>
                <a:latin typeface="Malgun Gothic"/>
                <a:ea typeface="Malgun Gothic"/>
              </a:rPr>
              <a:t>미세먼지 실내 가점</a:t>
            </a:r>
            <a:endParaRPr b="0" lang="en-US" sz="1600" spc="-1" strike="noStrike">
              <a:solidFill>
                <a:srgbClr val="000000"/>
              </a:solidFill>
              <a:latin typeface="Noto Sans KR"/>
            </a:endParaRPr>
          </a:p>
        </p:txBody>
      </p:sp>
      <p:sp>
        <p:nvSpPr>
          <p:cNvPr id="322" name="Text 27"/>
          <p:cNvSpPr/>
          <p:nvPr/>
        </p:nvSpPr>
        <p:spPr>
          <a:xfrm>
            <a:off x="9848215" y="4526280"/>
            <a:ext cx="1462405" cy="410845"/>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2000" spc="-1" strike="noStrike">
                <a:solidFill>
                  <a:srgbClr val="1e2621"/>
                </a:solidFill>
                <a:latin typeface="Malgun Gothic"/>
                <a:ea typeface="Malgun Gothic"/>
              </a:rPr>
              <a:t>0</a:t>
            </a:r>
            <a:endParaRPr b="0" lang="en-US" sz="2000" spc="-1" strike="noStrike">
              <a:solidFill>
                <a:srgbClr val="000000"/>
              </a:solidFill>
              <a:latin typeface="Noto Sans KR"/>
            </a:endParaRPr>
          </a:p>
        </p:txBody>
      </p:sp>
      <p:sp>
        <p:nvSpPr>
          <p:cNvPr id="323" name="Shape 28"/>
          <p:cNvSpPr/>
          <p:nvPr/>
        </p:nvSpPr>
        <p:spPr>
          <a:xfrm>
            <a:off x="6510655" y="5166360"/>
            <a:ext cx="4809490" cy="328930"/>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24" name="Shape 29"/>
          <p:cNvSpPr/>
          <p:nvPr/>
        </p:nvSpPr>
        <p:spPr>
          <a:xfrm>
            <a:off x="6510655" y="5166360"/>
            <a:ext cx="2088515" cy="328930"/>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25" name="Text 30"/>
          <p:cNvSpPr>
            <a:spLocks/>
          </p:cNvSpPr>
          <p:nvPr/>
        </p:nvSpPr>
        <p:spPr>
          <a:xfrm rot="0">
            <a:off x="548640" y="6000750"/>
            <a:ext cx="11064240" cy="36576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2000" b="1" strike="noStrike">
                <a:solidFill>
                  <a:srgbClr val="2E5A46"/>
                </a:solidFill>
                <a:latin typeface="Malgun Gothic" charset="0"/>
                <a:ea typeface="Malgun Gothic" charset="0"/>
              </a:rPr>
              <a:t>같은</a:t>
            </a:r>
            <a:r>
              <a:rPr lang="ko-KR" sz="2000" b="1" strike="noStrike">
                <a:solidFill>
                  <a:srgbClr val="2E5A46"/>
                </a:solidFill>
                <a:latin typeface="Malgun Gothic" charset="0"/>
                <a:ea typeface="Malgun Gothic" charset="0"/>
              </a:rPr>
              <a:t> </a:t>
            </a:r>
            <a:r>
              <a:rPr lang="ko-KR" sz="2000" b="1" strike="noStrike">
                <a:solidFill>
                  <a:srgbClr val="2E5A46"/>
                </a:solidFill>
                <a:latin typeface="Malgun Gothic" charset="0"/>
                <a:ea typeface="Malgun Gothic" charset="0"/>
              </a:rPr>
              <a:t>거리여도</a:t>
            </a:r>
            <a:r>
              <a:rPr lang="en-US" sz="2000" b="1" strike="noStrike">
                <a:solidFill>
                  <a:srgbClr val="2E5A46"/>
                </a:solidFill>
                <a:latin typeface="Malgun Gothic" charset="0"/>
                <a:ea typeface="Malgun Gothic" charset="0"/>
              </a:rPr>
              <a:t>, </a:t>
            </a:r>
            <a:r>
              <a:rPr lang="ko-KR" sz="2000" b="1" strike="noStrike">
                <a:solidFill>
                  <a:srgbClr val="2E5A46"/>
                </a:solidFill>
                <a:latin typeface="Malgun Gothic" charset="0"/>
                <a:ea typeface="Malgun Gothic" charset="0"/>
              </a:rPr>
              <a:t>오늘의 환경에 맞는 장소를 먼저 보여줍니다</a:t>
            </a:r>
            <a:endParaRPr lang="ko-KR" altLang="en-US" sz="2000" b="1" strike="noStrike">
              <a:solidFill>
                <a:srgbClr val="2E5A46"/>
              </a:solidFill>
              <a:latin typeface="Malgun Gothic" charset="0"/>
              <a:ea typeface="Malgun Gothic" charset="0"/>
            </a:endParaRPr>
          </a:p>
        </p:txBody>
      </p:sp>
      <p:sp>
        <p:nvSpPr>
          <p:cNvPr id="326" name="Text 31"/>
          <p:cNvSpPr>
            <a:spLocks/>
          </p:cNvSpPr>
          <p:nvPr/>
        </p:nvSpPr>
        <p:spPr>
          <a:xfrm rot="0">
            <a:off x="548640" y="6443345"/>
            <a:ext cx="11064240" cy="228600"/>
          </a:xfrm>
          <a:prstGeom prst="rect"/>
          <a:noFill/>
          <a:ln>
            <a:noFill/>
            <a:prstDash/>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100" b="1" strike="noStrike">
                <a:solidFill>
                  <a:srgbClr val="5E5B52"/>
                </a:solidFill>
                <a:latin typeface="Malgun Gothic" charset="0"/>
                <a:ea typeface="Malgun Gothic" charset="0"/>
              </a:rPr>
              <a:t>※ </a:t>
            </a:r>
            <a:r>
              <a:rPr lang="ko-KR" sz="1100" b="1" strike="noStrike">
                <a:solidFill>
                  <a:srgbClr val="5E5B52"/>
                </a:solidFill>
                <a:latin typeface="Malgun Gothic" charset="0"/>
                <a:ea typeface="Malgun Gothic" charset="0"/>
              </a:rPr>
              <a:t>설명용</a:t>
            </a:r>
            <a:r>
              <a:rPr lang="ko-KR" sz="1100" b="1" strike="noStrike">
                <a:solidFill>
                  <a:srgbClr val="5E5B52"/>
                </a:solidFill>
                <a:latin typeface="Malgun Gothic" charset="0"/>
                <a:ea typeface="Malgun Gothic" charset="0"/>
              </a:rPr>
              <a:t> </a:t>
            </a:r>
            <a:r>
              <a:rPr lang="ko-KR" sz="1100" b="1" strike="noStrike">
                <a:solidFill>
                  <a:srgbClr val="5E5B52"/>
                </a:solidFill>
                <a:latin typeface="Malgun Gothic" charset="0"/>
                <a:ea typeface="Malgun Gothic" charset="0"/>
              </a:rPr>
              <a:t>예시</a:t>
            </a:r>
            <a:r>
              <a:rPr lang="ko-KR" sz="1100" b="1" strike="noStrike">
                <a:solidFill>
                  <a:srgbClr val="5E5B52"/>
                </a:solidFill>
                <a:latin typeface="Malgun Gothic" charset="0"/>
                <a:ea typeface="Malgun Gothic" charset="0"/>
              </a:rPr>
              <a:t> </a:t>
            </a:r>
            <a:r>
              <a:rPr lang="ko-KR" sz="1100" b="1" strike="noStrike">
                <a:solidFill>
                  <a:srgbClr val="5E5B52"/>
                </a:solidFill>
                <a:latin typeface="Malgun Gothic" charset="0"/>
                <a:ea typeface="Malgun Gothic" charset="0"/>
              </a:rPr>
              <a:t>—</a:t>
            </a:r>
            <a:r>
              <a:rPr lang="ko-KR" sz="1100" b="1" strike="noStrike">
                <a:solidFill>
                  <a:srgbClr val="5E5B52"/>
                </a:solidFill>
                <a:latin typeface="Malgun Gothic" charset="0"/>
                <a:ea typeface="Malgun Gothic" charset="0"/>
              </a:rPr>
              <a:t> </a:t>
            </a:r>
            <a:r>
              <a:rPr lang="ko-KR" sz="1100" b="1" strike="noStrike">
                <a:solidFill>
                  <a:srgbClr val="5E5B52"/>
                </a:solidFill>
                <a:latin typeface="Malgun Gothic" charset="0"/>
                <a:ea typeface="Malgun Gothic" charset="0"/>
              </a:rPr>
              <a:t>기온</a:t>
            </a:r>
            <a:r>
              <a:rPr lang="en-US" sz="1100" b="1" strike="noStrike">
                <a:solidFill>
                  <a:srgbClr val="5E5B52"/>
                </a:solidFill>
                <a:latin typeface="Malgun Gothic" charset="0"/>
                <a:ea typeface="Malgun Gothic" charset="0"/>
              </a:rPr>
              <a:t>·</a:t>
            </a:r>
            <a:r>
              <a:rPr lang="ko-KR" sz="1100" b="1" strike="noStrike">
                <a:solidFill>
                  <a:srgbClr val="5E5B52"/>
                </a:solidFill>
                <a:latin typeface="Malgun Gothic" charset="0"/>
                <a:ea typeface="Malgun Gothic" charset="0"/>
              </a:rPr>
              <a:t>습도</a:t>
            </a:r>
            <a:r>
              <a:rPr lang="en-US" sz="1100" b="1" strike="noStrike">
                <a:solidFill>
                  <a:srgbClr val="5E5B52"/>
                </a:solidFill>
                <a:latin typeface="Malgun Gothic" charset="0"/>
                <a:ea typeface="Malgun Gothic" charset="0"/>
              </a:rPr>
              <a:t>·</a:t>
            </a:r>
            <a:r>
              <a:rPr lang="ko-KR" sz="1100" b="1" strike="noStrike">
                <a:solidFill>
                  <a:srgbClr val="5E5B52"/>
                </a:solidFill>
                <a:latin typeface="Malgun Gothic" charset="0"/>
                <a:ea typeface="Malgun Gothic" charset="0"/>
              </a:rPr>
              <a:t>풍속 등 다른 환경 보정과 휴무 감점이 없다고 가정</a:t>
            </a:r>
            <a:endParaRPr lang="ko-KR" altLang="en-US" sz="1100" b="1" strike="noStrike">
              <a:solidFill>
                <a:srgbClr val="5E5B52"/>
              </a:solidFill>
              <a:latin typeface="Malgun Gothic" charset="0"/>
              <a:ea typeface="Malgun Gothic" charset="0"/>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2E5A46"/>
          </a:solidFill>
          <a:ln w="12700">
            <a:solidFill>
              <a:srgbClr val="2E5A46"/>
            </a:solidFill>
            <a:prstDash val="solid"/>
          </a:ln>
        </p:spPr>
      </p:sp>
      <p:sp>
        <p:nvSpPr>
          <p:cNvPr id="3" name="Text 1"/>
          <p:cNvSpPr txBox="1"/>
          <p:nvPr/>
        </p:nvSpPr>
        <p:spPr>
          <a:xfrm>
            <a:off x="54864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05</a:t>
            </a:r>
            <a:endParaRPr lang="en-US" sz="1300" dirty="0"/>
          </a:p>
        </p:txBody>
      </p:sp>
      <p:sp>
        <p:nvSpPr>
          <p:cNvPr id="4" name="Text 2"/>
          <p:cNvSpPr txBox="1"/>
          <p:nvPr/>
        </p:nvSpPr>
        <p:spPr>
          <a:xfrm>
            <a:off x="1042416" y="384048"/>
            <a:ext cx="5486400" cy="384048"/>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PIPELINE · 데이터 파이프라인</a:t>
            </a:r>
            <a:endParaRPr lang="en-US" sz="1400" dirty="0"/>
          </a:p>
        </p:txBody>
      </p:sp>
      <p:sp>
        <p:nvSpPr>
          <p:cNvPr id="5" name="Text 3"/>
          <p:cNvSpPr txBox="1"/>
          <p:nvPr/>
        </p:nvSpPr>
        <p:spPr>
          <a:xfrm>
            <a:off x="548640" y="896112"/>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이 정보를 매번 사람이 모을 수는 없으니까요</a:t>
            </a:r>
            <a:endParaRPr lang="en-US" sz="3400" dirty="0"/>
          </a:p>
        </p:txBody>
      </p:sp>
      <p:sp>
        <p:nvSpPr>
          <p:cNvPr id="6" name="Shape 4"/>
          <p:cNvSpPr/>
          <p:nvPr/>
        </p:nvSpPr>
        <p:spPr>
          <a:xfrm>
            <a:off x="548640" y="1828800"/>
            <a:ext cx="2532888" cy="1783080"/>
          </a:xfrm>
          <a:prstGeom prst="roundRect">
            <a:avLst>
              <a:gd name="adj" fmla="val 7179"/>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7" name="Shape 5"/>
          <p:cNvSpPr/>
          <p:nvPr/>
        </p:nvSpPr>
        <p:spPr>
          <a:xfrm>
            <a:off x="713232" y="1993392"/>
            <a:ext cx="384048" cy="384048"/>
          </a:xfrm>
          <a:prstGeom prst="ellipse">
            <a:avLst/>
          </a:prstGeom>
          <a:solidFill>
            <a:srgbClr val="2E5A46"/>
          </a:solidFill>
          <a:ln w="12700">
            <a:solidFill>
              <a:srgbClr val="2E5A46"/>
            </a:solidFill>
            <a:prstDash val="solid"/>
          </a:ln>
        </p:spPr>
      </p:sp>
      <p:sp>
        <p:nvSpPr>
          <p:cNvPr id="8" name="Text 6"/>
          <p:cNvSpPr txBox="1"/>
          <p:nvPr/>
        </p:nvSpPr>
        <p:spPr>
          <a:xfrm>
            <a:off x="713232" y="1993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9" name="Text 7"/>
          <p:cNvSpPr txBox="1"/>
          <p:nvPr/>
        </p:nvSpPr>
        <p:spPr>
          <a:xfrm>
            <a:off x="1170432" y="1993392"/>
            <a:ext cx="1847088" cy="384048"/>
          </a:xfrm>
          <a:prstGeom prst="rect">
            <a:avLst/>
          </a:prstGeom>
          <a:noFill/>
          <a:ln/>
        </p:spPr>
        <p:txBody>
          <a:bodyPr wrap="square" lIns="0" tIns="0" rIns="0" bIns="0" rtlCol="0" anchor="ctr"/>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수집</a:t>
            </a:r>
            <a:endParaRPr lang="en-US" sz="1600" dirty="0"/>
          </a:p>
        </p:txBody>
      </p:sp>
      <p:sp>
        <p:nvSpPr>
          <p:cNvPr id="10" name="Text 8"/>
          <p:cNvSpPr txBox="1"/>
          <p:nvPr/>
        </p:nvSpPr>
        <p:spPr>
          <a:xfrm>
            <a:off x="731520" y="2542032"/>
            <a:ext cx="2258568" cy="960120"/>
          </a:xfrm>
          <a:prstGeom prst="rect">
            <a:avLst/>
          </a:prstGeom>
          <a:noFill/>
          <a:ln/>
        </p:spPr>
        <p:txBody>
          <a:bodyPr wrap="square" lIns="0" tIns="0" rIns="0" bIns="0" rtlCol="0" anchor="t"/>
          <a:lstStyle/>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공공데이터 API 수집</a:t>
            </a:r>
            <a:endParaRPr lang="en-US" sz="1200" dirty="0"/>
          </a:p>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 Selenium 크롤링</a:t>
            </a:r>
            <a:endParaRPr lang="en-US" sz="1200" dirty="0"/>
          </a:p>
        </p:txBody>
      </p:sp>
      <p:sp>
        <p:nvSpPr>
          <p:cNvPr id="11" name="Shape 9"/>
          <p:cNvSpPr/>
          <p:nvPr/>
        </p:nvSpPr>
        <p:spPr>
          <a:xfrm>
            <a:off x="3118104" y="2587752"/>
            <a:ext cx="246888" cy="274320"/>
          </a:xfrm>
          <a:prstGeom prst="rightArrow">
            <a:avLst/>
          </a:prstGeom>
          <a:solidFill>
            <a:srgbClr val="B5654A"/>
          </a:solidFill>
          <a:ln w="12700">
            <a:solidFill>
              <a:srgbClr val="B5654A"/>
            </a:solidFill>
            <a:prstDash val="solid"/>
          </a:ln>
        </p:spPr>
      </p:sp>
      <p:sp>
        <p:nvSpPr>
          <p:cNvPr id="12" name="Shape 10"/>
          <p:cNvSpPr/>
          <p:nvPr/>
        </p:nvSpPr>
        <p:spPr>
          <a:xfrm>
            <a:off x="3401568" y="1828800"/>
            <a:ext cx="2532888" cy="1783080"/>
          </a:xfrm>
          <a:prstGeom prst="roundRect">
            <a:avLst>
              <a:gd name="adj" fmla="val 7179"/>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3" name="Shape 11"/>
          <p:cNvSpPr/>
          <p:nvPr/>
        </p:nvSpPr>
        <p:spPr>
          <a:xfrm>
            <a:off x="3566160" y="1993392"/>
            <a:ext cx="384048" cy="384048"/>
          </a:xfrm>
          <a:prstGeom prst="ellipse">
            <a:avLst/>
          </a:prstGeom>
          <a:solidFill>
            <a:srgbClr val="B5654A"/>
          </a:solidFill>
          <a:ln w="12700">
            <a:solidFill>
              <a:srgbClr val="B5654A"/>
            </a:solidFill>
            <a:prstDash val="solid"/>
          </a:ln>
        </p:spPr>
      </p:sp>
      <p:sp>
        <p:nvSpPr>
          <p:cNvPr id="14" name="Text 12"/>
          <p:cNvSpPr txBox="1"/>
          <p:nvPr/>
        </p:nvSpPr>
        <p:spPr>
          <a:xfrm>
            <a:off x="3566160" y="1993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15" name="Text 13"/>
          <p:cNvSpPr txBox="1"/>
          <p:nvPr/>
        </p:nvSpPr>
        <p:spPr>
          <a:xfrm>
            <a:off x="4023360" y="1993392"/>
            <a:ext cx="1847088" cy="384048"/>
          </a:xfrm>
          <a:prstGeom prst="rect">
            <a:avLst/>
          </a:prstGeom>
          <a:noFill/>
          <a:ln/>
        </p:spPr>
        <p:txBody>
          <a:bodyPr wrap="square" lIns="0" tIns="0" rIns="0" bIns="0" rtlCol="0" anchor="ctr"/>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예외처리 · 복구</a:t>
            </a:r>
            <a:endParaRPr lang="en-US" sz="1600" dirty="0"/>
          </a:p>
        </p:txBody>
      </p:sp>
      <p:sp>
        <p:nvSpPr>
          <p:cNvPr id="16" name="Text 14"/>
          <p:cNvSpPr txBox="1"/>
          <p:nvPr/>
        </p:nvSpPr>
        <p:spPr>
          <a:xfrm>
            <a:off x="3584448" y="2542032"/>
            <a:ext cx="2258568" cy="960120"/>
          </a:xfrm>
          <a:prstGeom prst="rect">
            <a:avLst/>
          </a:prstGeom>
          <a:noFill/>
          <a:ln/>
        </p:spPr>
        <p:txBody>
          <a:bodyPr wrap="square" lIns="0" tIns="0" rIns="0" bIns="0" rtlCol="0" anchor="t"/>
          <a:lstStyle/>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오류 유형 구분 → 재시도 ·</a:t>
            </a:r>
            <a:endParaRPr lang="en-US" sz="1200" dirty="0"/>
          </a:p>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Checkpoint / Resume</a:t>
            </a:r>
            <a:endParaRPr lang="en-US" sz="1200" dirty="0"/>
          </a:p>
        </p:txBody>
      </p:sp>
      <p:sp>
        <p:nvSpPr>
          <p:cNvPr id="17" name="Shape 15"/>
          <p:cNvSpPr/>
          <p:nvPr/>
        </p:nvSpPr>
        <p:spPr>
          <a:xfrm>
            <a:off x="5971032" y="2587752"/>
            <a:ext cx="246888" cy="274320"/>
          </a:xfrm>
          <a:prstGeom prst="rightArrow">
            <a:avLst/>
          </a:prstGeom>
          <a:solidFill>
            <a:srgbClr val="B5654A"/>
          </a:solidFill>
          <a:ln w="12700">
            <a:solidFill>
              <a:srgbClr val="B5654A"/>
            </a:solidFill>
            <a:prstDash val="solid"/>
          </a:ln>
        </p:spPr>
      </p:sp>
      <p:sp>
        <p:nvSpPr>
          <p:cNvPr id="18" name="Shape 16"/>
          <p:cNvSpPr/>
          <p:nvPr/>
        </p:nvSpPr>
        <p:spPr>
          <a:xfrm>
            <a:off x="6254496" y="1828800"/>
            <a:ext cx="2532888" cy="1783080"/>
          </a:xfrm>
          <a:prstGeom prst="roundRect">
            <a:avLst>
              <a:gd name="adj" fmla="val 7179"/>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9" name="Shape 17"/>
          <p:cNvSpPr/>
          <p:nvPr/>
        </p:nvSpPr>
        <p:spPr>
          <a:xfrm>
            <a:off x="6419088" y="1993392"/>
            <a:ext cx="384048" cy="384048"/>
          </a:xfrm>
          <a:prstGeom prst="ellipse">
            <a:avLst/>
          </a:prstGeom>
          <a:solidFill>
            <a:srgbClr val="2E5A46"/>
          </a:solidFill>
          <a:ln w="12700">
            <a:solidFill>
              <a:srgbClr val="2E5A46"/>
            </a:solidFill>
            <a:prstDash val="solid"/>
          </a:ln>
        </p:spPr>
      </p:sp>
      <p:sp>
        <p:nvSpPr>
          <p:cNvPr id="20" name="Text 18"/>
          <p:cNvSpPr txBox="1"/>
          <p:nvPr/>
        </p:nvSpPr>
        <p:spPr>
          <a:xfrm>
            <a:off x="6419088" y="1993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21" name="Text 19"/>
          <p:cNvSpPr txBox="1"/>
          <p:nvPr/>
        </p:nvSpPr>
        <p:spPr>
          <a:xfrm>
            <a:off x="6876288" y="1993392"/>
            <a:ext cx="1847088" cy="384048"/>
          </a:xfrm>
          <a:prstGeom prst="rect">
            <a:avLst/>
          </a:prstGeom>
          <a:noFill/>
          <a:ln/>
        </p:spPr>
        <p:txBody>
          <a:bodyPr wrap="square" lIns="0" tIns="0" rIns="0" bIns="0" rtlCol="0" anchor="ctr"/>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RAW 적재</a:t>
            </a:r>
            <a:endParaRPr lang="en-US" sz="1600" dirty="0"/>
          </a:p>
        </p:txBody>
      </p:sp>
      <p:sp>
        <p:nvSpPr>
          <p:cNvPr id="22" name="Text 20"/>
          <p:cNvSpPr txBox="1"/>
          <p:nvPr/>
        </p:nvSpPr>
        <p:spPr>
          <a:xfrm>
            <a:off x="6437376" y="2542032"/>
            <a:ext cx="2258568" cy="960120"/>
          </a:xfrm>
          <a:prstGeom prst="rect">
            <a:avLst/>
          </a:prstGeom>
          <a:noFill/>
          <a:ln/>
        </p:spPr>
        <p:txBody>
          <a:bodyPr wrap="square" lIns="0" tIns="0" rIns="0" bIns="0" rtlCol="0" anchor="t"/>
          <a:lstStyle/>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원천 데이터를 정제 전 그대로 보존</a:t>
            </a:r>
            <a:endParaRPr lang="en-US" sz="1200" dirty="0"/>
          </a:p>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DQ 비교 · 재처리의 기준</a:t>
            </a:r>
            <a:endParaRPr lang="en-US" sz="1200" dirty="0"/>
          </a:p>
        </p:txBody>
      </p:sp>
      <p:sp>
        <p:nvSpPr>
          <p:cNvPr id="23" name="Shape 21"/>
          <p:cNvSpPr/>
          <p:nvPr/>
        </p:nvSpPr>
        <p:spPr>
          <a:xfrm>
            <a:off x="8823960" y="2587752"/>
            <a:ext cx="246888" cy="274320"/>
          </a:xfrm>
          <a:prstGeom prst="rightArrow">
            <a:avLst/>
          </a:prstGeom>
          <a:solidFill>
            <a:srgbClr val="B5654A"/>
          </a:solidFill>
          <a:ln w="12700">
            <a:solidFill>
              <a:srgbClr val="B5654A"/>
            </a:solidFill>
            <a:prstDash val="solid"/>
          </a:ln>
        </p:spPr>
      </p:sp>
      <p:sp>
        <p:nvSpPr>
          <p:cNvPr id="24" name="Shape 22"/>
          <p:cNvSpPr/>
          <p:nvPr/>
        </p:nvSpPr>
        <p:spPr>
          <a:xfrm>
            <a:off x="9107424" y="1828800"/>
            <a:ext cx="2532888" cy="1783080"/>
          </a:xfrm>
          <a:prstGeom prst="roundRect">
            <a:avLst>
              <a:gd name="adj" fmla="val 7179"/>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25" name="Shape 23"/>
          <p:cNvSpPr/>
          <p:nvPr/>
        </p:nvSpPr>
        <p:spPr>
          <a:xfrm>
            <a:off x="9272016" y="1993392"/>
            <a:ext cx="384048" cy="384048"/>
          </a:xfrm>
          <a:prstGeom prst="ellipse">
            <a:avLst/>
          </a:prstGeom>
          <a:solidFill>
            <a:srgbClr val="B5654A"/>
          </a:solidFill>
          <a:ln w="12700">
            <a:solidFill>
              <a:srgbClr val="B5654A"/>
            </a:solidFill>
            <a:prstDash val="solid"/>
          </a:ln>
        </p:spPr>
      </p:sp>
      <p:sp>
        <p:nvSpPr>
          <p:cNvPr id="26" name="Text 24"/>
          <p:cNvSpPr txBox="1"/>
          <p:nvPr/>
        </p:nvSpPr>
        <p:spPr>
          <a:xfrm>
            <a:off x="9272016" y="1993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27" name="Text 25"/>
          <p:cNvSpPr txBox="1"/>
          <p:nvPr/>
        </p:nvSpPr>
        <p:spPr>
          <a:xfrm>
            <a:off x="9729216" y="1993392"/>
            <a:ext cx="1847088" cy="384048"/>
          </a:xfrm>
          <a:prstGeom prst="rect">
            <a:avLst/>
          </a:prstGeom>
          <a:noFill/>
          <a:ln/>
        </p:spPr>
        <p:txBody>
          <a:bodyPr wrap="square" lIns="0" tIns="0" rIns="0" bIns="0" rtlCol="0" anchor="ctr"/>
          <a:lstStyle/>
          <a:p>
            <a:pPr indent="0" marL="0">
              <a:buNone/>
            </a:pPr>
            <a:r>
              <a:rPr lang="en-US" sz="1450" b="1" dirty="0">
                <a:solidFill>
                  <a:srgbClr val="1E2621"/>
                </a:solidFill>
                <a:latin typeface="Malgun Gothic" pitchFamily="34" charset="0"/>
                <a:ea typeface="Malgun Gothic" pitchFamily="34" charset="-122"/>
                <a:cs typeface="Malgun Gothic" pitchFamily="34" charset="-120"/>
              </a:rPr>
              <a:t>정제 · 품질검사(DQ)</a:t>
            </a:r>
            <a:endParaRPr lang="en-US" sz="1450" dirty="0"/>
          </a:p>
        </p:txBody>
      </p:sp>
      <p:sp>
        <p:nvSpPr>
          <p:cNvPr id="28" name="Text 26"/>
          <p:cNvSpPr txBox="1"/>
          <p:nvPr/>
        </p:nvSpPr>
        <p:spPr>
          <a:xfrm>
            <a:off x="9290304" y="2542032"/>
            <a:ext cx="2258568" cy="960120"/>
          </a:xfrm>
          <a:prstGeom prst="rect">
            <a:avLst/>
          </a:prstGeom>
          <a:noFill/>
          <a:ln/>
        </p:spPr>
        <p:txBody>
          <a:bodyPr wrap="square" lIns="0" tIns="0" rIns="0" bIns="0" rtlCol="0" anchor="t"/>
          <a:lstStyle/>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공통 정제 + 데이터셋별 규칙</a:t>
            </a:r>
            <a:endParaRPr lang="en-US" sz="1200" dirty="0"/>
          </a:p>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행 수 · NULL 변화로 손실 탐지</a:t>
            </a:r>
            <a:endParaRPr lang="en-US" sz="1200" dirty="0"/>
          </a:p>
        </p:txBody>
      </p:sp>
      <p:sp>
        <p:nvSpPr>
          <p:cNvPr id="29" name="Shape 27"/>
          <p:cNvSpPr/>
          <p:nvPr/>
        </p:nvSpPr>
        <p:spPr>
          <a:xfrm>
            <a:off x="548640" y="3931920"/>
            <a:ext cx="2532888" cy="1783080"/>
          </a:xfrm>
          <a:prstGeom prst="roundRect">
            <a:avLst>
              <a:gd name="adj" fmla="val 7179"/>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30" name="Shape 28"/>
          <p:cNvSpPr/>
          <p:nvPr/>
        </p:nvSpPr>
        <p:spPr>
          <a:xfrm>
            <a:off x="713232" y="4096512"/>
            <a:ext cx="384048" cy="384048"/>
          </a:xfrm>
          <a:prstGeom prst="ellipse">
            <a:avLst/>
          </a:prstGeom>
          <a:solidFill>
            <a:srgbClr val="2E5A46"/>
          </a:solidFill>
          <a:ln w="12700">
            <a:solidFill>
              <a:srgbClr val="2E5A46"/>
            </a:solidFill>
            <a:prstDash val="solid"/>
          </a:ln>
        </p:spPr>
      </p:sp>
      <p:sp>
        <p:nvSpPr>
          <p:cNvPr id="31" name="Text 29"/>
          <p:cNvSpPr txBox="1"/>
          <p:nvPr/>
        </p:nvSpPr>
        <p:spPr>
          <a:xfrm>
            <a:off x="713232" y="4096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32" name="Text 30"/>
          <p:cNvSpPr txBox="1"/>
          <p:nvPr/>
        </p:nvSpPr>
        <p:spPr>
          <a:xfrm>
            <a:off x="1170432" y="4096512"/>
            <a:ext cx="1847088" cy="384048"/>
          </a:xfrm>
          <a:prstGeom prst="rect">
            <a:avLst/>
          </a:prstGeom>
          <a:noFill/>
          <a:ln/>
        </p:spPr>
        <p:txBody>
          <a:bodyPr wrap="square" lIns="0" tIns="0" rIns="0" bIns="0" rtlCol="0" anchor="ctr"/>
          <a:lstStyle/>
          <a:p>
            <a:pPr indent="0" marL="0">
              <a:buNone/>
            </a:pPr>
            <a:r>
              <a:rPr lang="en-US" sz="1450" b="1" dirty="0">
                <a:solidFill>
                  <a:srgbClr val="1E2621"/>
                </a:solidFill>
                <a:latin typeface="Malgun Gothic" pitchFamily="34" charset="0"/>
                <a:ea typeface="Malgun Gothic" pitchFamily="34" charset="-122"/>
                <a:cs typeface="Malgun Gothic" pitchFamily="34" charset="-120"/>
              </a:rPr>
              <a:t>PROCESSED 적재</a:t>
            </a:r>
            <a:endParaRPr lang="en-US" sz="1450" dirty="0"/>
          </a:p>
        </p:txBody>
      </p:sp>
      <p:sp>
        <p:nvSpPr>
          <p:cNvPr id="33" name="Text 31"/>
          <p:cNvSpPr txBox="1"/>
          <p:nvPr/>
        </p:nvSpPr>
        <p:spPr>
          <a:xfrm>
            <a:off x="731520" y="4645152"/>
            <a:ext cx="2258568" cy="960120"/>
          </a:xfrm>
          <a:prstGeom prst="rect">
            <a:avLst/>
          </a:prstGeom>
          <a:noFill/>
          <a:ln/>
        </p:spPr>
        <p:txBody>
          <a:bodyPr wrap="square" lIns="0" tIns="0" rIns="0" bIns="0" rtlCol="0" anchor="t"/>
          <a:lstStyle/>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DQ를 거친 데이터를 저장</a:t>
            </a:r>
            <a:endParaRPr lang="en-US" sz="1200" dirty="0"/>
          </a:p>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서비스 · 후속 활용 형태로 관리</a:t>
            </a:r>
            <a:endParaRPr lang="en-US" sz="1200" dirty="0"/>
          </a:p>
        </p:txBody>
      </p:sp>
      <p:sp>
        <p:nvSpPr>
          <p:cNvPr id="34" name="Shape 32"/>
          <p:cNvSpPr/>
          <p:nvPr/>
        </p:nvSpPr>
        <p:spPr>
          <a:xfrm>
            <a:off x="3118104" y="4690872"/>
            <a:ext cx="246888" cy="274320"/>
          </a:xfrm>
          <a:prstGeom prst="rightArrow">
            <a:avLst/>
          </a:prstGeom>
          <a:solidFill>
            <a:srgbClr val="B5654A"/>
          </a:solidFill>
          <a:ln w="12700">
            <a:solidFill>
              <a:srgbClr val="B5654A"/>
            </a:solidFill>
            <a:prstDash val="solid"/>
          </a:ln>
        </p:spPr>
      </p:sp>
      <p:sp>
        <p:nvSpPr>
          <p:cNvPr id="35" name="Shape 33"/>
          <p:cNvSpPr/>
          <p:nvPr/>
        </p:nvSpPr>
        <p:spPr>
          <a:xfrm>
            <a:off x="3401568" y="3931920"/>
            <a:ext cx="2532888" cy="1783080"/>
          </a:xfrm>
          <a:prstGeom prst="roundRect">
            <a:avLst>
              <a:gd name="adj" fmla="val 7179"/>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36" name="Shape 34"/>
          <p:cNvSpPr/>
          <p:nvPr/>
        </p:nvSpPr>
        <p:spPr>
          <a:xfrm>
            <a:off x="3566160" y="4096512"/>
            <a:ext cx="384048" cy="384048"/>
          </a:xfrm>
          <a:prstGeom prst="ellipse">
            <a:avLst/>
          </a:prstGeom>
          <a:solidFill>
            <a:srgbClr val="2E5A46"/>
          </a:solidFill>
          <a:ln w="12700">
            <a:solidFill>
              <a:srgbClr val="2E5A46"/>
            </a:solidFill>
            <a:prstDash val="solid"/>
          </a:ln>
        </p:spPr>
      </p:sp>
      <p:sp>
        <p:nvSpPr>
          <p:cNvPr id="37" name="Text 35"/>
          <p:cNvSpPr txBox="1"/>
          <p:nvPr/>
        </p:nvSpPr>
        <p:spPr>
          <a:xfrm>
            <a:off x="3566160" y="4096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6</a:t>
            </a:r>
            <a:endParaRPr lang="en-US" sz="1400" dirty="0"/>
          </a:p>
        </p:txBody>
      </p:sp>
      <p:sp>
        <p:nvSpPr>
          <p:cNvPr id="38" name="Text 36"/>
          <p:cNvSpPr txBox="1"/>
          <p:nvPr/>
        </p:nvSpPr>
        <p:spPr>
          <a:xfrm>
            <a:off x="4023360" y="4096512"/>
            <a:ext cx="1847088" cy="384048"/>
          </a:xfrm>
          <a:prstGeom prst="rect">
            <a:avLst/>
          </a:prstGeom>
          <a:noFill/>
          <a:ln/>
        </p:spPr>
        <p:txBody>
          <a:bodyPr wrap="square" lIns="0" tIns="0" rIns="0" bIns="0" rtlCol="0" anchor="ctr"/>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스케줄링 · 자동화</a:t>
            </a:r>
            <a:endParaRPr lang="en-US" sz="1600" dirty="0"/>
          </a:p>
        </p:txBody>
      </p:sp>
      <p:sp>
        <p:nvSpPr>
          <p:cNvPr id="39" name="Text 37"/>
          <p:cNvSpPr txBox="1"/>
          <p:nvPr/>
        </p:nvSpPr>
        <p:spPr>
          <a:xfrm>
            <a:off x="3584448" y="4645152"/>
            <a:ext cx="2258568" cy="960120"/>
          </a:xfrm>
          <a:prstGeom prst="rect">
            <a:avLst/>
          </a:prstGeom>
          <a:noFill/>
          <a:ln/>
        </p:spPr>
        <p:txBody>
          <a:bodyPr wrap="square" lIns="0" tIns="0" rIns="0" bIns="0" rtlCol="0" anchor="t"/>
          <a:lstStyle/>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APScheduler로 데이터셋별</a:t>
            </a:r>
            <a:endParaRPr lang="en-US" sz="1200" dirty="0"/>
          </a:p>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주기에 맞춰 자동 실행</a:t>
            </a:r>
            <a:endParaRPr lang="en-US" sz="1200" dirty="0"/>
          </a:p>
        </p:txBody>
      </p:sp>
      <p:sp>
        <p:nvSpPr>
          <p:cNvPr id="40" name="Shape 38"/>
          <p:cNvSpPr/>
          <p:nvPr/>
        </p:nvSpPr>
        <p:spPr>
          <a:xfrm>
            <a:off x="5971032" y="4690872"/>
            <a:ext cx="246888" cy="274320"/>
          </a:xfrm>
          <a:prstGeom prst="rightArrow">
            <a:avLst/>
          </a:prstGeom>
          <a:solidFill>
            <a:srgbClr val="B5654A"/>
          </a:solidFill>
          <a:ln w="12700">
            <a:solidFill>
              <a:srgbClr val="B5654A"/>
            </a:solidFill>
            <a:prstDash val="solid"/>
          </a:ln>
        </p:spPr>
      </p:sp>
      <p:sp>
        <p:nvSpPr>
          <p:cNvPr id="41" name="Shape 39"/>
          <p:cNvSpPr/>
          <p:nvPr/>
        </p:nvSpPr>
        <p:spPr>
          <a:xfrm>
            <a:off x="6254496" y="3931920"/>
            <a:ext cx="2532888" cy="1783080"/>
          </a:xfrm>
          <a:prstGeom prst="roundRect">
            <a:avLst>
              <a:gd name="adj" fmla="val 7179"/>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42" name="Shape 40"/>
          <p:cNvSpPr/>
          <p:nvPr/>
        </p:nvSpPr>
        <p:spPr>
          <a:xfrm>
            <a:off x="6419088" y="4096512"/>
            <a:ext cx="384048" cy="384048"/>
          </a:xfrm>
          <a:prstGeom prst="ellipse">
            <a:avLst/>
          </a:prstGeom>
          <a:solidFill>
            <a:srgbClr val="4F7A9A"/>
          </a:solidFill>
          <a:ln w="12700">
            <a:solidFill>
              <a:srgbClr val="4F7A9A"/>
            </a:solidFill>
            <a:prstDash val="solid"/>
          </a:ln>
        </p:spPr>
      </p:sp>
      <p:sp>
        <p:nvSpPr>
          <p:cNvPr id="43" name="Text 41"/>
          <p:cNvSpPr txBox="1"/>
          <p:nvPr/>
        </p:nvSpPr>
        <p:spPr>
          <a:xfrm>
            <a:off x="6419088" y="4096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7</a:t>
            </a:r>
            <a:endParaRPr lang="en-US" sz="1400" dirty="0"/>
          </a:p>
        </p:txBody>
      </p:sp>
      <p:sp>
        <p:nvSpPr>
          <p:cNvPr id="44" name="Text 42"/>
          <p:cNvSpPr txBox="1"/>
          <p:nvPr/>
        </p:nvSpPr>
        <p:spPr>
          <a:xfrm>
            <a:off x="6876288" y="4096512"/>
            <a:ext cx="1847088" cy="384048"/>
          </a:xfrm>
          <a:prstGeom prst="rect">
            <a:avLst/>
          </a:prstGeom>
          <a:noFill/>
          <a:ln/>
        </p:spPr>
        <p:txBody>
          <a:bodyPr wrap="square" lIns="0" tIns="0" rIns="0" bIns="0" rtlCol="0" anchor="ctr"/>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모니터링 · 알림</a:t>
            </a:r>
            <a:endParaRPr lang="en-US" sz="1600" dirty="0"/>
          </a:p>
        </p:txBody>
      </p:sp>
      <p:sp>
        <p:nvSpPr>
          <p:cNvPr id="45" name="Text 43"/>
          <p:cNvSpPr txBox="1"/>
          <p:nvPr/>
        </p:nvSpPr>
        <p:spPr>
          <a:xfrm>
            <a:off x="6437376" y="4645152"/>
            <a:ext cx="2258568" cy="960120"/>
          </a:xfrm>
          <a:prstGeom prst="rect">
            <a:avLst/>
          </a:prstGeom>
          <a:noFill/>
          <a:ln/>
        </p:spPr>
        <p:txBody>
          <a:bodyPr wrap="square" lIns="0" tIns="0" rIns="0" bIns="0" rtlCol="0" anchor="t"/>
          <a:lstStyle/>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로그 · pipeline_run_history 기록</a:t>
            </a:r>
            <a:endParaRPr lang="en-US" sz="1200" dirty="0"/>
          </a:p>
          <a:p>
            <a:pPr indent="0" marL="0">
              <a:lnSpc>
                <a:spcPct val="115000"/>
              </a:lnSpc>
              <a:buNone/>
            </a:pPr>
            <a:r>
              <a:rPr lang="en-US" sz="1200" b="1" dirty="0">
                <a:solidFill>
                  <a:srgbClr val="5E5B52"/>
                </a:solidFill>
                <a:latin typeface="Malgun Gothic" pitchFamily="34" charset="0"/>
                <a:ea typeface="Malgun Gothic" pitchFamily="34" charset="-122"/>
                <a:cs typeface="Malgun Gothic" pitchFamily="34" charset="-120"/>
              </a:rPr>
              <a:t>실패 · 이상 시 Discord 알림</a:t>
            </a:r>
            <a:endParaRPr lang="en-US" sz="1200" dirty="0"/>
          </a:p>
        </p:txBody>
      </p:sp>
      <p:sp>
        <p:nvSpPr>
          <p:cNvPr id="46" name="Shape 44"/>
          <p:cNvSpPr/>
          <p:nvPr/>
        </p:nvSpPr>
        <p:spPr>
          <a:xfrm>
            <a:off x="11155680" y="3611880"/>
            <a:ext cx="0" cy="182880"/>
          </a:xfrm>
          <a:prstGeom prst="line">
            <a:avLst/>
          </a:prstGeom>
          <a:noFill/>
          <a:ln w="25400">
            <a:solidFill>
              <a:srgbClr val="B5654A"/>
            </a:solidFill>
            <a:prstDash val="solid"/>
          </a:ln>
        </p:spPr>
      </p:sp>
      <p:sp>
        <p:nvSpPr>
          <p:cNvPr id="47" name="Shape 45"/>
          <p:cNvSpPr/>
          <p:nvPr/>
        </p:nvSpPr>
        <p:spPr>
          <a:xfrm>
            <a:off x="1810512" y="3794760"/>
            <a:ext cx="9345168" cy="0"/>
          </a:xfrm>
          <a:prstGeom prst="line">
            <a:avLst/>
          </a:prstGeom>
          <a:noFill/>
          <a:ln w="25400">
            <a:solidFill>
              <a:srgbClr val="B5654A"/>
            </a:solidFill>
            <a:prstDash val="solid"/>
          </a:ln>
        </p:spPr>
      </p:sp>
      <p:sp>
        <p:nvSpPr>
          <p:cNvPr id="48" name="Shape 46"/>
          <p:cNvSpPr/>
          <p:nvPr/>
        </p:nvSpPr>
        <p:spPr>
          <a:xfrm>
            <a:off x="1810512" y="3794760"/>
            <a:ext cx="0" cy="137160"/>
          </a:xfrm>
          <a:prstGeom prst="line">
            <a:avLst/>
          </a:prstGeom>
          <a:noFill/>
          <a:ln w="25400">
            <a:solidFill>
              <a:srgbClr val="B5654A"/>
            </a:solidFill>
            <a:prstDash val="solid"/>
            <a:tailEnd type="triangle"/>
          </a:ln>
        </p:spPr>
      </p:sp>
      <p:sp>
        <p:nvSpPr>
          <p:cNvPr id="49" name="Shape 47"/>
          <p:cNvSpPr/>
          <p:nvPr/>
        </p:nvSpPr>
        <p:spPr>
          <a:xfrm>
            <a:off x="9107424" y="3931920"/>
            <a:ext cx="2532888" cy="1783080"/>
          </a:xfrm>
          <a:prstGeom prst="roundRect">
            <a:avLst>
              <a:gd name="adj" fmla="val 7179"/>
            </a:avLst>
          </a:prstGeom>
          <a:solidFill>
            <a:srgbClr val="1E3B2F"/>
          </a:solidFill>
          <a:ln w="12700">
            <a:solidFill>
              <a:srgbClr val="1E3B2F"/>
            </a:solidFill>
            <a:prstDash val="solid"/>
          </a:ln>
          <a:effectLst>
            <a:outerShdw sx="100000" sy="100000" kx="0" ky="0" algn="bl" rotWithShape="0" blurRad="101600" dist="25400" dir="5400000">
              <a:srgbClr val="8A7A5C">
                <a:alpha val="18000"/>
              </a:srgbClr>
            </a:outerShdw>
          </a:effectLst>
        </p:spPr>
      </p:sp>
      <p:sp>
        <p:nvSpPr>
          <p:cNvPr id="50" name="Text 48"/>
          <p:cNvSpPr txBox="1"/>
          <p:nvPr/>
        </p:nvSpPr>
        <p:spPr>
          <a:xfrm>
            <a:off x="9308592" y="4041648"/>
            <a:ext cx="2167128" cy="347472"/>
          </a:xfrm>
          <a:prstGeom prst="rect">
            <a:avLst/>
          </a:prstGeom>
          <a:noFill/>
          <a:ln/>
        </p:spPr>
        <p:txBody>
          <a:bodyPr wrap="square" lIns="0" tIns="0" rIns="0" bIns="0" rtlCol="0" anchor="t"/>
          <a:lstStyle/>
          <a:p>
            <a:pPr indent="0" marL="0">
              <a:buNone/>
            </a:pPr>
            <a:r>
              <a:rPr lang="en-US" sz="1400" b="1" dirty="0">
                <a:solidFill>
                  <a:srgbClr val="D9A441"/>
                </a:solidFill>
                <a:latin typeface="Malgun Gothic" pitchFamily="34" charset="0"/>
                <a:ea typeface="Malgun Gothic" pitchFamily="34" charset="-122"/>
                <a:cs typeface="Malgun Gothic" pitchFamily="34" charset="-120"/>
              </a:rPr>
              <a:t>이어서 자세히</a:t>
            </a:r>
            <a:endParaRPr lang="en-US" sz="1400" dirty="0"/>
          </a:p>
        </p:txBody>
      </p:sp>
      <p:sp>
        <p:nvSpPr>
          <p:cNvPr id="51" name="Text 49"/>
          <p:cNvSpPr txBox="1"/>
          <p:nvPr/>
        </p:nvSpPr>
        <p:spPr>
          <a:xfrm>
            <a:off x="9308592" y="4434840"/>
            <a:ext cx="2167128" cy="1143000"/>
          </a:xfrm>
          <a:prstGeom prst="rect">
            <a:avLst/>
          </a:prstGeom>
          <a:noFill/>
          <a:ln/>
        </p:spPr>
        <p:txBody>
          <a:bodyPr wrap="square" lIns="0" tIns="0" rIns="0" bIns="0" rtlCol="0" anchor="t"/>
          <a:lstStyle/>
          <a:p>
            <a:pPr indent="0" marL="0">
              <a:lnSpc>
                <a:spcPct val="130000"/>
              </a:lnSpc>
              <a:buNone/>
            </a:pPr>
            <a:r>
              <a:rPr lang="en-US" sz="1450" b="1" dirty="0">
                <a:solidFill>
                  <a:srgbClr val="FFFFFF"/>
                </a:solidFill>
                <a:latin typeface="Malgun Gothic" pitchFamily="34" charset="0"/>
                <a:ea typeface="Malgun Gothic" pitchFamily="34" charset="-122"/>
                <a:cs typeface="Malgun Gothic" pitchFamily="34" charset="-120"/>
              </a:rPr>
              <a:t>06  크롤링</a:t>
            </a:r>
            <a:endParaRPr lang="en-US" sz="1450" dirty="0"/>
          </a:p>
          <a:p>
            <a:pPr indent="0" marL="0">
              <a:lnSpc>
                <a:spcPct val="130000"/>
              </a:lnSpc>
              <a:buNone/>
            </a:pPr>
            <a:r>
              <a:rPr lang="en-US" sz="1450" b="1" dirty="0">
                <a:solidFill>
                  <a:srgbClr val="FFFFFF"/>
                </a:solidFill>
                <a:latin typeface="Malgun Gothic" pitchFamily="34" charset="0"/>
                <a:ea typeface="Malgun Gothic" pitchFamily="34" charset="-122"/>
                <a:cs typeface="Malgun Gothic" pitchFamily="34" charset="-120"/>
              </a:rPr>
              <a:t>07  예외처리 · 복구</a:t>
            </a:r>
            <a:endParaRPr lang="en-US" sz="1450" dirty="0"/>
          </a:p>
          <a:p>
            <a:pPr indent="0" marL="0">
              <a:lnSpc>
                <a:spcPct val="130000"/>
              </a:lnSpc>
              <a:buNone/>
            </a:pPr>
            <a:r>
              <a:rPr lang="en-US" sz="1450" b="1" dirty="0">
                <a:solidFill>
                  <a:srgbClr val="FFFFFF"/>
                </a:solidFill>
                <a:latin typeface="Malgun Gothic" pitchFamily="34" charset="0"/>
                <a:ea typeface="Malgun Gothic" pitchFamily="34" charset="-122"/>
                <a:cs typeface="Malgun Gothic" pitchFamily="34" charset="-120"/>
              </a:rPr>
              <a:t>08  실행 결과</a:t>
            </a:r>
            <a:endParaRPr lang="en-US" sz="1450" dirty="0"/>
          </a:p>
        </p:txBody>
      </p:sp>
      <p:sp>
        <p:nvSpPr>
          <p:cNvPr id="52" name="Text 50"/>
          <p:cNvSpPr txBox="1"/>
          <p:nvPr/>
        </p:nvSpPr>
        <p:spPr>
          <a:xfrm>
            <a:off x="548640" y="5943600"/>
            <a:ext cx="11064240" cy="292608"/>
          </a:xfrm>
          <a:prstGeom prst="rect">
            <a:avLst/>
          </a:prstGeom>
          <a:noFill/>
          <a:ln/>
        </p:spPr>
        <p:txBody>
          <a:bodyPr wrap="square" lIns="0" tIns="0" rIns="0" bIns="0" rtlCol="0" anchor="t"/>
          <a:lstStyle/>
          <a:p>
            <a:pPr indent="0" marL="0">
              <a:buNone/>
            </a:pPr>
            <a:r>
              <a:rPr lang="en-US" sz="1350" b="1" dirty="0">
                <a:solidFill>
                  <a:srgbClr val="B5654A"/>
                </a:solidFill>
                <a:latin typeface="Malgun Gothic" pitchFamily="34" charset="0"/>
                <a:ea typeface="Malgun Gothic" pitchFamily="34" charset="-122"/>
                <a:cs typeface="Malgun Gothic" pitchFamily="34" charset="-120"/>
              </a:rPr>
              <a:t>구분  </a:t>
            </a:r>
            <a:pPr indent="0" marL="0">
              <a:buNone/>
            </a:pPr>
            <a:r>
              <a:rPr lang="en-US" sz="1350" b="1" dirty="0">
                <a:solidFill>
                  <a:srgbClr val="2E5A46"/>
                </a:solidFill>
                <a:latin typeface="Malgun Gothic" pitchFamily="34" charset="0"/>
                <a:ea typeface="Malgun Gothic" pitchFamily="34" charset="-122"/>
                <a:cs typeface="Malgun Gothic" pitchFamily="34" charset="-120"/>
              </a:rPr>
              <a:t>정기 수집 파이프라인(스케줄 실행)  ≠  추천 시점 운영정보 크롤링(요청 시 실행)</a:t>
            </a:r>
            <a:endParaRPr lang="en-US" sz="1350" dirty="0"/>
          </a:p>
        </p:txBody>
      </p:sp>
      <p:sp>
        <p:nvSpPr>
          <p:cNvPr id="53" name="Text 51"/>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54" name="Text 52"/>
          <p:cNvSpPr txBox="1"/>
          <p:nvPr/>
        </p:nvSpPr>
        <p:spPr>
          <a:xfrm>
            <a:off x="11183112"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2E5A46"/>
          </a:solidFill>
          <a:ln w="12700">
            <a:solidFill>
              <a:srgbClr val="2E5A46"/>
            </a:solidFill>
            <a:prstDash val="solid"/>
          </a:ln>
        </p:spPr>
      </p:sp>
      <p:sp>
        <p:nvSpPr>
          <p:cNvPr id="3" name="Text 1"/>
          <p:cNvSpPr txBox="1"/>
          <p:nvPr/>
        </p:nvSpPr>
        <p:spPr>
          <a:xfrm>
            <a:off x="54864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05</a:t>
            </a:r>
            <a:endParaRPr lang="en-US" sz="1300" dirty="0"/>
          </a:p>
        </p:txBody>
      </p:sp>
      <p:sp>
        <p:nvSpPr>
          <p:cNvPr id="4" name="Text 2"/>
          <p:cNvSpPr txBox="1"/>
          <p:nvPr/>
        </p:nvSpPr>
        <p:spPr>
          <a:xfrm>
            <a:off x="1042416" y="384048"/>
            <a:ext cx="5486400" cy="384048"/>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PIPELINE · 정제 · 품질검사(DQ)</a:t>
            </a:r>
            <a:endParaRPr lang="en-US" sz="1400" dirty="0"/>
          </a:p>
        </p:txBody>
      </p:sp>
      <p:sp>
        <p:nvSpPr>
          <p:cNvPr id="5" name="Text 3"/>
          <p:cNvSpPr txBox="1"/>
          <p:nvPr/>
        </p:nvSpPr>
        <p:spPr>
          <a:xfrm>
            <a:off x="548640" y="896112"/>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원본은 남기고, 정제 결과는 검사합니다</a:t>
            </a:r>
            <a:endParaRPr lang="en-US" sz="3400" dirty="0"/>
          </a:p>
        </p:txBody>
      </p:sp>
      <p:sp>
        <p:nvSpPr>
          <p:cNvPr id="6" name="Shape 4"/>
          <p:cNvSpPr/>
          <p:nvPr/>
        </p:nvSpPr>
        <p:spPr>
          <a:xfrm>
            <a:off x="548640" y="1783080"/>
            <a:ext cx="5257800" cy="3520440"/>
          </a:xfrm>
          <a:prstGeom prst="roundRect">
            <a:avLst>
              <a:gd name="adj" fmla="val 3636"/>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7" name="Text 5"/>
          <p:cNvSpPr txBox="1"/>
          <p:nvPr/>
        </p:nvSpPr>
        <p:spPr>
          <a:xfrm>
            <a:off x="777240" y="1901952"/>
            <a:ext cx="2743200" cy="329184"/>
          </a:xfrm>
          <a:prstGeom prst="rect">
            <a:avLst/>
          </a:prstGeom>
          <a:noFill/>
          <a:ln/>
        </p:spPr>
        <p:txBody>
          <a:bodyPr wrap="square" lIns="0" tIns="0" rIns="0" bIns="0" rtlCol="0" anchor="t"/>
          <a:lstStyle/>
          <a:p>
            <a:pPr indent="0" marL="0">
              <a:buNone/>
            </a:pPr>
            <a:r>
              <a:rPr lang="en-US" sz="1500" b="1" dirty="0">
                <a:solidFill>
                  <a:srgbClr val="B5654A"/>
                </a:solidFill>
                <a:latin typeface="Malgun Gothic" pitchFamily="34" charset="0"/>
                <a:ea typeface="Malgun Gothic" pitchFamily="34" charset="-122"/>
                <a:cs typeface="Malgun Gothic" pitchFamily="34" charset="-120"/>
              </a:rPr>
              <a:t>정제 규칙</a:t>
            </a:r>
            <a:endParaRPr lang="en-US" sz="1500" dirty="0"/>
          </a:p>
        </p:txBody>
      </p:sp>
      <p:sp>
        <p:nvSpPr>
          <p:cNvPr id="8" name="Text 6"/>
          <p:cNvSpPr txBox="1"/>
          <p:nvPr/>
        </p:nvSpPr>
        <p:spPr>
          <a:xfrm>
            <a:off x="2011680" y="1901952"/>
            <a:ext cx="3657600" cy="329184"/>
          </a:xfrm>
          <a:prstGeom prst="rect">
            <a:avLst/>
          </a:prstGeom>
          <a:noFill/>
          <a:ln/>
        </p:spPr>
        <p:txBody>
          <a:bodyPr wrap="square" lIns="0" tIns="0" rIns="0" bIns="0" rtlCol="0" anchor="ctr"/>
          <a:lstStyle/>
          <a:p>
            <a:pPr indent="0" marL="0">
              <a:buNone/>
            </a:pPr>
            <a:r>
              <a:rPr lang="en-US" sz="1100" b="1" dirty="0">
                <a:solidFill>
                  <a:srgbClr val="5E5B52"/>
                </a:solidFill>
                <a:latin typeface="Malgun Gothic" pitchFamily="34" charset="0"/>
                <a:ea typeface="Malgun Gothic" pitchFamily="34" charset="-122"/>
                <a:cs typeface="Malgun Gothic" pitchFamily="34" charset="-120"/>
              </a:rPr>
              <a:t>공통 원칙 + 원천 데이터 특성에 따른 데이터셋별 규칙</a:t>
            </a:r>
            <a:endParaRPr lang="en-US" sz="1100" dirty="0"/>
          </a:p>
        </p:txBody>
      </p:sp>
      <p:sp>
        <p:nvSpPr>
          <p:cNvPr id="9" name="Shape 7"/>
          <p:cNvSpPr/>
          <p:nvPr/>
        </p:nvSpPr>
        <p:spPr>
          <a:xfrm>
            <a:off x="777240" y="2359152"/>
            <a:ext cx="1234440" cy="420624"/>
          </a:xfrm>
          <a:prstGeom prst="roundRect">
            <a:avLst>
              <a:gd name="adj" fmla="val 50000"/>
            </a:avLst>
          </a:prstGeom>
          <a:solidFill>
            <a:srgbClr val="2E5A46"/>
          </a:solidFill>
          <a:ln w="12700">
            <a:solidFill>
              <a:srgbClr val="2E5A46"/>
            </a:solidFill>
            <a:prstDash val="solid"/>
          </a:ln>
        </p:spPr>
      </p:sp>
      <p:sp>
        <p:nvSpPr>
          <p:cNvPr id="10" name="Text 8"/>
          <p:cNvSpPr txBox="1"/>
          <p:nvPr/>
        </p:nvSpPr>
        <p:spPr>
          <a:xfrm>
            <a:off x="777240" y="2359152"/>
            <a:ext cx="123444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좌표</a:t>
            </a:r>
            <a:endParaRPr lang="en-US" sz="1300" dirty="0"/>
          </a:p>
        </p:txBody>
      </p:sp>
      <p:sp>
        <p:nvSpPr>
          <p:cNvPr id="11" name="Text 9"/>
          <p:cNvSpPr txBox="1"/>
          <p:nvPr/>
        </p:nvSpPr>
        <p:spPr>
          <a:xfrm>
            <a:off x="2148840" y="2359152"/>
            <a:ext cx="3566160" cy="420624"/>
          </a:xfrm>
          <a:prstGeom prst="rect">
            <a:avLst/>
          </a:prstGeom>
          <a:noFill/>
          <a:ln/>
        </p:spPr>
        <p:txBody>
          <a:bodyPr wrap="square" lIns="0" tIns="0" rIns="0" bIns="0" rtlCol="0" anchor="ctr"/>
          <a:lstStyle/>
          <a:p>
            <a:pPr indent="0" marL="0">
              <a:buNone/>
            </a:pPr>
            <a:r>
              <a:rPr lang="en-US" sz="1250" b="1" dirty="0">
                <a:solidFill>
                  <a:srgbClr val="1E2621"/>
                </a:solidFill>
                <a:latin typeface="Malgun Gothic" pitchFamily="34" charset="0"/>
                <a:ea typeface="Malgun Gothic" pitchFamily="34" charset="-122"/>
                <a:cs typeface="Malgun Gothic" pitchFamily="34" charset="-120"/>
              </a:rPr>
              <a:t>결측 · 비정상 · 국내 범위 밖 좌표 제거</a:t>
            </a:r>
            <a:endParaRPr lang="en-US" sz="1250" dirty="0"/>
          </a:p>
        </p:txBody>
      </p:sp>
      <p:sp>
        <p:nvSpPr>
          <p:cNvPr id="12" name="Shape 10"/>
          <p:cNvSpPr/>
          <p:nvPr/>
        </p:nvSpPr>
        <p:spPr>
          <a:xfrm>
            <a:off x="777240" y="2935224"/>
            <a:ext cx="1234440" cy="420624"/>
          </a:xfrm>
          <a:prstGeom prst="roundRect">
            <a:avLst>
              <a:gd name="adj" fmla="val 50000"/>
            </a:avLst>
          </a:prstGeom>
          <a:solidFill>
            <a:srgbClr val="2E5A46"/>
          </a:solidFill>
          <a:ln w="12700">
            <a:solidFill>
              <a:srgbClr val="2E5A46"/>
            </a:solidFill>
            <a:prstDash val="solid"/>
          </a:ln>
        </p:spPr>
      </p:sp>
      <p:sp>
        <p:nvSpPr>
          <p:cNvPr id="13" name="Text 11"/>
          <p:cNvSpPr txBox="1"/>
          <p:nvPr/>
        </p:nvSpPr>
        <p:spPr>
          <a:xfrm>
            <a:off x="777240" y="2935224"/>
            <a:ext cx="123444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결측값</a:t>
            </a:r>
            <a:endParaRPr lang="en-US" sz="1300" dirty="0"/>
          </a:p>
        </p:txBody>
      </p:sp>
      <p:sp>
        <p:nvSpPr>
          <p:cNvPr id="14" name="Text 12"/>
          <p:cNvSpPr txBox="1"/>
          <p:nvPr/>
        </p:nvSpPr>
        <p:spPr>
          <a:xfrm>
            <a:off x="2148840" y="2935224"/>
            <a:ext cx="3566160" cy="420624"/>
          </a:xfrm>
          <a:prstGeom prst="rect">
            <a:avLst/>
          </a:prstGeom>
          <a:noFill/>
          <a:ln/>
        </p:spPr>
        <p:txBody>
          <a:bodyPr wrap="square" lIns="0" tIns="0" rIns="0" bIns="0" rtlCol="0" anchor="ctr"/>
          <a:lstStyle/>
          <a:p>
            <a:pPr indent="0" marL="0">
              <a:buNone/>
            </a:pPr>
            <a:r>
              <a:rPr lang="en-US" sz="1250" b="1" dirty="0">
                <a:solidFill>
                  <a:srgbClr val="1E2621"/>
                </a:solidFill>
                <a:latin typeface="Malgun Gothic" pitchFamily="34" charset="0"/>
                <a:ea typeface="Malgun Gothic" pitchFamily="34" charset="-122"/>
                <a:cs typeface="Malgun Gothic" pitchFamily="34" charset="-120"/>
              </a:rPr>
              <a:t>표현이 제각각인 빈 값을 NULL(pd.NA)로 통일</a:t>
            </a:r>
            <a:endParaRPr lang="en-US" sz="1250" dirty="0"/>
          </a:p>
        </p:txBody>
      </p:sp>
      <p:sp>
        <p:nvSpPr>
          <p:cNvPr id="15" name="Shape 13"/>
          <p:cNvSpPr/>
          <p:nvPr/>
        </p:nvSpPr>
        <p:spPr>
          <a:xfrm>
            <a:off x="777240" y="3511296"/>
            <a:ext cx="1234440" cy="420624"/>
          </a:xfrm>
          <a:prstGeom prst="roundRect">
            <a:avLst>
              <a:gd name="adj" fmla="val 50000"/>
            </a:avLst>
          </a:prstGeom>
          <a:solidFill>
            <a:srgbClr val="2E5A46"/>
          </a:solidFill>
          <a:ln w="12700">
            <a:solidFill>
              <a:srgbClr val="2E5A46"/>
            </a:solidFill>
            <a:prstDash val="solid"/>
          </a:ln>
        </p:spPr>
      </p:sp>
      <p:sp>
        <p:nvSpPr>
          <p:cNvPr id="16" name="Text 14"/>
          <p:cNvSpPr txBox="1"/>
          <p:nvPr/>
        </p:nvSpPr>
        <p:spPr>
          <a:xfrm>
            <a:off x="777240" y="3511296"/>
            <a:ext cx="123444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자료형</a:t>
            </a:r>
            <a:endParaRPr lang="en-US" sz="1300" dirty="0"/>
          </a:p>
        </p:txBody>
      </p:sp>
      <p:sp>
        <p:nvSpPr>
          <p:cNvPr id="17" name="Text 15"/>
          <p:cNvSpPr txBox="1"/>
          <p:nvPr/>
        </p:nvSpPr>
        <p:spPr>
          <a:xfrm>
            <a:off x="2148840" y="3511296"/>
            <a:ext cx="3566160" cy="420624"/>
          </a:xfrm>
          <a:prstGeom prst="rect">
            <a:avLst/>
          </a:prstGeom>
          <a:noFill/>
          <a:ln/>
        </p:spPr>
        <p:txBody>
          <a:bodyPr wrap="square" lIns="0" tIns="0" rIns="0" bIns="0" rtlCol="0" anchor="ctr"/>
          <a:lstStyle/>
          <a:p>
            <a:pPr indent="0" marL="0">
              <a:buNone/>
            </a:pPr>
            <a:r>
              <a:rPr lang="en-US" sz="1250" b="1" dirty="0">
                <a:solidFill>
                  <a:srgbClr val="1E2621"/>
                </a:solidFill>
                <a:latin typeface="Malgun Gothic" pitchFamily="34" charset="0"/>
                <a:ea typeface="Malgun Gothic" pitchFamily="34" charset="-122"/>
                <a:cs typeface="Malgun Gothic" pitchFamily="34" charset="-120"/>
              </a:rPr>
              <a:t>날짜 · 시간 형식 정규화, 필요한 경우 수치형 변환</a:t>
            </a:r>
            <a:endParaRPr lang="en-US" sz="1250" dirty="0"/>
          </a:p>
        </p:txBody>
      </p:sp>
      <p:sp>
        <p:nvSpPr>
          <p:cNvPr id="18" name="Shape 16"/>
          <p:cNvSpPr/>
          <p:nvPr/>
        </p:nvSpPr>
        <p:spPr>
          <a:xfrm>
            <a:off x="777240" y="4087368"/>
            <a:ext cx="1234440" cy="420624"/>
          </a:xfrm>
          <a:prstGeom prst="roundRect">
            <a:avLst>
              <a:gd name="adj" fmla="val 50000"/>
            </a:avLst>
          </a:prstGeom>
          <a:solidFill>
            <a:srgbClr val="2E5A46"/>
          </a:solidFill>
          <a:ln w="12700">
            <a:solidFill>
              <a:srgbClr val="2E5A46"/>
            </a:solidFill>
            <a:prstDash val="solid"/>
          </a:ln>
        </p:spPr>
      </p:sp>
      <p:sp>
        <p:nvSpPr>
          <p:cNvPr id="19" name="Text 17"/>
          <p:cNvSpPr txBox="1"/>
          <p:nvPr/>
        </p:nvSpPr>
        <p:spPr>
          <a:xfrm>
            <a:off x="777240" y="4087368"/>
            <a:ext cx="123444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표기</a:t>
            </a:r>
            <a:endParaRPr lang="en-US" sz="1300" dirty="0"/>
          </a:p>
        </p:txBody>
      </p:sp>
      <p:sp>
        <p:nvSpPr>
          <p:cNvPr id="20" name="Text 18"/>
          <p:cNvSpPr txBox="1"/>
          <p:nvPr/>
        </p:nvSpPr>
        <p:spPr>
          <a:xfrm>
            <a:off x="2148840" y="4087368"/>
            <a:ext cx="3566160" cy="420624"/>
          </a:xfrm>
          <a:prstGeom prst="rect">
            <a:avLst/>
          </a:prstGeom>
          <a:noFill/>
          <a:ln/>
        </p:spPr>
        <p:txBody>
          <a:bodyPr wrap="square" lIns="0" tIns="0" rIns="0" bIns="0" rtlCol="0" anchor="ctr"/>
          <a:lstStyle/>
          <a:p>
            <a:pPr indent="0" marL="0">
              <a:buNone/>
            </a:pPr>
            <a:r>
              <a:rPr lang="en-US" sz="1250" b="1" dirty="0">
                <a:solidFill>
                  <a:srgbClr val="1E2621"/>
                </a:solidFill>
                <a:latin typeface="Malgun Gothic" pitchFamily="34" charset="0"/>
                <a:ea typeface="Malgun Gothic" pitchFamily="34" charset="-122"/>
                <a:cs typeface="Malgun Gothic" pitchFamily="34" charset="-120"/>
              </a:rPr>
              <a:t>시도 등 지역 표기 통일 (예: 서울 → 서울특별시)</a:t>
            </a:r>
            <a:endParaRPr lang="en-US" sz="1250" dirty="0"/>
          </a:p>
        </p:txBody>
      </p:sp>
      <p:sp>
        <p:nvSpPr>
          <p:cNvPr id="21" name="Shape 19"/>
          <p:cNvSpPr/>
          <p:nvPr/>
        </p:nvSpPr>
        <p:spPr>
          <a:xfrm>
            <a:off x="777240" y="4663440"/>
            <a:ext cx="1234440" cy="420624"/>
          </a:xfrm>
          <a:prstGeom prst="roundRect">
            <a:avLst>
              <a:gd name="adj" fmla="val 50000"/>
            </a:avLst>
          </a:prstGeom>
          <a:solidFill>
            <a:srgbClr val="B5654A"/>
          </a:solidFill>
          <a:ln w="12700">
            <a:solidFill>
              <a:srgbClr val="B5654A"/>
            </a:solidFill>
            <a:prstDash val="solid"/>
          </a:ln>
        </p:spPr>
      </p:sp>
      <p:sp>
        <p:nvSpPr>
          <p:cNvPr id="22" name="Text 20"/>
          <p:cNvSpPr txBox="1"/>
          <p:nvPr/>
        </p:nvSpPr>
        <p:spPr>
          <a:xfrm>
            <a:off x="777240" y="4663440"/>
            <a:ext cx="123444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데이터셋별</a:t>
            </a:r>
            <a:endParaRPr lang="en-US" sz="1300" dirty="0"/>
          </a:p>
        </p:txBody>
      </p:sp>
      <p:sp>
        <p:nvSpPr>
          <p:cNvPr id="23" name="Text 21"/>
          <p:cNvSpPr txBox="1"/>
          <p:nvPr/>
        </p:nvSpPr>
        <p:spPr>
          <a:xfrm>
            <a:off x="2148840" y="4663440"/>
            <a:ext cx="3566160" cy="420624"/>
          </a:xfrm>
          <a:prstGeom prst="rect">
            <a:avLst/>
          </a:prstGeom>
          <a:noFill/>
          <a:ln/>
        </p:spPr>
        <p:txBody>
          <a:bodyPr wrap="square" lIns="0" tIns="0" rIns="0" bIns="0" rtlCol="0" anchor="ctr"/>
          <a:lstStyle/>
          <a:p>
            <a:pPr indent="0" marL="0">
              <a:buNone/>
            </a:pPr>
            <a:r>
              <a:rPr lang="en-US" sz="1250" b="1" dirty="0">
                <a:solidFill>
                  <a:srgbClr val="1E2621"/>
                </a:solidFill>
                <a:latin typeface="Malgun Gothic" pitchFamily="34" charset="0"/>
                <a:ea typeface="Malgun Gothic" pitchFamily="34" charset="-122"/>
                <a:cs typeface="Malgun Gothic" pitchFamily="34" charset="-120"/>
              </a:rPr>
              <a:t>중복 데이터 처리 · 원천 특성에 맞춘 개별 규칙</a:t>
            </a:r>
            <a:endParaRPr lang="en-US" sz="1250" dirty="0"/>
          </a:p>
        </p:txBody>
      </p:sp>
      <p:sp>
        <p:nvSpPr>
          <p:cNvPr id="24" name="Shape 22"/>
          <p:cNvSpPr/>
          <p:nvPr/>
        </p:nvSpPr>
        <p:spPr>
          <a:xfrm>
            <a:off x="6016752" y="1783080"/>
            <a:ext cx="5623560" cy="3520440"/>
          </a:xfrm>
          <a:prstGeom prst="roundRect">
            <a:avLst>
              <a:gd name="adj" fmla="val 3636"/>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25" name="Text 23"/>
          <p:cNvSpPr txBox="1"/>
          <p:nvPr/>
        </p:nvSpPr>
        <p:spPr>
          <a:xfrm>
            <a:off x="6245352" y="1901952"/>
            <a:ext cx="3657600" cy="329184"/>
          </a:xfrm>
          <a:prstGeom prst="rect">
            <a:avLst/>
          </a:prstGeom>
          <a:noFill/>
          <a:ln/>
        </p:spPr>
        <p:txBody>
          <a:bodyPr wrap="square" lIns="0" tIns="0" rIns="0" bIns="0" rtlCol="0" anchor="t"/>
          <a:lstStyle/>
          <a:p>
            <a:pPr indent="0" marL="0">
              <a:buNone/>
            </a:pPr>
            <a:r>
              <a:rPr lang="en-US" sz="1500" b="1" dirty="0">
                <a:solidFill>
                  <a:srgbClr val="B5654A"/>
                </a:solidFill>
                <a:latin typeface="Malgun Gothic" pitchFamily="34" charset="0"/>
                <a:ea typeface="Malgun Gothic" pitchFamily="34" charset="-122"/>
                <a:cs typeface="Malgun Gothic" pitchFamily="34" charset="-120"/>
              </a:rPr>
              <a:t>품질검사(DQ) 흐름</a:t>
            </a:r>
            <a:endParaRPr lang="en-US" sz="1500" dirty="0"/>
          </a:p>
        </p:txBody>
      </p:sp>
      <p:sp>
        <p:nvSpPr>
          <p:cNvPr id="26" name="Shape 24"/>
          <p:cNvSpPr/>
          <p:nvPr/>
        </p:nvSpPr>
        <p:spPr>
          <a:xfrm>
            <a:off x="6245352" y="2377440"/>
            <a:ext cx="1234440" cy="457200"/>
          </a:xfrm>
          <a:prstGeom prst="roundRect">
            <a:avLst>
              <a:gd name="adj" fmla="val 20000"/>
            </a:avLst>
          </a:prstGeom>
          <a:solidFill>
            <a:srgbClr val="EADFCB"/>
          </a:solidFill>
          <a:ln w="12700">
            <a:solidFill>
              <a:srgbClr val="EADFCB"/>
            </a:solidFill>
            <a:prstDash val="solid"/>
          </a:ln>
        </p:spPr>
      </p:sp>
      <p:sp>
        <p:nvSpPr>
          <p:cNvPr id="27" name="Text 25"/>
          <p:cNvSpPr txBox="1"/>
          <p:nvPr/>
        </p:nvSpPr>
        <p:spPr>
          <a:xfrm>
            <a:off x="6281928" y="2377440"/>
            <a:ext cx="1161288" cy="457200"/>
          </a:xfrm>
          <a:prstGeom prst="rect">
            <a:avLst/>
          </a:prstGeom>
          <a:noFill/>
          <a:ln/>
        </p:spPr>
        <p:txBody>
          <a:bodyPr wrap="square" lIns="0" tIns="0" rIns="0" bIns="0" rtlCol="0" anchor="ctr"/>
          <a:lstStyle/>
          <a:p>
            <a:pPr algn="ctr" indent="0" marL="0">
              <a:buNone/>
            </a:pPr>
            <a:r>
              <a:rPr lang="en-US" sz="1300" b="1" dirty="0">
                <a:solidFill>
                  <a:srgbClr val="1E2621"/>
                </a:solidFill>
                <a:latin typeface="Malgun Gothic" pitchFamily="34" charset="0"/>
                <a:ea typeface="Malgun Gothic" pitchFamily="34" charset="-122"/>
                <a:cs typeface="Malgun Gothic" pitchFamily="34" charset="-120"/>
              </a:rPr>
              <a:t>RAW</a:t>
            </a:r>
            <a:endParaRPr lang="en-US" sz="1300" dirty="0"/>
          </a:p>
        </p:txBody>
      </p:sp>
      <p:sp>
        <p:nvSpPr>
          <p:cNvPr id="28" name="Text 26"/>
          <p:cNvSpPr txBox="1"/>
          <p:nvPr/>
        </p:nvSpPr>
        <p:spPr>
          <a:xfrm>
            <a:off x="7498080" y="2377440"/>
            <a:ext cx="219456" cy="457200"/>
          </a:xfrm>
          <a:prstGeom prst="rect">
            <a:avLst/>
          </a:prstGeom>
          <a:noFill/>
          <a:ln/>
        </p:spPr>
        <p:txBody>
          <a:bodyPr wrap="square" lIns="0" tIns="0" rIns="0" bIns="0" rtlCol="0" anchor="ctr"/>
          <a:lstStyle/>
          <a:p>
            <a:pPr algn="ctr" indent="0" marL="0">
              <a:buNone/>
            </a:pPr>
            <a:r>
              <a:rPr lang="en-US" sz="1500" b="1" dirty="0">
                <a:solidFill>
                  <a:srgbClr val="B5654A"/>
                </a:solidFill>
                <a:latin typeface="Malgun Gothic" pitchFamily="34" charset="0"/>
                <a:ea typeface="Malgun Gothic" pitchFamily="34" charset="-122"/>
                <a:cs typeface="Malgun Gothic" pitchFamily="34" charset="-120"/>
              </a:rPr>
              <a:t>→</a:t>
            </a:r>
            <a:endParaRPr lang="en-US" sz="1500" dirty="0"/>
          </a:p>
        </p:txBody>
      </p:sp>
      <p:sp>
        <p:nvSpPr>
          <p:cNvPr id="29" name="Shape 27"/>
          <p:cNvSpPr/>
          <p:nvPr/>
        </p:nvSpPr>
        <p:spPr>
          <a:xfrm>
            <a:off x="7735824" y="2377440"/>
            <a:ext cx="1371600" cy="457200"/>
          </a:xfrm>
          <a:prstGeom prst="roundRect">
            <a:avLst>
              <a:gd name="adj" fmla="val 20000"/>
            </a:avLst>
          </a:prstGeom>
          <a:solidFill>
            <a:srgbClr val="EADFCB"/>
          </a:solidFill>
          <a:ln w="12700">
            <a:solidFill>
              <a:srgbClr val="EADFCB"/>
            </a:solidFill>
            <a:prstDash val="solid"/>
          </a:ln>
        </p:spPr>
      </p:sp>
      <p:sp>
        <p:nvSpPr>
          <p:cNvPr id="30" name="Text 28"/>
          <p:cNvSpPr txBox="1"/>
          <p:nvPr/>
        </p:nvSpPr>
        <p:spPr>
          <a:xfrm>
            <a:off x="7772400" y="2377440"/>
            <a:ext cx="1298448" cy="457200"/>
          </a:xfrm>
          <a:prstGeom prst="rect">
            <a:avLst/>
          </a:prstGeom>
          <a:noFill/>
          <a:ln/>
        </p:spPr>
        <p:txBody>
          <a:bodyPr wrap="square" lIns="0" tIns="0" rIns="0" bIns="0" rtlCol="0" anchor="ctr"/>
          <a:lstStyle/>
          <a:p>
            <a:pPr algn="ctr" indent="0" marL="0">
              <a:buNone/>
            </a:pPr>
            <a:r>
              <a:rPr lang="en-US" sz="1300" b="1" dirty="0">
                <a:solidFill>
                  <a:srgbClr val="1E2621"/>
                </a:solidFill>
                <a:latin typeface="Malgun Gothic" pitchFamily="34" charset="0"/>
                <a:ea typeface="Malgun Gothic" pitchFamily="34" charset="-122"/>
                <a:cs typeface="Malgun Gothic" pitchFamily="34" charset="-120"/>
              </a:rPr>
              <a:t>정제 결과</a:t>
            </a:r>
            <a:endParaRPr lang="en-US" sz="1300" dirty="0"/>
          </a:p>
        </p:txBody>
      </p:sp>
      <p:sp>
        <p:nvSpPr>
          <p:cNvPr id="31" name="Text 29"/>
          <p:cNvSpPr txBox="1"/>
          <p:nvPr/>
        </p:nvSpPr>
        <p:spPr>
          <a:xfrm>
            <a:off x="9125712" y="2377440"/>
            <a:ext cx="219456" cy="457200"/>
          </a:xfrm>
          <a:prstGeom prst="rect">
            <a:avLst/>
          </a:prstGeom>
          <a:noFill/>
          <a:ln/>
        </p:spPr>
        <p:txBody>
          <a:bodyPr wrap="square" lIns="0" tIns="0" rIns="0" bIns="0" rtlCol="0" anchor="ctr"/>
          <a:lstStyle/>
          <a:p>
            <a:pPr algn="ctr" indent="0" marL="0">
              <a:buNone/>
            </a:pPr>
            <a:r>
              <a:rPr lang="en-US" sz="1500" b="1" dirty="0">
                <a:solidFill>
                  <a:srgbClr val="B5654A"/>
                </a:solidFill>
                <a:latin typeface="Malgun Gothic" pitchFamily="34" charset="0"/>
                <a:ea typeface="Malgun Gothic" pitchFamily="34" charset="-122"/>
                <a:cs typeface="Malgun Gothic" pitchFamily="34" charset="-120"/>
              </a:rPr>
              <a:t>→</a:t>
            </a:r>
            <a:endParaRPr lang="en-US" sz="1500" dirty="0"/>
          </a:p>
        </p:txBody>
      </p:sp>
      <p:sp>
        <p:nvSpPr>
          <p:cNvPr id="32" name="Shape 30"/>
          <p:cNvSpPr/>
          <p:nvPr/>
        </p:nvSpPr>
        <p:spPr>
          <a:xfrm>
            <a:off x="9363456" y="2377440"/>
            <a:ext cx="2048256" cy="457200"/>
          </a:xfrm>
          <a:prstGeom prst="roundRect">
            <a:avLst>
              <a:gd name="adj" fmla="val 20000"/>
            </a:avLst>
          </a:prstGeom>
          <a:solidFill>
            <a:srgbClr val="B5654A"/>
          </a:solidFill>
          <a:ln w="12700">
            <a:solidFill>
              <a:srgbClr val="B5654A"/>
            </a:solidFill>
            <a:prstDash val="solid"/>
          </a:ln>
        </p:spPr>
      </p:sp>
      <p:sp>
        <p:nvSpPr>
          <p:cNvPr id="33" name="Text 31"/>
          <p:cNvSpPr txBox="1"/>
          <p:nvPr/>
        </p:nvSpPr>
        <p:spPr>
          <a:xfrm>
            <a:off x="9400032" y="2377440"/>
            <a:ext cx="1975104"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품질검사 DQ</a:t>
            </a:r>
            <a:endParaRPr lang="en-US" sz="1350" dirty="0"/>
          </a:p>
        </p:txBody>
      </p:sp>
      <p:sp>
        <p:nvSpPr>
          <p:cNvPr id="34" name="Text 32"/>
          <p:cNvSpPr txBox="1"/>
          <p:nvPr/>
        </p:nvSpPr>
        <p:spPr>
          <a:xfrm>
            <a:off x="6245352" y="3127248"/>
            <a:ext cx="1234440" cy="420624"/>
          </a:xfrm>
          <a:prstGeom prst="rect">
            <a:avLst/>
          </a:prstGeom>
          <a:noFill/>
          <a:ln/>
        </p:spPr>
        <p:txBody>
          <a:bodyPr wrap="square" lIns="0" tIns="0" rIns="0" bIns="0" rtlCol="0" anchor="ctr"/>
          <a:lstStyle/>
          <a:p>
            <a:pPr indent="0" marL="0">
              <a:buNone/>
            </a:pPr>
            <a:r>
              <a:rPr lang="en-US" sz="1300" b="1" dirty="0">
                <a:solidFill>
                  <a:srgbClr val="2E5A46"/>
                </a:solidFill>
                <a:latin typeface="Malgun Gothic" pitchFamily="34" charset="0"/>
                <a:ea typeface="Malgun Gothic" pitchFamily="34" charset="-122"/>
                <a:cs typeface="Malgun Gothic" pitchFamily="34" charset="-120"/>
              </a:rPr>
              <a:t>정상</a:t>
            </a:r>
            <a:endParaRPr lang="en-US" sz="1300" dirty="0"/>
          </a:p>
        </p:txBody>
      </p:sp>
      <p:sp>
        <p:nvSpPr>
          <p:cNvPr id="35" name="Text 33"/>
          <p:cNvSpPr txBox="1"/>
          <p:nvPr/>
        </p:nvSpPr>
        <p:spPr>
          <a:xfrm>
            <a:off x="7040880" y="3127248"/>
            <a:ext cx="2377440" cy="420624"/>
          </a:xfrm>
          <a:prstGeom prst="rect">
            <a:avLst/>
          </a:prstGeom>
          <a:noFill/>
          <a:ln/>
        </p:spPr>
        <p:txBody>
          <a:bodyPr wrap="square" lIns="0" tIns="0" rIns="0" bIns="0" rtlCol="0" anchor="ctr"/>
          <a:lstStyle/>
          <a:p>
            <a:pPr indent="0" marL="0">
              <a:buNone/>
            </a:pPr>
            <a:r>
              <a:rPr lang="en-US" sz="1100" b="1" dirty="0">
                <a:solidFill>
                  <a:srgbClr val="5E5B52"/>
                </a:solidFill>
                <a:latin typeface="Malgun Gothic" pitchFamily="34" charset="0"/>
                <a:ea typeface="Malgun Gothic" pitchFamily="34" charset="-122"/>
                <a:cs typeface="Malgun Gothic" pitchFamily="34" charset="-120"/>
              </a:rPr>
              <a:t>행 수 · NULL 변화 이상 없음</a:t>
            </a:r>
            <a:endParaRPr lang="en-US" sz="1100" dirty="0"/>
          </a:p>
        </p:txBody>
      </p:sp>
      <p:sp>
        <p:nvSpPr>
          <p:cNvPr id="36" name="Text 34"/>
          <p:cNvSpPr txBox="1"/>
          <p:nvPr/>
        </p:nvSpPr>
        <p:spPr>
          <a:xfrm>
            <a:off x="9125712" y="3108960"/>
            <a:ext cx="219456" cy="457200"/>
          </a:xfrm>
          <a:prstGeom prst="rect">
            <a:avLst/>
          </a:prstGeom>
          <a:noFill/>
          <a:ln/>
        </p:spPr>
        <p:txBody>
          <a:bodyPr wrap="square" lIns="0" tIns="0" rIns="0" bIns="0" rtlCol="0" anchor="ctr"/>
          <a:lstStyle/>
          <a:p>
            <a:pPr algn="ctr" indent="0" marL="0">
              <a:buNone/>
            </a:pPr>
            <a:r>
              <a:rPr lang="en-US" sz="1500" b="1" dirty="0">
                <a:solidFill>
                  <a:srgbClr val="2E5A46"/>
                </a:solidFill>
                <a:latin typeface="Malgun Gothic" pitchFamily="34" charset="0"/>
                <a:ea typeface="Malgun Gothic" pitchFamily="34" charset="-122"/>
                <a:cs typeface="Malgun Gothic" pitchFamily="34" charset="-120"/>
              </a:rPr>
              <a:t>→</a:t>
            </a:r>
            <a:endParaRPr lang="en-US" sz="1500" dirty="0"/>
          </a:p>
        </p:txBody>
      </p:sp>
      <p:sp>
        <p:nvSpPr>
          <p:cNvPr id="37" name="Shape 35"/>
          <p:cNvSpPr/>
          <p:nvPr/>
        </p:nvSpPr>
        <p:spPr>
          <a:xfrm>
            <a:off x="9363456" y="3108960"/>
            <a:ext cx="2048256" cy="457200"/>
          </a:xfrm>
          <a:prstGeom prst="roundRect">
            <a:avLst>
              <a:gd name="adj" fmla="val 20000"/>
            </a:avLst>
          </a:prstGeom>
          <a:solidFill>
            <a:srgbClr val="2E5A46"/>
          </a:solidFill>
          <a:ln w="12700">
            <a:solidFill>
              <a:srgbClr val="2E5A46"/>
            </a:solidFill>
            <a:prstDash val="solid"/>
          </a:ln>
        </p:spPr>
      </p:sp>
      <p:sp>
        <p:nvSpPr>
          <p:cNvPr id="38" name="Text 36"/>
          <p:cNvSpPr txBox="1"/>
          <p:nvPr/>
        </p:nvSpPr>
        <p:spPr>
          <a:xfrm>
            <a:off x="9400032" y="3108960"/>
            <a:ext cx="19751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PROCESSED 적재</a:t>
            </a:r>
            <a:endParaRPr lang="en-US" sz="1300" dirty="0"/>
          </a:p>
        </p:txBody>
      </p:sp>
      <p:sp>
        <p:nvSpPr>
          <p:cNvPr id="39" name="Shape 37"/>
          <p:cNvSpPr/>
          <p:nvPr/>
        </p:nvSpPr>
        <p:spPr>
          <a:xfrm>
            <a:off x="6245352" y="3749040"/>
            <a:ext cx="5166360" cy="0"/>
          </a:xfrm>
          <a:prstGeom prst="line">
            <a:avLst/>
          </a:prstGeom>
          <a:noFill/>
          <a:ln w="12700">
            <a:solidFill>
              <a:srgbClr val="D8CBB2"/>
            </a:solidFill>
            <a:prstDash val="dash"/>
          </a:ln>
        </p:spPr>
      </p:sp>
      <p:sp>
        <p:nvSpPr>
          <p:cNvPr id="40" name="Text 38"/>
          <p:cNvSpPr txBox="1"/>
          <p:nvPr/>
        </p:nvSpPr>
        <p:spPr>
          <a:xfrm>
            <a:off x="6245352" y="3840480"/>
            <a:ext cx="5120640" cy="329184"/>
          </a:xfrm>
          <a:prstGeom prst="rect">
            <a:avLst/>
          </a:prstGeom>
          <a:noFill/>
          <a:ln/>
        </p:spPr>
        <p:txBody>
          <a:bodyPr wrap="square" lIns="0" tIns="0" rIns="0" bIns="0" rtlCol="0" anchor="ctr"/>
          <a:lstStyle/>
          <a:p>
            <a:pPr indent="0" marL="0">
              <a:buNone/>
            </a:pPr>
            <a:r>
              <a:rPr lang="en-US" sz="1300" b="1" dirty="0">
                <a:solidFill>
                  <a:srgbClr val="B5654A"/>
                </a:solidFill>
                <a:latin typeface="Malgun Gothic" pitchFamily="34" charset="0"/>
                <a:ea typeface="Malgun Gothic" pitchFamily="34" charset="-122"/>
                <a:cs typeface="Malgun Gothic" pitchFamily="34" charset="-120"/>
              </a:rPr>
              <a:t>이상 발견 — 예상하지 못한 값 · 행 손실</a:t>
            </a:r>
            <a:endParaRPr lang="en-US" sz="1300" dirty="0"/>
          </a:p>
        </p:txBody>
      </p:sp>
      <p:sp>
        <p:nvSpPr>
          <p:cNvPr id="41" name="Shape 39"/>
          <p:cNvSpPr/>
          <p:nvPr/>
        </p:nvSpPr>
        <p:spPr>
          <a:xfrm>
            <a:off x="6245352" y="4297680"/>
            <a:ext cx="1097280" cy="512064"/>
          </a:xfrm>
          <a:prstGeom prst="roundRect">
            <a:avLst>
              <a:gd name="adj" fmla="val 17857"/>
            </a:avLst>
          </a:prstGeom>
          <a:solidFill>
            <a:srgbClr val="F3E4DC"/>
          </a:solidFill>
          <a:ln w="12700">
            <a:solidFill>
              <a:srgbClr val="F3E4DC"/>
            </a:solidFill>
            <a:prstDash val="solid"/>
          </a:ln>
        </p:spPr>
      </p:sp>
      <p:sp>
        <p:nvSpPr>
          <p:cNvPr id="42" name="Text 40"/>
          <p:cNvSpPr txBox="1"/>
          <p:nvPr/>
        </p:nvSpPr>
        <p:spPr>
          <a:xfrm>
            <a:off x="6281928" y="4297680"/>
            <a:ext cx="1024128" cy="512064"/>
          </a:xfrm>
          <a:prstGeom prst="rect">
            <a:avLst/>
          </a:prstGeom>
          <a:noFill/>
          <a:ln/>
        </p:spPr>
        <p:txBody>
          <a:bodyPr wrap="square" lIns="0" tIns="0" rIns="0" bIns="0" rtlCol="0" anchor="ctr"/>
          <a:lstStyle/>
          <a:p>
            <a:pPr algn="ctr" indent="0" marL="0">
              <a:buNone/>
            </a:pPr>
            <a:r>
              <a:rPr lang="en-US" sz="1150" b="1" dirty="0">
                <a:solidFill>
                  <a:srgbClr val="1E2621"/>
                </a:solidFill>
                <a:latin typeface="Malgun Gothic" pitchFamily="34" charset="0"/>
                <a:ea typeface="Malgun Gothic" pitchFamily="34" charset="-122"/>
                <a:cs typeface="Malgun Gothic" pitchFamily="34" charset="-120"/>
              </a:rPr>
              <a:t>RAW와 비교</a:t>
            </a:r>
            <a:endParaRPr lang="en-US" sz="1150" dirty="0"/>
          </a:p>
        </p:txBody>
      </p:sp>
      <p:sp>
        <p:nvSpPr>
          <p:cNvPr id="43" name="Text 41"/>
          <p:cNvSpPr txBox="1"/>
          <p:nvPr/>
        </p:nvSpPr>
        <p:spPr>
          <a:xfrm>
            <a:off x="7342632" y="4325112"/>
            <a:ext cx="219456" cy="457200"/>
          </a:xfrm>
          <a:prstGeom prst="rect">
            <a:avLst/>
          </a:prstGeom>
          <a:noFill/>
          <a:ln/>
        </p:spPr>
        <p:txBody>
          <a:bodyPr wrap="square" lIns="0" tIns="0" rIns="0" bIns="0" rtlCol="0" anchor="ctr"/>
          <a:lstStyle/>
          <a:p>
            <a:pPr algn="ctr" indent="0" marL="0">
              <a:buNone/>
            </a:pPr>
            <a:r>
              <a:rPr lang="en-US" sz="1500" b="1" dirty="0">
                <a:solidFill>
                  <a:srgbClr val="B5654A"/>
                </a:solidFill>
                <a:latin typeface="Malgun Gothic" pitchFamily="34" charset="0"/>
                <a:ea typeface="Malgun Gothic" pitchFamily="34" charset="-122"/>
                <a:cs typeface="Malgun Gothic" pitchFamily="34" charset="-120"/>
              </a:rPr>
              <a:t>→</a:t>
            </a:r>
            <a:endParaRPr lang="en-US" sz="1500" dirty="0"/>
          </a:p>
        </p:txBody>
      </p:sp>
      <p:sp>
        <p:nvSpPr>
          <p:cNvPr id="44" name="Shape 42"/>
          <p:cNvSpPr/>
          <p:nvPr/>
        </p:nvSpPr>
        <p:spPr>
          <a:xfrm>
            <a:off x="7562088" y="4297680"/>
            <a:ext cx="1097280" cy="512064"/>
          </a:xfrm>
          <a:prstGeom prst="roundRect">
            <a:avLst>
              <a:gd name="adj" fmla="val 17857"/>
            </a:avLst>
          </a:prstGeom>
          <a:solidFill>
            <a:srgbClr val="F3E4DC"/>
          </a:solidFill>
          <a:ln w="12700">
            <a:solidFill>
              <a:srgbClr val="F3E4DC"/>
            </a:solidFill>
            <a:prstDash val="solid"/>
          </a:ln>
        </p:spPr>
      </p:sp>
      <p:sp>
        <p:nvSpPr>
          <p:cNvPr id="45" name="Text 43"/>
          <p:cNvSpPr txBox="1"/>
          <p:nvPr/>
        </p:nvSpPr>
        <p:spPr>
          <a:xfrm>
            <a:off x="7598664" y="4297680"/>
            <a:ext cx="1024128" cy="512064"/>
          </a:xfrm>
          <a:prstGeom prst="rect">
            <a:avLst/>
          </a:prstGeom>
          <a:noFill/>
          <a:ln/>
        </p:spPr>
        <p:txBody>
          <a:bodyPr wrap="square" lIns="0" tIns="0" rIns="0" bIns="0" rtlCol="0" anchor="ctr"/>
          <a:lstStyle/>
          <a:p>
            <a:pPr algn="ctr" indent="0" marL="0">
              <a:buNone/>
            </a:pPr>
            <a:r>
              <a:rPr lang="en-US" sz="1150" b="1" dirty="0">
                <a:solidFill>
                  <a:srgbClr val="1E2621"/>
                </a:solidFill>
                <a:latin typeface="Malgun Gothic" pitchFamily="34" charset="0"/>
                <a:ea typeface="Malgun Gothic" pitchFamily="34" charset="-122"/>
                <a:cs typeface="Malgun Gothic" pitchFamily="34" charset="-120"/>
              </a:rPr>
              <a:t>처리 로직 수정</a:t>
            </a:r>
            <a:endParaRPr lang="en-US" sz="1150" dirty="0"/>
          </a:p>
        </p:txBody>
      </p:sp>
      <p:sp>
        <p:nvSpPr>
          <p:cNvPr id="46" name="Text 44"/>
          <p:cNvSpPr txBox="1"/>
          <p:nvPr/>
        </p:nvSpPr>
        <p:spPr>
          <a:xfrm>
            <a:off x="8659368" y="4325112"/>
            <a:ext cx="219456" cy="457200"/>
          </a:xfrm>
          <a:prstGeom prst="rect">
            <a:avLst/>
          </a:prstGeom>
          <a:noFill/>
          <a:ln/>
        </p:spPr>
        <p:txBody>
          <a:bodyPr wrap="square" lIns="0" tIns="0" rIns="0" bIns="0" rtlCol="0" anchor="ctr"/>
          <a:lstStyle/>
          <a:p>
            <a:pPr algn="ctr" indent="0" marL="0">
              <a:buNone/>
            </a:pPr>
            <a:r>
              <a:rPr lang="en-US" sz="1500" b="1" dirty="0">
                <a:solidFill>
                  <a:srgbClr val="B5654A"/>
                </a:solidFill>
                <a:latin typeface="Malgun Gothic" pitchFamily="34" charset="0"/>
                <a:ea typeface="Malgun Gothic" pitchFamily="34" charset="-122"/>
                <a:cs typeface="Malgun Gothic" pitchFamily="34" charset="-120"/>
              </a:rPr>
              <a:t>→</a:t>
            </a:r>
            <a:endParaRPr lang="en-US" sz="1500" dirty="0"/>
          </a:p>
        </p:txBody>
      </p:sp>
      <p:sp>
        <p:nvSpPr>
          <p:cNvPr id="47" name="Shape 45"/>
          <p:cNvSpPr/>
          <p:nvPr/>
        </p:nvSpPr>
        <p:spPr>
          <a:xfrm>
            <a:off x="8878824" y="4297680"/>
            <a:ext cx="1097280" cy="512064"/>
          </a:xfrm>
          <a:prstGeom prst="roundRect">
            <a:avLst>
              <a:gd name="adj" fmla="val 17857"/>
            </a:avLst>
          </a:prstGeom>
          <a:solidFill>
            <a:srgbClr val="F3E4DC"/>
          </a:solidFill>
          <a:ln w="12700">
            <a:solidFill>
              <a:srgbClr val="F3E4DC"/>
            </a:solidFill>
            <a:prstDash val="solid"/>
          </a:ln>
        </p:spPr>
      </p:sp>
      <p:sp>
        <p:nvSpPr>
          <p:cNvPr id="48" name="Text 46"/>
          <p:cNvSpPr txBox="1"/>
          <p:nvPr/>
        </p:nvSpPr>
        <p:spPr>
          <a:xfrm>
            <a:off x="8915400" y="4297680"/>
            <a:ext cx="1024128" cy="512064"/>
          </a:xfrm>
          <a:prstGeom prst="rect">
            <a:avLst/>
          </a:prstGeom>
          <a:noFill/>
          <a:ln/>
        </p:spPr>
        <p:txBody>
          <a:bodyPr wrap="square" lIns="0" tIns="0" rIns="0" bIns="0" rtlCol="0" anchor="ctr"/>
          <a:lstStyle/>
          <a:p>
            <a:pPr algn="ctr" indent="0" marL="0">
              <a:buNone/>
            </a:pPr>
            <a:r>
              <a:rPr lang="en-US" sz="1150" b="1" dirty="0">
                <a:solidFill>
                  <a:srgbClr val="1E2621"/>
                </a:solidFill>
                <a:latin typeface="Malgun Gothic" pitchFamily="34" charset="0"/>
                <a:ea typeface="Malgun Gothic" pitchFamily="34" charset="-122"/>
                <a:cs typeface="Malgun Gothic" pitchFamily="34" charset="-120"/>
              </a:rPr>
              <a:t>회귀 테스트</a:t>
            </a:r>
            <a:endParaRPr lang="en-US" sz="1150" dirty="0"/>
          </a:p>
        </p:txBody>
      </p:sp>
      <p:sp>
        <p:nvSpPr>
          <p:cNvPr id="49" name="Text 47"/>
          <p:cNvSpPr txBox="1"/>
          <p:nvPr/>
        </p:nvSpPr>
        <p:spPr>
          <a:xfrm>
            <a:off x="9976104" y="4325112"/>
            <a:ext cx="219456" cy="457200"/>
          </a:xfrm>
          <a:prstGeom prst="rect">
            <a:avLst/>
          </a:prstGeom>
          <a:noFill/>
          <a:ln/>
        </p:spPr>
        <p:txBody>
          <a:bodyPr wrap="square" lIns="0" tIns="0" rIns="0" bIns="0" rtlCol="0" anchor="ctr"/>
          <a:lstStyle/>
          <a:p>
            <a:pPr algn="ctr" indent="0" marL="0">
              <a:buNone/>
            </a:pPr>
            <a:r>
              <a:rPr lang="en-US" sz="1500" b="1" dirty="0">
                <a:solidFill>
                  <a:srgbClr val="B5654A"/>
                </a:solidFill>
                <a:latin typeface="Malgun Gothic" pitchFamily="34" charset="0"/>
                <a:ea typeface="Malgun Gothic" pitchFamily="34" charset="-122"/>
                <a:cs typeface="Malgun Gothic" pitchFamily="34" charset="-120"/>
              </a:rPr>
              <a:t>→</a:t>
            </a:r>
            <a:endParaRPr lang="en-US" sz="1500" dirty="0"/>
          </a:p>
        </p:txBody>
      </p:sp>
      <p:sp>
        <p:nvSpPr>
          <p:cNvPr id="50" name="Shape 48"/>
          <p:cNvSpPr/>
          <p:nvPr/>
        </p:nvSpPr>
        <p:spPr>
          <a:xfrm>
            <a:off x="10195560" y="4297680"/>
            <a:ext cx="1097280" cy="512064"/>
          </a:xfrm>
          <a:prstGeom prst="roundRect">
            <a:avLst>
              <a:gd name="adj" fmla="val 17857"/>
            </a:avLst>
          </a:prstGeom>
          <a:solidFill>
            <a:srgbClr val="B5654A"/>
          </a:solidFill>
          <a:ln w="12700">
            <a:solidFill>
              <a:srgbClr val="B5654A"/>
            </a:solidFill>
            <a:prstDash val="solid"/>
          </a:ln>
        </p:spPr>
      </p:sp>
      <p:sp>
        <p:nvSpPr>
          <p:cNvPr id="51" name="Text 49"/>
          <p:cNvSpPr txBox="1"/>
          <p:nvPr/>
        </p:nvSpPr>
        <p:spPr>
          <a:xfrm>
            <a:off x="10232136" y="4297680"/>
            <a:ext cx="1024128"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재처리 · DQ</a:t>
            </a:r>
            <a:endParaRPr lang="en-US" sz="1150" dirty="0"/>
          </a:p>
        </p:txBody>
      </p:sp>
      <p:sp>
        <p:nvSpPr>
          <p:cNvPr id="52" name="Text 50"/>
          <p:cNvSpPr txBox="1"/>
          <p:nvPr/>
        </p:nvSpPr>
        <p:spPr>
          <a:xfrm>
            <a:off x="9966960" y="4846320"/>
            <a:ext cx="1463040" cy="274320"/>
          </a:xfrm>
          <a:prstGeom prst="rect">
            <a:avLst/>
          </a:prstGeom>
          <a:noFill/>
          <a:ln/>
        </p:spPr>
        <p:txBody>
          <a:bodyPr wrap="square" lIns="0" tIns="0" rIns="0" bIns="0" rtlCol="0" anchor="t"/>
          <a:lstStyle/>
          <a:p>
            <a:pPr algn="r" indent="0" marL="0">
              <a:buNone/>
            </a:pPr>
            <a:r>
              <a:rPr lang="en-US" sz="1050" b="1" dirty="0">
                <a:solidFill>
                  <a:srgbClr val="B5654A"/>
                </a:solidFill>
                <a:latin typeface="Malgun Gothic" pitchFamily="34" charset="0"/>
                <a:ea typeface="Malgun Gothic" pitchFamily="34" charset="-122"/>
                <a:cs typeface="Malgun Gothic" pitchFamily="34" charset="-120"/>
              </a:rPr>
              <a:t>→ 다시 품질검사(DQ)</a:t>
            </a:r>
            <a:endParaRPr lang="en-US" sz="1050" dirty="0"/>
          </a:p>
        </p:txBody>
      </p:sp>
      <p:sp>
        <p:nvSpPr>
          <p:cNvPr id="53" name="Shape 51"/>
          <p:cNvSpPr/>
          <p:nvPr/>
        </p:nvSpPr>
        <p:spPr>
          <a:xfrm>
            <a:off x="548640" y="5486400"/>
            <a:ext cx="5449824" cy="804672"/>
          </a:xfrm>
          <a:prstGeom prst="roundRect">
            <a:avLst>
              <a:gd name="adj" fmla="val 15909"/>
            </a:avLst>
          </a:prstGeom>
          <a:solidFill>
            <a:srgbClr val="2E5A46"/>
          </a:solidFill>
          <a:ln w="12700">
            <a:solidFill>
              <a:srgbClr val="2E5A46"/>
            </a:solidFill>
            <a:prstDash val="solid"/>
          </a:ln>
        </p:spPr>
      </p:sp>
      <p:sp>
        <p:nvSpPr>
          <p:cNvPr id="54" name="Text 52"/>
          <p:cNvSpPr txBox="1"/>
          <p:nvPr/>
        </p:nvSpPr>
        <p:spPr>
          <a:xfrm>
            <a:off x="731520" y="5486400"/>
            <a:ext cx="1600200" cy="804672"/>
          </a:xfrm>
          <a:prstGeom prst="rect">
            <a:avLst/>
          </a:prstGeom>
          <a:noFill/>
          <a:ln/>
        </p:spPr>
        <p:txBody>
          <a:bodyPr wrap="square" lIns="0" tIns="0" rIns="0" bIns="0" rtlCol="0" anchor="ctr"/>
          <a:lstStyle/>
          <a:p>
            <a:pPr indent="0" marL="0">
              <a:buNone/>
            </a:pPr>
            <a:r>
              <a:rPr lang="en-US" sz="1450" b="1" dirty="0">
                <a:solidFill>
                  <a:srgbClr val="D9A441"/>
                </a:solidFill>
                <a:latin typeface="Malgun Gothic" pitchFamily="34" charset="0"/>
                <a:ea typeface="Malgun Gothic" pitchFamily="34" charset="-122"/>
                <a:cs typeface="Malgun Gothic" pitchFamily="34" charset="-120"/>
              </a:rPr>
              <a:t>RAW 적재</a:t>
            </a:r>
            <a:endParaRPr lang="en-US" sz="1450" dirty="0"/>
          </a:p>
        </p:txBody>
      </p:sp>
      <p:sp>
        <p:nvSpPr>
          <p:cNvPr id="55" name="Text 53"/>
          <p:cNvSpPr txBox="1"/>
          <p:nvPr/>
        </p:nvSpPr>
        <p:spPr>
          <a:xfrm>
            <a:off x="2331720" y="5486400"/>
            <a:ext cx="3566160" cy="804672"/>
          </a:xfrm>
          <a:prstGeom prst="rect">
            <a:avLst/>
          </a:prstGeom>
          <a:noFill/>
          <a:ln/>
        </p:spPr>
        <p:txBody>
          <a:bodyPr wrap="square" lIns="0" tIns="0" rIns="0" bIns="0" rtlCol="0" anchor="ct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수집한 원천 데이터를 정제 전 상태로 raw에 보존 — DQ 비교와 재처리 · 복구의 기준</a:t>
            </a:r>
            <a:endParaRPr lang="en-US" sz="1150" dirty="0"/>
          </a:p>
        </p:txBody>
      </p:sp>
      <p:sp>
        <p:nvSpPr>
          <p:cNvPr id="56" name="Shape 54"/>
          <p:cNvSpPr/>
          <p:nvPr/>
        </p:nvSpPr>
        <p:spPr>
          <a:xfrm>
            <a:off x="6190488" y="5486400"/>
            <a:ext cx="5449824" cy="804672"/>
          </a:xfrm>
          <a:prstGeom prst="roundRect">
            <a:avLst>
              <a:gd name="adj" fmla="val 15909"/>
            </a:avLst>
          </a:prstGeom>
          <a:solidFill>
            <a:srgbClr val="1E3B2F"/>
          </a:solidFill>
          <a:ln w="12700">
            <a:solidFill>
              <a:srgbClr val="1E3B2F"/>
            </a:solidFill>
            <a:prstDash val="solid"/>
          </a:ln>
        </p:spPr>
      </p:sp>
      <p:sp>
        <p:nvSpPr>
          <p:cNvPr id="57" name="Text 55"/>
          <p:cNvSpPr txBox="1"/>
          <p:nvPr/>
        </p:nvSpPr>
        <p:spPr>
          <a:xfrm>
            <a:off x="6373368" y="5486400"/>
            <a:ext cx="1600200" cy="804672"/>
          </a:xfrm>
          <a:prstGeom prst="rect">
            <a:avLst/>
          </a:prstGeom>
          <a:noFill/>
          <a:ln/>
        </p:spPr>
        <p:txBody>
          <a:bodyPr wrap="square" lIns="0" tIns="0" rIns="0" bIns="0" rtlCol="0" anchor="ctr"/>
          <a:lstStyle/>
          <a:p>
            <a:pPr indent="0" marL="0">
              <a:buNone/>
            </a:pPr>
            <a:r>
              <a:rPr lang="en-US" sz="1450" b="1" dirty="0">
                <a:solidFill>
                  <a:srgbClr val="D9A441"/>
                </a:solidFill>
                <a:latin typeface="Malgun Gothic" pitchFamily="34" charset="0"/>
                <a:ea typeface="Malgun Gothic" pitchFamily="34" charset="-122"/>
                <a:cs typeface="Malgun Gothic" pitchFamily="34" charset="-120"/>
              </a:rPr>
              <a:t>PROCESSED 적재</a:t>
            </a:r>
            <a:endParaRPr lang="en-US" sz="1450" dirty="0"/>
          </a:p>
        </p:txBody>
      </p:sp>
      <p:sp>
        <p:nvSpPr>
          <p:cNvPr id="58" name="Text 56"/>
          <p:cNvSpPr txBox="1"/>
          <p:nvPr/>
        </p:nvSpPr>
        <p:spPr>
          <a:xfrm>
            <a:off x="7973568" y="5486400"/>
            <a:ext cx="3566160" cy="804672"/>
          </a:xfrm>
          <a:prstGeom prst="rect">
            <a:avLst/>
          </a:prstGeom>
          <a:noFill/>
          <a:ln/>
        </p:spPr>
        <p:txBody>
          <a:bodyPr wrap="square" lIns="0" tIns="0" rIns="0" bIns="0" rtlCol="0" anchor="ct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정제 · DQ를 거친 데이터를 processed에 적재 — 서비스와 후속 활용이 가능한 형태</a:t>
            </a:r>
            <a:endParaRPr lang="en-US" sz="1150" dirty="0"/>
          </a:p>
        </p:txBody>
      </p:sp>
      <p:sp>
        <p:nvSpPr>
          <p:cNvPr id="59" name="Text 57"/>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60" name="Text 58"/>
          <p:cNvSpPr txBox="1"/>
          <p:nvPr/>
        </p:nvSpPr>
        <p:spPr>
          <a:xfrm>
            <a:off x="11183112"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2E5A46"/>
          </a:solidFill>
          <a:ln w="12700">
            <a:solidFill>
              <a:srgbClr val="2E5A46"/>
            </a:solidFill>
            <a:prstDash val="solid"/>
          </a:ln>
        </p:spPr>
      </p:sp>
      <p:sp>
        <p:nvSpPr>
          <p:cNvPr id="3" name="Text 1"/>
          <p:cNvSpPr txBox="1"/>
          <p:nvPr/>
        </p:nvSpPr>
        <p:spPr>
          <a:xfrm>
            <a:off x="54864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05</a:t>
            </a:r>
            <a:endParaRPr lang="en-US" sz="1300" dirty="0"/>
          </a:p>
        </p:txBody>
      </p:sp>
      <p:sp>
        <p:nvSpPr>
          <p:cNvPr id="4" name="Text 2"/>
          <p:cNvSpPr txBox="1"/>
          <p:nvPr/>
        </p:nvSpPr>
        <p:spPr>
          <a:xfrm>
            <a:off x="1042416" y="384048"/>
            <a:ext cx="5486400" cy="384048"/>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PIPELINE · 스케줄링 · 모니터링</a:t>
            </a:r>
            <a:endParaRPr lang="en-US" sz="1400" dirty="0"/>
          </a:p>
        </p:txBody>
      </p:sp>
      <p:sp>
        <p:nvSpPr>
          <p:cNvPr id="5" name="Text 3"/>
          <p:cNvSpPr txBox="1"/>
          <p:nvPr/>
        </p:nvSpPr>
        <p:spPr>
          <a:xfrm>
            <a:off x="548640" y="896112"/>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스스로 돌고, 멈추면 바로 알립니다</a:t>
            </a:r>
            <a:endParaRPr lang="en-US" sz="3400" dirty="0"/>
          </a:p>
        </p:txBody>
      </p:sp>
      <p:sp>
        <p:nvSpPr>
          <p:cNvPr id="6" name="Shape 4"/>
          <p:cNvSpPr/>
          <p:nvPr/>
        </p:nvSpPr>
        <p:spPr>
          <a:xfrm>
            <a:off x="548640" y="1783080"/>
            <a:ext cx="5120640" cy="4480560"/>
          </a:xfrm>
          <a:prstGeom prst="roundRect">
            <a:avLst>
              <a:gd name="adj" fmla="val 2857"/>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7" name="Text 5"/>
          <p:cNvSpPr txBox="1"/>
          <p:nvPr/>
        </p:nvSpPr>
        <p:spPr>
          <a:xfrm>
            <a:off x="777240" y="1920240"/>
            <a:ext cx="4663440" cy="365760"/>
          </a:xfrm>
          <a:prstGeom prst="rect">
            <a:avLst/>
          </a:prstGeom>
          <a:noFill/>
          <a:ln/>
        </p:spPr>
        <p:txBody>
          <a:bodyPr wrap="square" lIns="0" tIns="0" rIns="0" bIns="0" rtlCol="0" anchor="t"/>
          <a:lstStyle/>
          <a:p>
            <a:pPr indent="0" marL="0">
              <a:buNone/>
            </a:pPr>
            <a:r>
              <a:rPr lang="en-US" sz="1500" b="1" dirty="0">
                <a:solidFill>
                  <a:srgbClr val="B5654A"/>
                </a:solidFill>
                <a:latin typeface="Malgun Gothic" pitchFamily="34" charset="0"/>
                <a:ea typeface="Malgun Gothic" pitchFamily="34" charset="-122"/>
                <a:cs typeface="Malgun Gothic" pitchFamily="34" charset="-120"/>
              </a:rPr>
              <a:t>데이터셋별 APScheduler 실행 주기</a:t>
            </a:r>
            <a:endParaRPr lang="en-US" sz="1500" dirty="0"/>
          </a:p>
        </p:txBody>
      </p:sp>
      <p:sp>
        <p:nvSpPr>
          <p:cNvPr id="8" name="Shape 6"/>
          <p:cNvSpPr/>
          <p:nvPr/>
        </p:nvSpPr>
        <p:spPr>
          <a:xfrm>
            <a:off x="731520" y="2395728"/>
            <a:ext cx="4754880" cy="373075"/>
          </a:xfrm>
          <a:prstGeom prst="rect">
            <a:avLst/>
          </a:prstGeom>
          <a:solidFill>
            <a:srgbClr val="F4EEE2"/>
          </a:solidFill>
          <a:ln w="12700">
            <a:solidFill>
              <a:srgbClr val="F4EEE2"/>
            </a:solidFill>
            <a:prstDash val="solid"/>
          </a:ln>
        </p:spPr>
      </p:sp>
      <p:sp>
        <p:nvSpPr>
          <p:cNvPr id="9" name="Text 7"/>
          <p:cNvSpPr txBox="1"/>
          <p:nvPr/>
        </p:nvSpPr>
        <p:spPr>
          <a:xfrm>
            <a:off x="868680" y="2395728"/>
            <a:ext cx="2651760" cy="373075"/>
          </a:xfrm>
          <a:prstGeom prst="rect">
            <a:avLst/>
          </a:prstGeom>
          <a:noFill/>
          <a:ln/>
        </p:spPr>
        <p:txBody>
          <a:bodyPr wrap="square" lIns="0" tIns="0" rIns="0" bIns="0" rtlCol="0" anchor="ctr"/>
          <a:lstStyle/>
          <a:p>
            <a:pPr indent="0" marL="0">
              <a:buNone/>
            </a:pPr>
            <a:r>
              <a:rPr lang="en-US" sz="1300" b="1" dirty="0">
                <a:solidFill>
                  <a:srgbClr val="1E2621"/>
                </a:solidFill>
                <a:latin typeface="Malgun Gothic" pitchFamily="34" charset="0"/>
                <a:ea typeface="Malgun Gothic" pitchFamily="34" charset="-122"/>
                <a:cs typeface="Malgun Gothic" pitchFamily="34" charset="-120"/>
              </a:rPr>
              <a:t>기상 실황 / 초단기예보</a:t>
            </a:r>
            <a:endParaRPr lang="en-US" sz="1300" dirty="0"/>
          </a:p>
        </p:txBody>
      </p:sp>
      <p:sp>
        <p:nvSpPr>
          <p:cNvPr id="10" name="Text 8"/>
          <p:cNvSpPr txBox="1"/>
          <p:nvPr/>
        </p:nvSpPr>
        <p:spPr>
          <a:xfrm>
            <a:off x="3291840" y="2395728"/>
            <a:ext cx="2057400" cy="373075"/>
          </a:xfrm>
          <a:prstGeom prst="rect">
            <a:avLst/>
          </a:prstGeom>
          <a:noFill/>
          <a:ln/>
        </p:spPr>
        <p:txBody>
          <a:bodyPr wrap="square" lIns="0" tIns="0" rIns="0" bIns="0" rtlCol="0" anchor="ctr"/>
          <a:lstStyle/>
          <a:p>
            <a:pPr algn="r" indent="0" marL="0">
              <a:buNone/>
            </a:pPr>
            <a:r>
              <a:rPr lang="en-US" sz="1300" b="1" dirty="0">
                <a:solidFill>
                  <a:srgbClr val="2E5A46"/>
                </a:solidFill>
                <a:latin typeface="Malgun Gothic" pitchFamily="34" charset="0"/>
                <a:ea typeface="Malgun Gothic" pitchFamily="34" charset="-122"/>
                <a:cs typeface="Malgun Gothic" pitchFamily="34" charset="-120"/>
              </a:rPr>
              <a:t>매시 10분 · 40분</a:t>
            </a:r>
            <a:endParaRPr lang="en-US" sz="1300" dirty="0"/>
          </a:p>
        </p:txBody>
      </p:sp>
      <p:sp>
        <p:nvSpPr>
          <p:cNvPr id="11" name="Text 9"/>
          <p:cNvSpPr txBox="1"/>
          <p:nvPr/>
        </p:nvSpPr>
        <p:spPr>
          <a:xfrm>
            <a:off x="868680" y="2768803"/>
            <a:ext cx="2651760" cy="373075"/>
          </a:xfrm>
          <a:prstGeom prst="rect">
            <a:avLst/>
          </a:prstGeom>
          <a:noFill/>
          <a:ln/>
        </p:spPr>
        <p:txBody>
          <a:bodyPr wrap="square" lIns="0" tIns="0" rIns="0" bIns="0" rtlCol="0" anchor="ctr"/>
          <a:lstStyle/>
          <a:p>
            <a:pPr indent="0" marL="0">
              <a:buNone/>
            </a:pPr>
            <a:r>
              <a:rPr lang="en-US" sz="1300" b="1" dirty="0">
                <a:solidFill>
                  <a:srgbClr val="1E2621"/>
                </a:solidFill>
                <a:latin typeface="Malgun Gothic" pitchFamily="34" charset="0"/>
                <a:ea typeface="Malgun Gothic" pitchFamily="34" charset="-122"/>
                <a:cs typeface="Malgun Gothic" pitchFamily="34" charset="-120"/>
              </a:rPr>
              <a:t>대기질</a:t>
            </a:r>
            <a:endParaRPr lang="en-US" sz="1300" dirty="0"/>
          </a:p>
        </p:txBody>
      </p:sp>
      <p:sp>
        <p:nvSpPr>
          <p:cNvPr id="12" name="Text 10"/>
          <p:cNvSpPr txBox="1"/>
          <p:nvPr/>
        </p:nvSpPr>
        <p:spPr>
          <a:xfrm>
            <a:off x="3291840" y="2768803"/>
            <a:ext cx="2057400" cy="373075"/>
          </a:xfrm>
          <a:prstGeom prst="rect">
            <a:avLst/>
          </a:prstGeom>
          <a:noFill/>
          <a:ln/>
        </p:spPr>
        <p:txBody>
          <a:bodyPr wrap="square" lIns="0" tIns="0" rIns="0" bIns="0" rtlCol="0" anchor="ctr"/>
          <a:lstStyle/>
          <a:p>
            <a:pPr algn="r" indent="0" marL="0">
              <a:buNone/>
            </a:pPr>
            <a:r>
              <a:rPr lang="en-US" sz="1300" b="1" dirty="0">
                <a:solidFill>
                  <a:srgbClr val="2E5A46"/>
                </a:solidFill>
                <a:latin typeface="Malgun Gothic" pitchFamily="34" charset="0"/>
                <a:ea typeface="Malgun Gothic" pitchFamily="34" charset="-122"/>
                <a:cs typeface="Malgun Gothic" pitchFamily="34" charset="-120"/>
              </a:rPr>
              <a:t>매시 15분</a:t>
            </a:r>
            <a:endParaRPr lang="en-US" sz="1300" dirty="0"/>
          </a:p>
        </p:txBody>
      </p:sp>
      <p:sp>
        <p:nvSpPr>
          <p:cNvPr id="13" name="Shape 11"/>
          <p:cNvSpPr/>
          <p:nvPr/>
        </p:nvSpPr>
        <p:spPr>
          <a:xfrm>
            <a:off x="731520" y="3141878"/>
            <a:ext cx="4754880" cy="373075"/>
          </a:xfrm>
          <a:prstGeom prst="rect">
            <a:avLst/>
          </a:prstGeom>
          <a:solidFill>
            <a:srgbClr val="F4EEE2"/>
          </a:solidFill>
          <a:ln w="12700">
            <a:solidFill>
              <a:srgbClr val="F4EEE2"/>
            </a:solidFill>
            <a:prstDash val="solid"/>
          </a:ln>
        </p:spPr>
      </p:sp>
      <p:sp>
        <p:nvSpPr>
          <p:cNvPr id="14" name="Text 12"/>
          <p:cNvSpPr txBox="1"/>
          <p:nvPr/>
        </p:nvSpPr>
        <p:spPr>
          <a:xfrm>
            <a:off x="868680" y="3141878"/>
            <a:ext cx="2651760" cy="373075"/>
          </a:xfrm>
          <a:prstGeom prst="rect">
            <a:avLst/>
          </a:prstGeom>
          <a:noFill/>
          <a:ln/>
        </p:spPr>
        <p:txBody>
          <a:bodyPr wrap="square" lIns="0" tIns="0" rIns="0" bIns="0" rtlCol="0" anchor="ctr"/>
          <a:lstStyle/>
          <a:p>
            <a:pPr indent="0" marL="0">
              <a:buNone/>
            </a:pPr>
            <a:r>
              <a:rPr lang="en-US" sz="1300" b="1" dirty="0">
                <a:solidFill>
                  <a:srgbClr val="1E2621"/>
                </a:solidFill>
                <a:latin typeface="Malgun Gothic" pitchFamily="34" charset="0"/>
                <a:ea typeface="Malgun Gothic" pitchFamily="34" charset="-122"/>
                <a:cs typeface="Malgun Gothic" pitchFamily="34" charset="-120"/>
              </a:rPr>
              <a:t>기상특보</a:t>
            </a:r>
            <a:endParaRPr lang="en-US" sz="1300" dirty="0"/>
          </a:p>
        </p:txBody>
      </p:sp>
      <p:sp>
        <p:nvSpPr>
          <p:cNvPr id="15" name="Text 13"/>
          <p:cNvSpPr txBox="1"/>
          <p:nvPr/>
        </p:nvSpPr>
        <p:spPr>
          <a:xfrm>
            <a:off x="3291840" y="3141878"/>
            <a:ext cx="2057400" cy="373075"/>
          </a:xfrm>
          <a:prstGeom prst="rect">
            <a:avLst/>
          </a:prstGeom>
          <a:noFill/>
          <a:ln/>
        </p:spPr>
        <p:txBody>
          <a:bodyPr wrap="square" lIns="0" tIns="0" rIns="0" bIns="0" rtlCol="0" anchor="ctr"/>
          <a:lstStyle/>
          <a:p>
            <a:pPr algn="r" indent="0" marL="0">
              <a:buNone/>
            </a:pPr>
            <a:r>
              <a:rPr lang="en-US" sz="1300" b="1" dirty="0">
                <a:solidFill>
                  <a:srgbClr val="2E5A46"/>
                </a:solidFill>
                <a:latin typeface="Malgun Gothic" pitchFamily="34" charset="0"/>
                <a:ea typeface="Malgun Gothic" pitchFamily="34" charset="-122"/>
                <a:cs typeface="Malgun Gothic" pitchFamily="34" charset="-120"/>
              </a:rPr>
              <a:t>10분마다</a:t>
            </a:r>
            <a:endParaRPr lang="en-US" sz="1300" dirty="0"/>
          </a:p>
        </p:txBody>
      </p:sp>
      <p:sp>
        <p:nvSpPr>
          <p:cNvPr id="16" name="Text 14"/>
          <p:cNvSpPr txBox="1"/>
          <p:nvPr/>
        </p:nvSpPr>
        <p:spPr>
          <a:xfrm>
            <a:off x="868680" y="3514954"/>
            <a:ext cx="2651760" cy="373075"/>
          </a:xfrm>
          <a:prstGeom prst="rect">
            <a:avLst/>
          </a:prstGeom>
          <a:noFill/>
          <a:ln/>
        </p:spPr>
        <p:txBody>
          <a:bodyPr wrap="square" lIns="0" tIns="0" rIns="0" bIns="0" rtlCol="0" anchor="ctr"/>
          <a:lstStyle/>
          <a:p>
            <a:pPr indent="0" marL="0">
              <a:buNone/>
            </a:pPr>
            <a:r>
              <a:rPr lang="en-US" sz="1300" b="1" dirty="0">
                <a:solidFill>
                  <a:srgbClr val="1E2621"/>
                </a:solidFill>
                <a:latin typeface="Malgun Gothic" pitchFamily="34" charset="0"/>
                <a:ea typeface="Malgun Gothic" pitchFamily="34" charset="-122"/>
                <a:cs typeface="Malgun Gothic" pitchFamily="34" charset="-120"/>
              </a:rPr>
              <a:t>버스정류장</a:t>
            </a:r>
            <a:endParaRPr lang="en-US" sz="1300" dirty="0"/>
          </a:p>
        </p:txBody>
      </p:sp>
      <p:sp>
        <p:nvSpPr>
          <p:cNvPr id="17" name="Text 15"/>
          <p:cNvSpPr txBox="1"/>
          <p:nvPr/>
        </p:nvSpPr>
        <p:spPr>
          <a:xfrm>
            <a:off x="3291840" y="3514954"/>
            <a:ext cx="2057400" cy="373075"/>
          </a:xfrm>
          <a:prstGeom prst="rect">
            <a:avLst/>
          </a:prstGeom>
          <a:noFill/>
          <a:ln/>
        </p:spPr>
        <p:txBody>
          <a:bodyPr wrap="square" lIns="0" tIns="0" rIns="0" bIns="0" rtlCol="0" anchor="ctr"/>
          <a:lstStyle/>
          <a:p>
            <a:pPr algn="r" indent="0" marL="0">
              <a:buNone/>
            </a:pPr>
            <a:r>
              <a:rPr lang="en-US" sz="1300" b="1" dirty="0">
                <a:solidFill>
                  <a:srgbClr val="2E5A46"/>
                </a:solidFill>
                <a:latin typeface="Malgun Gothic" pitchFamily="34" charset="0"/>
                <a:ea typeface="Malgun Gothic" pitchFamily="34" charset="-122"/>
                <a:cs typeface="Malgun Gothic" pitchFamily="34" charset="-120"/>
              </a:rPr>
              <a:t>월 단위</a:t>
            </a:r>
            <a:endParaRPr lang="en-US" sz="1300" dirty="0"/>
          </a:p>
        </p:txBody>
      </p:sp>
      <p:sp>
        <p:nvSpPr>
          <p:cNvPr id="18" name="Shape 16"/>
          <p:cNvSpPr/>
          <p:nvPr/>
        </p:nvSpPr>
        <p:spPr>
          <a:xfrm>
            <a:off x="731520" y="3888029"/>
            <a:ext cx="4754880" cy="373075"/>
          </a:xfrm>
          <a:prstGeom prst="rect">
            <a:avLst/>
          </a:prstGeom>
          <a:solidFill>
            <a:srgbClr val="F4EEE2"/>
          </a:solidFill>
          <a:ln w="12700">
            <a:solidFill>
              <a:srgbClr val="F4EEE2"/>
            </a:solidFill>
            <a:prstDash val="solid"/>
          </a:ln>
        </p:spPr>
      </p:sp>
      <p:sp>
        <p:nvSpPr>
          <p:cNvPr id="19" name="Text 17"/>
          <p:cNvSpPr txBox="1"/>
          <p:nvPr/>
        </p:nvSpPr>
        <p:spPr>
          <a:xfrm>
            <a:off x="868680" y="3888029"/>
            <a:ext cx="2651760" cy="373075"/>
          </a:xfrm>
          <a:prstGeom prst="rect">
            <a:avLst/>
          </a:prstGeom>
          <a:noFill/>
          <a:ln/>
        </p:spPr>
        <p:txBody>
          <a:bodyPr wrap="square" lIns="0" tIns="0" rIns="0" bIns="0" rtlCol="0" anchor="ctr"/>
          <a:lstStyle/>
          <a:p>
            <a:pPr indent="0" marL="0">
              <a:buNone/>
            </a:pPr>
            <a:r>
              <a:rPr lang="en-US" sz="1300" b="1" dirty="0">
                <a:solidFill>
                  <a:srgbClr val="1E2621"/>
                </a:solidFill>
                <a:latin typeface="Malgun Gothic" pitchFamily="34" charset="0"/>
                <a:ea typeface="Malgun Gothic" pitchFamily="34" charset="-122"/>
                <a:cs typeface="Malgun Gothic" pitchFamily="34" charset="-120"/>
              </a:rPr>
              <a:t>두루누비</a:t>
            </a:r>
            <a:endParaRPr lang="en-US" sz="1300" dirty="0"/>
          </a:p>
        </p:txBody>
      </p:sp>
      <p:sp>
        <p:nvSpPr>
          <p:cNvPr id="20" name="Text 18"/>
          <p:cNvSpPr txBox="1"/>
          <p:nvPr/>
        </p:nvSpPr>
        <p:spPr>
          <a:xfrm>
            <a:off x="3291840" y="3888029"/>
            <a:ext cx="2057400" cy="373075"/>
          </a:xfrm>
          <a:prstGeom prst="rect">
            <a:avLst/>
          </a:prstGeom>
          <a:noFill/>
          <a:ln/>
        </p:spPr>
        <p:txBody>
          <a:bodyPr wrap="square" lIns="0" tIns="0" rIns="0" bIns="0" rtlCol="0" anchor="ctr"/>
          <a:lstStyle/>
          <a:p>
            <a:pPr algn="r" indent="0" marL="0">
              <a:buNone/>
            </a:pPr>
            <a:r>
              <a:rPr lang="en-US" sz="1300" b="1" dirty="0">
                <a:solidFill>
                  <a:srgbClr val="2E5A46"/>
                </a:solidFill>
                <a:latin typeface="Malgun Gothic" pitchFamily="34" charset="0"/>
                <a:ea typeface="Malgun Gothic" pitchFamily="34" charset="-122"/>
                <a:cs typeface="Malgun Gothic" pitchFamily="34" charset="-120"/>
              </a:rPr>
              <a:t>매주 월 04:00</a:t>
            </a:r>
            <a:endParaRPr lang="en-US" sz="1300" dirty="0"/>
          </a:p>
        </p:txBody>
      </p:sp>
      <p:sp>
        <p:nvSpPr>
          <p:cNvPr id="21" name="Text 19"/>
          <p:cNvSpPr txBox="1"/>
          <p:nvPr/>
        </p:nvSpPr>
        <p:spPr>
          <a:xfrm>
            <a:off x="868680" y="4261104"/>
            <a:ext cx="2651760" cy="373075"/>
          </a:xfrm>
          <a:prstGeom prst="rect">
            <a:avLst/>
          </a:prstGeom>
          <a:noFill/>
          <a:ln/>
        </p:spPr>
        <p:txBody>
          <a:bodyPr wrap="square" lIns="0" tIns="0" rIns="0" bIns="0" rtlCol="0" anchor="ctr"/>
          <a:lstStyle/>
          <a:p>
            <a:pPr indent="0" marL="0">
              <a:buNone/>
            </a:pPr>
            <a:r>
              <a:rPr lang="en-US" sz="1300" b="1" dirty="0">
                <a:solidFill>
                  <a:srgbClr val="1E2621"/>
                </a:solidFill>
                <a:latin typeface="Malgun Gothic" pitchFamily="34" charset="0"/>
                <a:ea typeface="Malgun Gothic" pitchFamily="34" charset="-122"/>
                <a:cs typeface="Malgun Gothic" pitchFamily="34" charset="-120"/>
              </a:rPr>
              <a:t>체육시설</a:t>
            </a:r>
            <a:endParaRPr lang="en-US" sz="1300" dirty="0"/>
          </a:p>
        </p:txBody>
      </p:sp>
      <p:sp>
        <p:nvSpPr>
          <p:cNvPr id="22" name="Text 20"/>
          <p:cNvSpPr txBox="1"/>
          <p:nvPr/>
        </p:nvSpPr>
        <p:spPr>
          <a:xfrm>
            <a:off x="3291840" y="4261104"/>
            <a:ext cx="2057400" cy="373075"/>
          </a:xfrm>
          <a:prstGeom prst="rect">
            <a:avLst/>
          </a:prstGeom>
          <a:noFill/>
          <a:ln/>
        </p:spPr>
        <p:txBody>
          <a:bodyPr wrap="square" lIns="0" tIns="0" rIns="0" bIns="0" rtlCol="0" anchor="ctr"/>
          <a:lstStyle/>
          <a:p>
            <a:pPr algn="r" indent="0" marL="0">
              <a:buNone/>
            </a:pPr>
            <a:r>
              <a:rPr lang="en-US" sz="1300" b="1" dirty="0">
                <a:solidFill>
                  <a:srgbClr val="2E5A46"/>
                </a:solidFill>
                <a:latin typeface="Malgun Gothic" pitchFamily="34" charset="0"/>
                <a:ea typeface="Malgun Gothic" pitchFamily="34" charset="-122"/>
                <a:cs typeface="Malgun Gothic" pitchFamily="34" charset="-120"/>
              </a:rPr>
              <a:t>매월 1일 04:00</a:t>
            </a:r>
            <a:endParaRPr lang="en-US" sz="1300" dirty="0"/>
          </a:p>
        </p:txBody>
      </p:sp>
      <p:sp>
        <p:nvSpPr>
          <p:cNvPr id="23" name="Shape 21"/>
          <p:cNvSpPr/>
          <p:nvPr/>
        </p:nvSpPr>
        <p:spPr>
          <a:xfrm>
            <a:off x="731520" y="4634179"/>
            <a:ext cx="4754880" cy="373075"/>
          </a:xfrm>
          <a:prstGeom prst="rect">
            <a:avLst/>
          </a:prstGeom>
          <a:solidFill>
            <a:srgbClr val="F4EEE2"/>
          </a:solidFill>
          <a:ln w="12700">
            <a:solidFill>
              <a:srgbClr val="F4EEE2"/>
            </a:solidFill>
            <a:prstDash val="solid"/>
          </a:ln>
        </p:spPr>
      </p:sp>
      <p:sp>
        <p:nvSpPr>
          <p:cNvPr id="24" name="Text 22"/>
          <p:cNvSpPr txBox="1"/>
          <p:nvPr/>
        </p:nvSpPr>
        <p:spPr>
          <a:xfrm>
            <a:off x="868680" y="4634179"/>
            <a:ext cx="2651760" cy="373075"/>
          </a:xfrm>
          <a:prstGeom prst="rect">
            <a:avLst/>
          </a:prstGeom>
          <a:noFill/>
          <a:ln/>
        </p:spPr>
        <p:txBody>
          <a:bodyPr wrap="square" lIns="0" tIns="0" rIns="0" bIns="0" rtlCol="0" anchor="ctr"/>
          <a:lstStyle/>
          <a:p>
            <a:pPr indent="0" marL="0">
              <a:buNone/>
            </a:pPr>
            <a:r>
              <a:rPr lang="en-US" sz="1300" b="1" dirty="0">
                <a:solidFill>
                  <a:srgbClr val="1E2621"/>
                </a:solidFill>
                <a:latin typeface="Malgun Gothic" pitchFamily="34" charset="0"/>
                <a:ea typeface="Malgun Gothic" pitchFamily="34" charset="-122"/>
                <a:cs typeface="Malgun Gothic" pitchFamily="34" charset="-120"/>
              </a:rPr>
              <a:t>공공시설개방</a:t>
            </a:r>
            <a:endParaRPr lang="en-US" sz="1300" dirty="0"/>
          </a:p>
        </p:txBody>
      </p:sp>
      <p:sp>
        <p:nvSpPr>
          <p:cNvPr id="25" name="Text 23"/>
          <p:cNvSpPr txBox="1"/>
          <p:nvPr/>
        </p:nvSpPr>
        <p:spPr>
          <a:xfrm>
            <a:off x="3291840" y="4634179"/>
            <a:ext cx="2057400" cy="373075"/>
          </a:xfrm>
          <a:prstGeom prst="rect">
            <a:avLst/>
          </a:prstGeom>
          <a:noFill/>
          <a:ln/>
        </p:spPr>
        <p:txBody>
          <a:bodyPr wrap="square" lIns="0" tIns="0" rIns="0" bIns="0" rtlCol="0" anchor="ctr"/>
          <a:lstStyle/>
          <a:p>
            <a:pPr algn="r" indent="0" marL="0">
              <a:buNone/>
            </a:pPr>
            <a:r>
              <a:rPr lang="en-US" sz="1300" b="1" dirty="0">
                <a:solidFill>
                  <a:srgbClr val="2E5A46"/>
                </a:solidFill>
                <a:latin typeface="Malgun Gothic" pitchFamily="34" charset="0"/>
                <a:ea typeface="Malgun Gothic" pitchFamily="34" charset="-122"/>
                <a:cs typeface="Malgun Gothic" pitchFamily="34" charset="-120"/>
              </a:rPr>
              <a:t>매월 1일 05:00</a:t>
            </a:r>
            <a:endParaRPr lang="en-US" sz="1300" dirty="0"/>
          </a:p>
        </p:txBody>
      </p:sp>
      <p:sp>
        <p:nvSpPr>
          <p:cNvPr id="26" name="Text 24"/>
          <p:cNvSpPr txBox="1"/>
          <p:nvPr/>
        </p:nvSpPr>
        <p:spPr>
          <a:xfrm>
            <a:off x="868680" y="5007254"/>
            <a:ext cx="2651760" cy="373075"/>
          </a:xfrm>
          <a:prstGeom prst="rect">
            <a:avLst/>
          </a:prstGeom>
          <a:noFill/>
          <a:ln/>
        </p:spPr>
        <p:txBody>
          <a:bodyPr wrap="square" lIns="0" tIns="0" rIns="0" bIns="0" rtlCol="0" anchor="ctr"/>
          <a:lstStyle/>
          <a:p>
            <a:pPr indent="0" marL="0">
              <a:buNone/>
            </a:pPr>
            <a:r>
              <a:rPr lang="en-US" sz="1300" b="1" dirty="0">
                <a:solidFill>
                  <a:srgbClr val="1E2621"/>
                </a:solidFill>
                <a:latin typeface="Malgun Gothic" pitchFamily="34" charset="0"/>
                <a:ea typeface="Malgun Gothic" pitchFamily="34" charset="-122"/>
                <a:cs typeface="Malgun Gothic" pitchFamily="34" charset="-120"/>
              </a:rPr>
              <a:t>AED</a:t>
            </a:r>
            <a:endParaRPr lang="en-US" sz="1300" dirty="0"/>
          </a:p>
        </p:txBody>
      </p:sp>
      <p:sp>
        <p:nvSpPr>
          <p:cNvPr id="27" name="Text 25"/>
          <p:cNvSpPr txBox="1"/>
          <p:nvPr/>
        </p:nvSpPr>
        <p:spPr>
          <a:xfrm>
            <a:off x="3291840" y="5007254"/>
            <a:ext cx="2057400" cy="373075"/>
          </a:xfrm>
          <a:prstGeom prst="rect">
            <a:avLst/>
          </a:prstGeom>
          <a:noFill/>
          <a:ln/>
        </p:spPr>
        <p:txBody>
          <a:bodyPr wrap="square" lIns="0" tIns="0" rIns="0" bIns="0" rtlCol="0" anchor="ctr"/>
          <a:lstStyle/>
          <a:p>
            <a:pPr algn="r" indent="0" marL="0">
              <a:buNone/>
            </a:pPr>
            <a:r>
              <a:rPr lang="en-US" sz="1300" b="1" dirty="0">
                <a:solidFill>
                  <a:srgbClr val="2E5A46"/>
                </a:solidFill>
                <a:latin typeface="Malgun Gothic" pitchFamily="34" charset="0"/>
                <a:ea typeface="Malgun Gothic" pitchFamily="34" charset="-122"/>
                <a:cs typeface="Malgun Gothic" pitchFamily="34" charset="-120"/>
              </a:rPr>
              <a:t>매월 2일 03:00</a:t>
            </a:r>
            <a:endParaRPr lang="en-US" sz="1300" dirty="0"/>
          </a:p>
        </p:txBody>
      </p:sp>
      <p:sp>
        <p:nvSpPr>
          <p:cNvPr id="28" name="Shape 26"/>
          <p:cNvSpPr/>
          <p:nvPr/>
        </p:nvSpPr>
        <p:spPr>
          <a:xfrm>
            <a:off x="731520" y="5380330"/>
            <a:ext cx="4754880" cy="373075"/>
          </a:xfrm>
          <a:prstGeom prst="rect">
            <a:avLst/>
          </a:prstGeom>
          <a:solidFill>
            <a:srgbClr val="F4EEE2"/>
          </a:solidFill>
          <a:ln w="12700">
            <a:solidFill>
              <a:srgbClr val="F4EEE2"/>
            </a:solidFill>
            <a:prstDash val="solid"/>
          </a:ln>
        </p:spPr>
      </p:sp>
      <p:sp>
        <p:nvSpPr>
          <p:cNvPr id="29" name="Text 27"/>
          <p:cNvSpPr txBox="1"/>
          <p:nvPr/>
        </p:nvSpPr>
        <p:spPr>
          <a:xfrm>
            <a:off x="868680" y="5380330"/>
            <a:ext cx="2651760" cy="373075"/>
          </a:xfrm>
          <a:prstGeom prst="rect">
            <a:avLst/>
          </a:prstGeom>
          <a:noFill/>
          <a:ln/>
        </p:spPr>
        <p:txBody>
          <a:bodyPr wrap="square" lIns="0" tIns="0" rIns="0" bIns="0" rtlCol="0" anchor="ctr"/>
          <a:lstStyle/>
          <a:p>
            <a:pPr indent="0" marL="0">
              <a:buNone/>
            </a:pPr>
            <a:r>
              <a:rPr lang="en-US" sz="1300" b="1" dirty="0">
                <a:solidFill>
                  <a:srgbClr val="1E2621"/>
                </a:solidFill>
                <a:latin typeface="Malgun Gothic" pitchFamily="34" charset="0"/>
                <a:ea typeface="Malgun Gothic" pitchFamily="34" charset="-122"/>
                <a:cs typeface="Malgun Gothic" pitchFamily="34" charset="-120"/>
              </a:rPr>
              <a:t>자전거 사고다발지역</a:t>
            </a:r>
            <a:endParaRPr lang="en-US" sz="1300" dirty="0"/>
          </a:p>
        </p:txBody>
      </p:sp>
      <p:sp>
        <p:nvSpPr>
          <p:cNvPr id="30" name="Text 28"/>
          <p:cNvSpPr txBox="1"/>
          <p:nvPr/>
        </p:nvSpPr>
        <p:spPr>
          <a:xfrm>
            <a:off x="3291840" y="5380330"/>
            <a:ext cx="2057400" cy="373075"/>
          </a:xfrm>
          <a:prstGeom prst="rect">
            <a:avLst/>
          </a:prstGeom>
          <a:noFill/>
          <a:ln/>
        </p:spPr>
        <p:txBody>
          <a:bodyPr wrap="square" lIns="0" tIns="0" rIns="0" bIns="0" rtlCol="0" anchor="ctr"/>
          <a:lstStyle/>
          <a:p>
            <a:pPr algn="r" indent="0" marL="0">
              <a:buNone/>
            </a:pPr>
            <a:r>
              <a:rPr lang="en-US" sz="1300" b="1" dirty="0">
                <a:solidFill>
                  <a:srgbClr val="2E5A46"/>
                </a:solidFill>
                <a:latin typeface="Malgun Gothic" pitchFamily="34" charset="0"/>
                <a:ea typeface="Malgun Gothic" pitchFamily="34" charset="-122"/>
                <a:cs typeface="Malgun Gothic" pitchFamily="34" charset="-120"/>
              </a:rPr>
              <a:t>매월 3일 02:00</a:t>
            </a:r>
            <a:endParaRPr lang="en-US" sz="1300" dirty="0"/>
          </a:p>
        </p:txBody>
      </p:sp>
      <p:sp>
        <p:nvSpPr>
          <p:cNvPr id="31" name="Text 29"/>
          <p:cNvSpPr txBox="1"/>
          <p:nvPr/>
        </p:nvSpPr>
        <p:spPr>
          <a:xfrm>
            <a:off x="868680" y="5753405"/>
            <a:ext cx="2651760" cy="373075"/>
          </a:xfrm>
          <a:prstGeom prst="rect">
            <a:avLst/>
          </a:prstGeom>
          <a:noFill/>
          <a:ln/>
        </p:spPr>
        <p:txBody>
          <a:bodyPr wrap="square" lIns="0" tIns="0" rIns="0" bIns="0" rtlCol="0" anchor="ctr"/>
          <a:lstStyle/>
          <a:p>
            <a:pPr indent="0" marL="0">
              <a:buNone/>
            </a:pPr>
            <a:r>
              <a:rPr lang="en-US" sz="1300" b="1" dirty="0">
                <a:solidFill>
                  <a:srgbClr val="1E2621"/>
                </a:solidFill>
                <a:latin typeface="Malgun Gothic" pitchFamily="34" charset="0"/>
                <a:ea typeface="Malgun Gothic" pitchFamily="34" charset="-122"/>
                <a:cs typeface="Malgun Gothic" pitchFamily="34" charset="-120"/>
              </a:rPr>
              <a:t>문화빅데이터</a:t>
            </a:r>
            <a:endParaRPr lang="en-US" sz="1300" dirty="0"/>
          </a:p>
        </p:txBody>
      </p:sp>
      <p:sp>
        <p:nvSpPr>
          <p:cNvPr id="32" name="Text 30"/>
          <p:cNvSpPr txBox="1"/>
          <p:nvPr/>
        </p:nvSpPr>
        <p:spPr>
          <a:xfrm>
            <a:off x="3291840" y="5753405"/>
            <a:ext cx="2057400" cy="373075"/>
          </a:xfrm>
          <a:prstGeom prst="rect">
            <a:avLst/>
          </a:prstGeom>
          <a:noFill/>
          <a:ln/>
        </p:spPr>
        <p:txBody>
          <a:bodyPr wrap="square" lIns="0" tIns="0" rIns="0" bIns="0" rtlCol="0" anchor="ctr"/>
          <a:lstStyle/>
          <a:p>
            <a:pPr algn="r" indent="0" marL="0">
              <a:buNone/>
            </a:pPr>
            <a:r>
              <a:rPr lang="en-US" sz="1300" b="1" dirty="0">
                <a:solidFill>
                  <a:srgbClr val="2E5A46"/>
                </a:solidFill>
                <a:latin typeface="Malgun Gothic" pitchFamily="34" charset="0"/>
                <a:ea typeface="Malgun Gothic" pitchFamily="34" charset="-122"/>
                <a:cs typeface="Malgun Gothic" pitchFamily="34" charset="-120"/>
              </a:rPr>
              <a:t>매월 1일 07:00</a:t>
            </a:r>
            <a:endParaRPr lang="en-US" sz="1300" dirty="0"/>
          </a:p>
        </p:txBody>
      </p:sp>
      <p:sp>
        <p:nvSpPr>
          <p:cNvPr id="33" name="Shape 31"/>
          <p:cNvSpPr/>
          <p:nvPr/>
        </p:nvSpPr>
        <p:spPr>
          <a:xfrm>
            <a:off x="5897880" y="1783080"/>
            <a:ext cx="5742432" cy="2103120"/>
          </a:xfrm>
          <a:prstGeom prst="roundRect">
            <a:avLst>
              <a:gd name="adj" fmla="val 6087"/>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34" name="Shape 32"/>
          <p:cNvSpPr/>
          <p:nvPr/>
        </p:nvSpPr>
        <p:spPr>
          <a:xfrm>
            <a:off x="6080760" y="1920240"/>
            <a:ext cx="457200" cy="457200"/>
          </a:xfrm>
          <a:prstGeom prst="ellipse">
            <a:avLst/>
          </a:prstGeom>
          <a:solidFill>
            <a:srgbClr val="2E5A46"/>
          </a:solidFill>
          <a:ln w="12700">
            <a:solidFill>
              <a:srgbClr val="2E5A46"/>
            </a:solidFill>
            <a:prstDash val="solid"/>
          </a:ln>
        </p:spPr>
      </p:sp>
      <p:pic>
        <p:nvPicPr>
          <p:cNvPr id="35" name="Image 0" descr="preencoded.png">    </p:cNvPr>
          <p:cNvPicPr>
            <a:picLocks noChangeAspect="1"/>
          </p:cNvPicPr>
          <p:nvPr/>
        </p:nvPicPr>
        <p:blipFill>
          <a:blip r:embed="rId1"/>
          <a:stretch>
            <a:fillRect/>
          </a:stretch>
        </p:blipFill>
        <p:spPr>
          <a:xfrm>
            <a:off x="6199632" y="2039112"/>
            <a:ext cx="219456" cy="219456"/>
          </a:xfrm>
          <a:prstGeom prst="rect">
            <a:avLst/>
          </a:prstGeom>
        </p:spPr>
      </p:pic>
      <p:sp>
        <p:nvSpPr>
          <p:cNvPr id="36" name="Text 33"/>
          <p:cNvSpPr txBox="1"/>
          <p:nvPr/>
        </p:nvSpPr>
        <p:spPr>
          <a:xfrm>
            <a:off x="6656832" y="1920240"/>
            <a:ext cx="4754880" cy="457200"/>
          </a:xfrm>
          <a:prstGeom prst="rect">
            <a:avLst/>
          </a:prstGeom>
          <a:noFill/>
          <a:ln/>
        </p:spPr>
        <p:txBody>
          <a:bodyPr wrap="square" lIns="0" tIns="0" rIns="0" bIns="0" rtlCol="0" anchor="ctr"/>
          <a:lstStyle/>
          <a:p>
            <a:pPr indent="0" marL="0">
              <a:buNone/>
            </a:pPr>
            <a:r>
              <a:rPr lang="en-US" sz="1700" b="1" dirty="0">
                <a:solidFill>
                  <a:srgbClr val="1E2621"/>
                </a:solidFill>
                <a:latin typeface="Malgun Gothic" pitchFamily="34" charset="0"/>
                <a:ea typeface="Malgun Gothic" pitchFamily="34" charset="-122"/>
                <a:cs typeface="Malgun Gothic" pitchFamily="34" charset="-120"/>
              </a:rPr>
              <a:t>스케줄링 · 자동화</a:t>
            </a:r>
            <a:endParaRPr lang="en-US" sz="1700" dirty="0"/>
          </a:p>
        </p:txBody>
      </p:sp>
      <p:sp>
        <p:nvSpPr>
          <p:cNvPr id="37" name="Text 34"/>
          <p:cNvSpPr txBox="1"/>
          <p:nvPr/>
        </p:nvSpPr>
        <p:spPr>
          <a:xfrm>
            <a:off x="6126480" y="2450592"/>
            <a:ext cx="5394960" cy="292608"/>
          </a:xfrm>
          <a:prstGeom prst="rect">
            <a:avLst/>
          </a:prstGeom>
          <a:noFill/>
          <a:ln/>
        </p:spPr>
        <p:txBody>
          <a:bodyPr wrap="square" lIns="0" tIns="0" rIns="0" bIns="0" rtlCol="0" anchor="t"/>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데이터셋별 갱신 주기에 따라 수집부터 적재까지 자동 실행</a:t>
            </a:r>
            <a:endParaRPr lang="en-US" sz="1200" dirty="0"/>
          </a:p>
        </p:txBody>
      </p:sp>
      <p:sp>
        <p:nvSpPr>
          <p:cNvPr id="38" name="Shape 35"/>
          <p:cNvSpPr/>
          <p:nvPr/>
        </p:nvSpPr>
        <p:spPr>
          <a:xfrm>
            <a:off x="6126480" y="2834640"/>
            <a:ext cx="1463040" cy="420624"/>
          </a:xfrm>
          <a:prstGeom prst="roundRect">
            <a:avLst>
              <a:gd name="adj" fmla="val 21739"/>
            </a:avLst>
          </a:prstGeom>
          <a:solidFill>
            <a:srgbClr val="2E5A46"/>
          </a:solidFill>
          <a:ln w="12700">
            <a:solidFill>
              <a:srgbClr val="2E5A46"/>
            </a:solidFill>
            <a:prstDash val="solid"/>
          </a:ln>
        </p:spPr>
      </p:sp>
      <p:sp>
        <p:nvSpPr>
          <p:cNvPr id="39" name="Text 36"/>
          <p:cNvSpPr txBox="1"/>
          <p:nvPr/>
        </p:nvSpPr>
        <p:spPr>
          <a:xfrm>
            <a:off x="6163056" y="2834640"/>
            <a:ext cx="1389888"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APScheduler</a:t>
            </a:r>
            <a:endParaRPr lang="en-US" sz="1250" dirty="0"/>
          </a:p>
        </p:txBody>
      </p:sp>
      <p:sp>
        <p:nvSpPr>
          <p:cNvPr id="40" name="Text 37"/>
          <p:cNvSpPr txBox="1"/>
          <p:nvPr/>
        </p:nvSpPr>
        <p:spPr>
          <a:xfrm>
            <a:off x="7607808" y="2816352"/>
            <a:ext cx="219456" cy="457200"/>
          </a:xfrm>
          <a:prstGeom prst="rect">
            <a:avLst/>
          </a:prstGeom>
          <a:noFill/>
          <a:ln/>
        </p:spPr>
        <p:txBody>
          <a:bodyPr wrap="square" lIns="0" tIns="0" rIns="0" bIns="0" rtlCol="0" anchor="ctr"/>
          <a:lstStyle/>
          <a:p>
            <a:pPr algn="ctr" indent="0" marL="0">
              <a:buNone/>
            </a:pPr>
            <a:r>
              <a:rPr lang="en-US" sz="1500" b="1" dirty="0">
                <a:solidFill>
                  <a:srgbClr val="B5654A"/>
                </a:solidFill>
                <a:latin typeface="Malgun Gothic" pitchFamily="34" charset="0"/>
                <a:ea typeface="Malgun Gothic" pitchFamily="34" charset="-122"/>
                <a:cs typeface="Malgun Gothic" pitchFamily="34" charset="-120"/>
              </a:rPr>
              <a:t>→</a:t>
            </a:r>
            <a:endParaRPr lang="en-US" sz="1500" dirty="0"/>
          </a:p>
        </p:txBody>
      </p:sp>
      <p:sp>
        <p:nvSpPr>
          <p:cNvPr id="41" name="Shape 38"/>
          <p:cNvSpPr/>
          <p:nvPr/>
        </p:nvSpPr>
        <p:spPr>
          <a:xfrm>
            <a:off x="7845552" y="2834640"/>
            <a:ext cx="1828800" cy="420624"/>
          </a:xfrm>
          <a:prstGeom prst="roundRect">
            <a:avLst>
              <a:gd name="adj" fmla="val 21739"/>
            </a:avLst>
          </a:prstGeom>
          <a:solidFill>
            <a:srgbClr val="2E5A46"/>
          </a:solidFill>
          <a:ln w="12700">
            <a:solidFill>
              <a:srgbClr val="2E5A46"/>
            </a:solidFill>
            <a:prstDash val="solid"/>
          </a:ln>
        </p:spPr>
      </p:sp>
      <p:sp>
        <p:nvSpPr>
          <p:cNvPr id="42" name="Text 39"/>
          <p:cNvSpPr txBox="1"/>
          <p:nvPr/>
        </p:nvSpPr>
        <p:spPr>
          <a:xfrm>
            <a:off x="7882128" y="2834640"/>
            <a:ext cx="1755648"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데이터셋별 Job 실행</a:t>
            </a:r>
            <a:endParaRPr lang="en-US" sz="1250" dirty="0"/>
          </a:p>
        </p:txBody>
      </p:sp>
      <p:sp>
        <p:nvSpPr>
          <p:cNvPr id="43" name="Text 40"/>
          <p:cNvSpPr txBox="1"/>
          <p:nvPr/>
        </p:nvSpPr>
        <p:spPr>
          <a:xfrm>
            <a:off x="9692640" y="2816352"/>
            <a:ext cx="219456" cy="457200"/>
          </a:xfrm>
          <a:prstGeom prst="rect">
            <a:avLst/>
          </a:prstGeom>
          <a:noFill/>
          <a:ln/>
        </p:spPr>
        <p:txBody>
          <a:bodyPr wrap="square" lIns="0" tIns="0" rIns="0" bIns="0" rtlCol="0" anchor="ctr"/>
          <a:lstStyle/>
          <a:p>
            <a:pPr algn="ctr" indent="0" marL="0">
              <a:buNone/>
            </a:pPr>
            <a:r>
              <a:rPr lang="en-US" sz="1500" b="1" dirty="0">
                <a:solidFill>
                  <a:srgbClr val="B5654A"/>
                </a:solidFill>
                <a:latin typeface="Malgun Gothic" pitchFamily="34" charset="0"/>
                <a:ea typeface="Malgun Gothic" pitchFamily="34" charset="-122"/>
                <a:cs typeface="Malgun Gothic" pitchFamily="34" charset="-120"/>
              </a:rPr>
              <a:t>→</a:t>
            </a:r>
            <a:endParaRPr lang="en-US" sz="1500" dirty="0"/>
          </a:p>
        </p:txBody>
      </p:sp>
      <p:sp>
        <p:nvSpPr>
          <p:cNvPr id="44" name="Shape 41"/>
          <p:cNvSpPr/>
          <p:nvPr/>
        </p:nvSpPr>
        <p:spPr>
          <a:xfrm>
            <a:off x="9930384" y="2834640"/>
            <a:ext cx="1481328" cy="420624"/>
          </a:xfrm>
          <a:prstGeom prst="roundRect">
            <a:avLst>
              <a:gd name="adj" fmla="val 21739"/>
            </a:avLst>
          </a:prstGeom>
          <a:solidFill>
            <a:srgbClr val="B5654A"/>
          </a:solidFill>
          <a:ln w="12700">
            <a:solidFill>
              <a:srgbClr val="B5654A"/>
            </a:solidFill>
            <a:prstDash val="solid"/>
          </a:ln>
        </p:spPr>
      </p:sp>
      <p:sp>
        <p:nvSpPr>
          <p:cNvPr id="45" name="Text 42"/>
          <p:cNvSpPr txBox="1"/>
          <p:nvPr/>
        </p:nvSpPr>
        <p:spPr>
          <a:xfrm>
            <a:off x="9966960" y="2834640"/>
            <a:ext cx="1408176"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주기마다 반복</a:t>
            </a:r>
            <a:endParaRPr lang="en-US" sz="1250" dirty="0"/>
          </a:p>
        </p:txBody>
      </p:sp>
      <p:sp>
        <p:nvSpPr>
          <p:cNvPr id="46" name="Shape 43"/>
          <p:cNvSpPr/>
          <p:nvPr/>
        </p:nvSpPr>
        <p:spPr>
          <a:xfrm>
            <a:off x="6126480" y="3346704"/>
            <a:ext cx="5285232" cy="402336"/>
          </a:xfrm>
          <a:prstGeom prst="roundRect">
            <a:avLst>
              <a:gd name="adj" fmla="val 22727"/>
            </a:avLst>
          </a:prstGeom>
          <a:solidFill>
            <a:srgbClr val="EADFCB"/>
          </a:solidFill>
          <a:ln w="12700">
            <a:solidFill>
              <a:srgbClr val="EADFCB"/>
            </a:solidFill>
            <a:prstDash val="solid"/>
          </a:ln>
        </p:spPr>
      </p:sp>
      <p:sp>
        <p:nvSpPr>
          <p:cNvPr id="47" name="Text 44"/>
          <p:cNvSpPr txBox="1"/>
          <p:nvPr/>
        </p:nvSpPr>
        <p:spPr>
          <a:xfrm>
            <a:off x="6163056" y="3346704"/>
            <a:ext cx="5212080" cy="402336"/>
          </a:xfrm>
          <a:prstGeom prst="rect">
            <a:avLst/>
          </a:prstGeom>
          <a:noFill/>
          <a:ln/>
        </p:spPr>
        <p:txBody>
          <a:bodyPr wrap="square" lIns="0" tIns="0" rIns="0" bIns="0" rtlCol="0" anchor="ctr"/>
          <a:lstStyle/>
          <a:p>
            <a:pPr algn="ctr" indent="0" marL="0">
              <a:buNone/>
            </a:pPr>
            <a:r>
              <a:rPr lang="en-US" sz="1250" b="1" dirty="0">
                <a:solidFill>
                  <a:srgbClr val="1E2621"/>
                </a:solidFill>
                <a:latin typeface="Malgun Gothic" pitchFamily="34" charset="0"/>
                <a:ea typeface="Malgun Gothic" pitchFamily="34" charset="-122"/>
                <a:cs typeface="Malgun Gothic" pitchFamily="34" charset="-120"/>
              </a:rPr>
              <a:t>수집  →  RAW  →  정제 · DQ  →  PROCESSED</a:t>
            </a:r>
            <a:endParaRPr lang="en-US" sz="1250" dirty="0"/>
          </a:p>
        </p:txBody>
      </p:sp>
      <p:sp>
        <p:nvSpPr>
          <p:cNvPr id="48" name="Shape 45"/>
          <p:cNvSpPr/>
          <p:nvPr/>
        </p:nvSpPr>
        <p:spPr>
          <a:xfrm>
            <a:off x="5897880" y="4069080"/>
            <a:ext cx="5742432" cy="2194560"/>
          </a:xfrm>
          <a:prstGeom prst="roundRect">
            <a:avLst>
              <a:gd name="adj" fmla="val 5833"/>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49" name="Shape 46"/>
          <p:cNvSpPr/>
          <p:nvPr/>
        </p:nvSpPr>
        <p:spPr>
          <a:xfrm>
            <a:off x="6080760" y="4206240"/>
            <a:ext cx="457200" cy="457200"/>
          </a:xfrm>
          <a:prstGeom prst="ellipse">
            <a:avLst/>
          </a:prstGeom>
          <a:solidFill>
            <a:srgbClr val="4F7A9A"/>
          </a:solidFill>
          <a:ln w="12700">
            <a:solidFill>
              <a:srgbClr val="4F7A9A"/>
            </a:solidFill>
            <a:prstDash val="solid"/>
          </a:ln>
        </p:spPr>
      </p:sp>
      <p:pic>
        <p:nvPicPr>
          <p:cNvPr id="50" name="Image 1" descr="preencoded.png">    </p:cNvPr>
          <p:cNvPicPr>
            <a:picLocks noChangeAspect="1"/>
          </p:cNvPicPr>
          <p:nvPr/>
        </p:nvPicPr>
        <p:blipFill>
          <a:blip r:embed="rId2"/>
          <a:stretch>
            <a:fillRect/>
          </a:stretch>
        </p:blipFill>
        <p:spPr>
          <a:xfrm>
            <a:off x="6199632" y="4325112"/>
            <a:ext cx="219456" cy="219456"/>
          </a:xfrm>
          <a:prstGeom prst="rect">
            <a:avLst/>
          </a:prstGeom>
        </p:spPr>
      </p:pic>
      <p:sp>
        <p:nvSpPr>
          <p:cNvPr id="51" name="Text 47"/>
          <p:cNvSpPr txBox="1"/>
          <p:nvPr/>
        </p:nvSpPr>
        <p:spPr>
          <a:xfrm>
            <a:off x="6656832" y="4206240"/>
            <a:ext cx="4754880" cy="457200"/>
          </a:xfrm>
          <a:prstGeom prst="rect">
            <a:avLst/>
          </a:prstGeom>
          <a:noFill/>
          <a:ln/>
        </p:spPr>
        <p:txBody>
          <a:bodyPr wrap="square" lIns="0" tIns="0" rIns="0" bIns="0" rtlCol="0" anchor="ctr"/>
          <a:lstStyle/>
          <a:p>
            <a:pPr indent="0" marL="0">
              <a:buNone/>
            </a:pPr>
            <a:r>
              <a:rPr lang="en-US" sz="1700" b="1" dirty="0">
                <a:solidFill>
                  <a:srgbClr val="1E2621"/>
                </a:solidFill>
                <a:latin typeface="Malgun Gothic" pitchFamily="34" charset="0"/>
                <a:ea typeface="Malgun Gothic" pitchFamily="34" charset="-122"/>
                <a:cs typeface="Malgun Gothic" pitchFamily="34" charset="-120"/>
              </a:rPr>
              <a:t>모니터링 · 알림</a:t>
            </a:r>
            <a:endParaRPr lang="en-US" sz="1700" dirty="0"/>
          </a:p>
        </p:txBody>
      </p:sp>
      <p:sp>
        <p:nvSpPr>
          <p:cNvPr id="52" name="Text 48"/>
          <p:cNvSpPr txBox="1"/>
          <p:nvPr/>
        </p:nvSpPr>
        <p:spPr>
          <a:xfrm>
            <a:off x="6126480" y="4736592"/>
            <a:ext cx="5394960" cy="292608"/>
          </a:xfrm>
          <a:prstGeom prst="rect">
            <a:avLst/>
          </a:prstGeom>
          <a:noFill/>
          <a:ln/>
        </p:spPr>
        <p:txBody>
          <a:bodyPr wrap="square" lIns="0" tIns="0" rIns="0" bIns="0" rtlCol="0" anchor="t"/>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실행 결과와 DQ 상태를 기록하고, 실패 · 이상은 팀 채널로 즉시 알림</a:t>
            </a:r>
            <a:endParaRPr lang="en-US" sz="1200" dirty="0"/>
          </a:p>
        </p:txBody>
      </p:sp>
      <p:sp>
        <p:nvSpPr>
          <p:cNvPr id="53" name="Shape 49"/>
          <p:cNvSpPr/>
          <p:nvPr/>
        </p:nvSpPr>
        <p:spPr>
          <a:xfrm>
            <a:off x="6126480" y="5138928"/>
            <a:ext cx="1143000" cy="868680"/>
          </a:xfrm>
          <a:prstGeom prst="roundRect">
            <a:avLst>
              <a:gd name="adj" fmla="val 10526"/>
            </a:avLst>
          </a:prstGeom>
          <a:solidFill>
            <a:srgbClr val="EADFCB"/>
          </a:solidFill>
          <a:ln w="12700">
            <a:solidFill>
              <a:srgbClr val="EADFCB"/>
            </a:solidFill>
            <a:prstDash val="solid"/>
          </a:ln>
        </p:spPr>
      </p:sp>
      <p:sp>
        <p:nvSpPr>
          <p:cNvPr id="54" name="Text 50"/>
          <p:cNvSpPr txBox="1"/>
          <p:nvPr/>
        </p:nvSpPr>
        <p:spPr>
          <a:xfrm>
            <a:off x="6163056" y="5138928"/>
            <a:ext cx="1069848" cy="868680"/>
          </a:xfrm>
          <a:prstGeom prst="rect">
            <a:avLst/>
          </a:prstGeom>
          <a:noFill/>
          <a:ln/>
        </p:spPr>
        <p:txBody>
          <a:bodyPr wrap="square" lIns="0" tIns="0" rIns="0" bIns="0" rtlCol="0" anchor="ctr"/>
          <a:lstStyle/>
          <a:p>
            <a:pPr algn="ctr" indent="0" marL="0">
              <a:buNone/>
            </a:pPr>
            <a:r>
              <a:rPr lang="en-US" sz="1100" b="1" dirty="0">
                <a:solidFill>
                  <a:srgbClr val="1E2621"/>
                </a:solidFill>
                <a:latin typeface="Malgun Gothic" pitchFamily="34" charset="0"/>
                <a:ea typeface="Malgun Gothic" pitchFamily="34" charset="-122"/>
                <a:cs typeface="Malgun Gothic" pitchFamily="34" charset="-120"/>
              </a:rPr>
              <a:t>실행 결과</a:t>
            </a:r>
            <a:endParaRPr lang="en-US" sz="1100" dirty="0"/>
          </a:p>
          <a:p>
            <a:pPr algn="ctr" indent="0" marL="0">
              <a:buNone/>
            </a:pPr>
            <a:r>
              <a:rPr lang="en-US" sz="1100" b="1" dirty="0">
                <a:solidFill>
                  <a:srgbClr val="1E2621"/>
                </a:solidFill>
                <a:latin typeface="Malgun Gothic" pitchFamily="34" charset="0"/>
                <a:ea typeface="Malgun Gothic" pitchFamily="34" charset="-122"/>
                <a:cs typeface="Malgun Gothic" pitchFamily="34" charset="-120"/>
              </a:rPr>
              <a:t>DQ 결과</a:t>
            </a:r>
            <a:endParaRPr lang="en-US" sz="1100" dirty="0"/>
          </a:p>
        </p:txBody>
      </p:sp>
      <p:sp>
        <p:nvSpPr>
          <p:cNvPr id="55" name="Text 51"/>
          <p:cNvSpPr txBox="1"/>
          <p:nvPr/>
        </p:nvSpPr>
        <p:spPr>
          <a:xfrm>
            <a:off x="7260336" y="5340096"/>
            <a:ext cx="219456" cy="457200"/>
          </a:xfrm>
          <a:prstGeom prst="rect">
            <a:avLst/>
          </a:prstGeom>
          <a:noFill/>
          <a:ln/>
        </p:spPr>
        <p:txBody>
          <a:bodyPr wrap="square" lIns="0" tIns="0" rIns="0" bIns="0" rtlCol="0" anchor="ctr"/>
          <a:lstStyle/>
          <a:p>
            <a:pPr algn="ctr" indent="0" marL="0">
              <a:buNone/>
            </a:pPr>
            <a:r>
              <a:rPr lang="en-US" sz="1500" b="1" dirty="0">
                <a:solidFill>
                  <a:srgbClr val="B5654A"/>
                </a:solidFill>
                <a:latin typeface="Malgun Gothic" pitchFamily="34" charset="0"/>
                <a:ea typeface="Malgun Gothic" pitchFamily="34" charset="-122"/>
                <a:cs typeface="Malgun Gothic" pitchFamily="34" charset="-120"/>
              </a:rPr>
              <a:t>→</a:t>
            </a:r>
            <a:endParaRPr lang="en-US" sz="1500" dirty="0"/>
          </a:p>
        </p:txBody>
      </p:sp>
      <p:sp>
        <p:nvSpPr>
          <p:cNvPr id="56" name="Shape 52"/>
          <p:cNvSpPr/>
          <p:nvPr/>
        </p:nvSpPr>
        <p:spPr>
          <a:xfrm>
            <a:off x="7470648" y="5138928"/>
            <a:ext cx="1143000" cy="868680"/>
          </a:xfrm>
          <a:prstGeom prst="roundRect">
            <a:avLst>
              <a:gd name="adj" fmla="val 10526"/>
            </a:avLst>
          </a:prstGeom>
          <a:solidFill>
            <a:srgbClr val="2E5A46"/>
          </a:solidFill>
          <a:ln w="12700">
            <a:solidFill>
              <a:srgbClr val="2E5A46"/>
            </a:solidFill>
            <a:prstDash val="solid"/>
          </a:ln>
        </p:spPr>
      </p:sp>
      <p:sp>
        <p:nvSpPr>
          <p:cNvPr id="57" name="Text 53"/>
          <p:cNvSpPr txBox="1"/>
          <p:nvPr/>
        </p:nvSpPr>
        <p:spPr>
          <a:xfrm>
            <a:off x="7507224" y="5138928"/>
            <a:ext cx="1069848"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로그 ·</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실행 이력 DB</a:t>
            </a:r>
            <a:endParaRPr lang="en-US" sz="1100" dirty="0"/>
          </a:p>
        </p:txBody>
      </p:sp>
      <p:sp>
        <p:nvSpPr>
          <p:cNvPr id="58" name="Text 54"/>
          <p:cNvSpPr txBox="1"/>
          <p:nvPr/>
        </p:nvSpPr>
        <p:spPr>
          <a:xfrm>
            <a:off x="8604504" y="5340096"/>
            <a:ext cx="219456" cy="457200"/>
          </a:xfrm>
          <a:prstGeom prst="rect">
            <a:avLst/>
          </a:prstGeom>
          <a:noFill/>
          <a:ln/>
        </p:spPr>
        <p:txBody>
          <a:bodyPr wrap="square" lIns="0" tIns="0" rIns="0" bIns="0" rtlCol="0" anchor="ctr"/>
          <a:lstStyle/>
          <a:p>
            <a:pPr algn="ctr" indent="0" marL="0">
              <a:buNone/>
            </a:pPr>
            <a:r>
              <a:rPr lang="en-US" sz="1500" b="1" dirty="0">
                <a:solidFill>
                  <a:srgbClr val="B5654A"/>
                </a:solidFill>
                <a:latin typeface="Malgun Gothic" pitchFamily="34" charset="0"/>
                <a:ea typeface="Malgun Gothic" pitchFamily="34" charset="-122"/>
                <a:cs typeface="Malgun Gothic" pitchFamily="34" charset="-120"/>
              </a:rPr>
              <a:t>→</a:t>
            </a:r>
            <a:endParaRPr lang="en-US" sz="1500" dirty="0"/>
          </a:p>
        </p:txBody>
      </p:sp>
      <p:sp>
        <p:nvSpPr>
          <p:cNvPr id="59" name="Shape 55"/>
          <p:cNvSpPr/>
          <p:nvPr/>
        </p:nvSpPr>
        <p:spPr>
          <a:xfrm>
            <a:off x="8814816" y="5138928"/>
            <a:ext cx="1143000" cy="868680"/>
          </a:xfrm>
          <a:prstGeom prst="roundRect">
            <a:avLst>
              <a:gd name="adj" fmla="val 10526"/>
            </a:avLst>
          </a:prstGeom>
          <a:solidFill>
            <a:srgbClr val="EADFCB"/>
          </a:solidFill>
          <a:ln w="12700">
            <a:solidFill>
              <a:srgbClr val="EADFCB"/>
            </a:solidFill>
            <a:prstDash val="solid"/>
          </a:ln>
        </p:spPr>
      </p:sp>
      <p:sp>
        <p:nvSpPr>
          <p:cNvPr id="60" name="Text 56"/>
          <p:cNvSpPr txBox="1"/>
          <p:nvPr/>
        </p:nvSpPr>
        <p:spPr>
          <a:xfrm>
            <a:off x="8851392" y="5138928"/>
            <a:ext cx="1069848" cy="868680"/>
          </a:xfrm>
          <a:prstGeom prst="rect">
            <a:avLst/>
          </a:prstGeom>
          <a:noFill/>
          <a:ln/>
        </p:spPr>
        <p:txBody>
          <a:bodyPr wrap="square" lIns="0" tIns="0" rIns="0" bIns="0" rtlCol="0" anchor="ctr"/>
          <a:lstStyle/>
          <a:p>
            <a:pPr algn="ctr" indent="0" marL="0">
              <a:buNone/>
            </a:pPr>
            <a:r>
              <a:rPr lang="en-US" sz="1100" b="1" dirty="0">
                <a:solidFill>
                  <a:srgbClr val="1E2621"/>
                </a:solidFill>
                <a:latin typeface="Malgun Gothic" pitchFamily="34" charset="0"/>
                <a:ea typeface="Malgun Gothic" pitchFamily="34" charset="-122"/>
                <a:cs typeface="Malgun Gothic" pitchFamily="34" charset="-120"/>
              </a:rPr>
              <a:t>실패 · 이상</a:t>
            </a:r>
            <a:endParaRPr lang="en-US" sz="1100" dirty="0"/>
          </a:p>
          <a:p>
            <a:pPr algn="ctr" indent="0" marL="0">
              <a:buNone/>
            </a:pPr>
            <a:r>
              <a:rPr lang="en-US" sz="1100" b="1" dirty="0">
                <a:solidFill>
                  <a:srgbClr val="1E2621"/>
                </a:solidFill>
                <a:latin typeface="Malgun Gothic" pitchFamily="34" charset="0"/>
                <a:ea typeface="Malgun Gothic" pitchFamily="34" charset="-122"/>
                <a:cs typeface="Malgun Gothic" pitchFamily="34" charset="-120"/>
              </a:rPr>
              <a:t>여부 확인</a:t>
            </a:r>
            <a:endParaRPr lang="en-US" sz="1100" dirty="0"/>
          </a:p>
        </p:txBody>
      </p:sp>
      <p:sp>
        <p:nvSpPr>
          <p:cNvPr id="61" name="Text 57"/>
          <p:cNvSpPr txBox="1"/>
          <p:nvPr/>
        </p:nvSpPr>
        <p:spPr>
          <a:xfrm>
            <a:off x="9948672" y="5340096"/>
            <a:ext cx="219456" cy="457200"/>
          </a:xfrm>
          <a:prstGeom prst="rect">
            <a:avLst/>
          </a:prstGeom>
          <a:noFill/>
          <a:ln/>
        </p:spPr>
        <p:txBody>
          <a:bodyPr wrap="square" lIns="0" tIns="0" rIns="0" bIns="0" rtlCol="0" anchor="ctr"/>
          <a:lstStyle/>
          <a:p>
            <a:pPr algn="ctr" indent="0" marL="0">
              <a:buNone/>
            </a:pPr>
            <a:r>
              <a:rPr lang="en-US" sz="1500" b="1" dirty="0">
                <a:solidFill>
                  <a:srgbClr val="B5654A"/>
                </a:solidFill>
                <a:latin typeface="Malgun Gothic" pitchFamily="34" charset="0"/>
                <a:ea typeface="Malgun Gothic" pitchFamily="34" charset="-122"/>
                <a:cs typeface="Malgun Gothic" pitchFamily="34" charset="-120"/>
              </a:rPr>
              <a:t>→</a:t>
            </a:r>
            <a:endParaRPr lang="en-US" sz="1500" dirty="0"/>
          </a:p>
        </p:txBody>
      </p:sp>
      <p:sp>
        <p:nvSpPr>
          <p:cNvPr id="62" name="Shape 58"/>
          <p:cNvSpPr/>
          <p:nvPr/>
        </p:nvSpPr>
        <p:spPr>
          <a:xfrm>
            <a:off x="10158984" y="5138928"/>
            <a:ext cx="1143000" cy="868680"/>
          </a:xfrm>
          <a:prstGeom prst="roundRect">
            <a:avLst>
              <a:gd name="adj" fmla="val 10526"/>
            </a:avLst>
          </a:prstGeom>
          <a:solidFill>
            <a:srgbClr val="B5654A"/>
          </a:solidFill>
          <a:ln w="12700">
            <a:solidFill>
              <a:srgbClr val="B5654A"/>
            </a:solidFill>
            <a:prstDash val="solid"/>
          </a:ln>
        </p:spPr>
      </p:sp>
      <p:sp>
        <p:nvSpPr>
          <p:cNvPr id="63" name="Text 59"/>
          <p:cNvSpPr txBox="1"/>
          <p:nvPr/>
        </p:nvSpPr>
        <p:spPr>
          <a:xfrm>
            <a:off x="10195560" y="5138928"/>
            <a:ext cx="1069848"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Discord</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Webhook 알림</a:t>
            </a:r>
            <a:endParaRPr lang="en-US" sz="1100" dirty="0"/>
          </a:p>
        </p:txBody>
      </p:sp>
      <p:sp>
        <p:nvSpPr>
          <p:cNvPr id="64" name="Text 60"/>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65" name="Text 61"/>
          <p:cNvSpPr txBox="1"/>
          <p:nvPr/>
        </p:nvSpPr>
        <p:spPr>
          <a:xfrm>
            <a:off x="11183112"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14</a:t>
            </a:r>
            <a:endParaRPr lang="en-US" sz="9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327"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28" name="Text 1"/>
          <p:cNvSpPr>
            <a:spLocks/>
          </p:cNvSpPr>
          <p:nvPr/>
        </p:nvSpPr>
        <p:spPr>
          <a:xfrm rot="0">
            <a:off x="548640" y="384175"/>
            <a:ext cx="384175" cy="38417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0</a:t>
            </a:r>
            <a:r>
              <a:rPr lang="ko-KR" sz="1300" b="1" strike="noStrike">
                <a:solidFill>
                  <a:srgbClr val="FFFFFF"/>
                </a:solidFill>
                <a:latin typeface="Malgun Gothic" charset="0"/>
                <a:ea typeface="Malgun Gothic" charset="0"/>
              </a:rPr>
              <a:t>6</a:t>
            </a:r>
            <a:endParaRPr lang="ko-KR" altLang="en-US" sz="1300" b="1" strike="noStrike">
              <a:solidFill>
                <a:srgbClr val="FFFFFF"/>
              </a:solidFill>
              <a:latin typeface="Malgun Gothic" charset="0"/>
              <a:ea typeface="Malgun Gothic" charset="0"/>
            </a:endParaRPr>
          </a:p>
        </p:txBody>
      </p:sp>
      <p:sp>
        <p:nvSpPr>
          <p:cNvPr id="329"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CRAWLING · </a:t>
            </a:r>
            <a:r>
              <a:rPr b="1" lang="ko-KR" sz="1400" spc="199" strike="noStrike">
                <a:solidFill>
                  <a:srgbClr val="b5654a"/>
                </a:solidFill>
                <a:latin typeface="Malgun Gothic"/>
                <a:ea typeface="Malgun Gothic"/>
              </a:rPr>
              <a:t>운영정보 확인</a:t>
            </a:r>
            <a:endParaRPr b="0" lang="en-US" sz="1400" spc="-1" strike="noStrike">
              <a:solidFill>
                <a:srgbClr val="000000"/>
              </a:solidFill>
              <a:latin typeface="Noto Sans KR"/>
            </a:endParaRPr>
          </a:p>
        </p:txBody>
      </p:sp>
      <p:sp>
        <p:nvSpPr>
          <p:cNvPr id="330"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가까운 시설을 찾았는데</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오늘 휴관이라면</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331" name="Shape 4"/>
          <p:cNvSpPr/>
          <p:nvPr/>
        </p:nvSpPr>
        <p:spPr>
          <a:xfrm>
            <a:off x="548640" y="1783080"/>
            <a:ext cx="3016885" cy="420370"/>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32" name="Text 5"/>
          <p:cNvSpPr/>
          <p:nvPr/>
        </p:nvSpPr>
        <p:spPr>
          <a:xfrm>
            <a:off x="548640" y="1783080"/>
            <a:ext cx="3016885"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50" spc="-1" strike="noStrike">
                <a:solidFill>
                  <a:srgbClr val="ffffff"/>
                </a:solidFill>
                <a:latin typeface="Malgun Gothic"/>
                <a:ea typeface="Malgun Gothic"/>
              </a:rPr>
              <a:t>위치 </a:t>
            </a:r>
            <a:r>
              <a:rPr b="1" lang="en-US" sz="1350" spc="-1" strike="noStrike">
                <a:solidFill>
                  <a:srgbClr val="ffffff"/>
                </a:solidFill>
                <a:latin typeface="Malgun Gothic"/>
                <a:ea typeface="Malgun Gothic"/>
              </a:rPr>
              <a:t>· </a:t>
            </a:r>
            <a:r>
              <a:rPr b="1" lang="ko-KR" sz="1350" spc="-1" strike="noStrike">
                <a:solidFill>
                  <a:srgbClr val="ffffff"/>
                </a:solidFill>
                <a:latin typeface="Malgun Gothic"/>
                <a:ea typeface="Malgun Gothic"/>
              </a:rPr>
              <a:t>날씨 </a:t>
            </a:r>
            <a:r>
              <a:rPr b="1" lang="en-US" sz="1350" spc="-1" strike="noStrike">
                <a:solidFill>
                  <a:srgbClr val="ffffff"/>
                </a:solidFill>
                <a:latin typeface="Malgun Gothic"/>
                <a:ea typeface="Malgun Gothic"/>
              </a:rPr>
              <a:t>· </a:t>
            </a:r>
            <a:r>
              <a:rPr b="1" lang="ko-KR" sz="1350" spc="-1" strike="noStrike">
                <a:solidFill>
                  <a:srgbClr val="ffffff"/>
                </a:solidFill>
                <a:latin typeface="Malgun Gothic"/>
                <a:ea typeface="Malgun Gothic"/>
              </a:rPr>
              <a:t>대기질 </a:t>
            </a:r>
            <a:r>
              <a:rPr b="1" lang="en-US" sz="1350" spc="-1" strike="noStrike">
                <a:solidFill>
                  <a:srgbClr val="ffffff"/>
                </a:solidFill>
                <a:latin typeface="Malgun Gothic"/>
                <a:ea typeface="Malgun Gothic"/>
              </a:rPr>
              <a:t>= API</a:t>
            </a:r>
            <a:endParaRPr b="0" lang="en-US" sz="1350" spc="-1" strike="noStrike">
              <a:solidFill>
                <a:srgbClr val="000000"/>
              </a:solidFill>
              <a:latin typeface="Noto Sans KR"/>
            </a:endParaRPr>
          </a:p>
        </p:txBody>
      </p:sp>
      <p:sp>
        <p:nvSpPr>
          <p:cNvPr id="333" name="Shape 6"/>
          <p:cNvSpPr/>
          <p:nvPr/>
        </p:nvSpPr>
        <p:spPr>
          <a:xfrm>
            <a:off x="3703320" y="1783080"/>
            <a:ext cx="3291205" cy="420370"/>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34" name="Text 7"/>
          <p:cNvSpPr/>
          <p:nvPr/>
        </p:nvSpPr>
        <p:spPr>
          <a:xfrm>
            <a:off x="3703320" y="1783080"/>
            <a:ext cx="3291205"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50" spc="-1" strike="noStrike">
                <a:solidFill>
                  <a:srgbClr val="ffffff"/>
                </a:solidFill>
                <a:latin typeface="Malgun Gothic"/>
                <a:ea typeface="Malgun Gothic"/>
              </a:rPr>
              <a:t>운영 </a:t>
            </a:r>
            <a:r>
              <a:rPr b="1" lang="en-US" sz="1350" spc="-1" strike="noStrike">
                <a:solidFill>
                  <a:srgbClr val="ffffff"/>
                </a:solidFill>
                <a:latin typeface="Malgun Gothic"/>
                <a:ea typeface="Malgun Gothic"/>
              </a:rPr>
              <a:t>· </a:t>
            </a:r>
            <a:r>
              <a:rPr b="1" lang="ko-KR" sz="1350" spc="-1" strike="noStrike">
                <a:solidFill>
                  <a:srgbClr val="ffffff"/>
                </a:solidFill>
                <a:latin typeface="Malgun Gothic"/>
                <a:ea typeface="Malgun Gothic"/>
              </a:rPr>
              <a:t>휴무 공지 </a:t>
            </a:r>
            <a:r>
              <a:rPr b="1" lang="en-US" sz="1350" spc="-1" strike="noStrike">
                <a:solidFill>
                  <a:srgbClr val="ffffff"/>
                </a:solidFill>
                <a:latin typeface="Malgun Gothic"/>
                <a:ea typeface="Malgun Gothic"/>
              </a:rPr>
              <a:t>= </a:t>
            </a:r>
            <a:r>
              <a:rPr b="1" lang="ko-KR" sz="1350" spc="-1" strike="noStrike">
                <a:solidFill>
                  <a:srgbClr val="ffffff"/>
                </a:solidFill>
                <a:latin typeface="Malgun Gothic"/>
                <a:ea typeface="Malgun Gothic"/>
              </a:rPr>
              <a:t>크롤링</a:t>
            </a:r>
            <a:r>
              <a:rPr b="1" lang="en-US" sz="1350" spc="-1" strike="noStrike">
                <a:solidFill>
                  <a:srgbClr val="ffffff"/>
                </a:solidFill>
                <a:latin typeface="Malgun Gothic"/>
                <a:ea typeface="Malgun Gothic"/>
              </a:rPr>
              <a:t>(</a:t>
            </a:r>
            <a:r>
              <a:rPr b="1" lang="ko-KR" sz="1350" spc="-1" strike="noStrike">
                <a:solidFill>
                  <a:srgbClr val="ffffff"/>
                </a:solidFill>
                <a:latin typeface="Malgun Gothic"/>
                <a:ea typeface="Malgun Gothic"/>
              </a:rPr>
              <a:t>보완</a:t>
            </a:r>
            <a:r>
              <a:rPr b="1" lang="en-US" sz="1350" spc="-1" strike="noStrike">
                <a:solidFill>
                  <a:srgbClr val="ffffff"/>
                </a:solidFill>
                <a:latin typeface="Malgun Gothic"/>
                <a:ea typeface="Malgun Gothic"/>
              </a:rPr>
              <a:t>)</a:t>
            </a:r>
            <a:endParaRPr b="0" lang="en-US" sz="1350" spc="-1" strike="noStrike">
              <a:solidFill>
                <a:srgbClr val="000000"/>
              </a:solidFill>
              <a:latin typeface="Noto Sans KR"/>
            </a:endParaRPr>
          </a:p>
        </p:txBody>
      </p:sp>
      <p:sp>
        <p:nvSpPr>
          <p:cNvPr id="335" name="Shape 8"/>
          <p:cNvSpPr/>
          <p:nvPr/>
        </p:nvSpPr>
        <p:spPr>
          <a:xfrm>
            <a:off x="548640" y="2450465"/>
            <a:ext cx="644588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36" name="Shape 9"/>
          <p:cNvSpPr/>
          <p:nvPr/>
        </p:nvSpPr>
        <p:spPr>
          <a:xfrm>
            <a:off x="713105" y="2606040"/>
            <a:ext cx="420370" cy="42037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37" name="Text 10"/>
          <p:cNvSpPr/>
          <p:nvPr/>
        </p:nvSpPr>
        <p:spPr>
          <a:xfrm>
            <a:off x="713105" y="2606040"/>
            <a:ext cx="420370"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Malgun Gothic"/>
                <a:ea typeface="Malgun Gothic"/>
              </a:rPr>
              <a:t>1</a:t>
            </a:r>
            <a:endParaRPr b="0" lang="en-US" sz="1500" spc="-1" strike="noStrike">
              <a:solidFill>
                <a:srgbClr val="000000"/>
              </a:solidFill>
              <a:latin typeface="Noto Sans KR"/>
            </a:endParaRPr>
          </a:p>
        </p:txBody>
      </p:sp>
      <p:sp>
        <p:nvSpPr>
          <p:cNvPr id="338" name="Text 11"/>
          <p:cNvSpPr/>
          <p:nvPr/>
        </p:nvSpPr>
        <p:spPr>
          <a:xfrm>
            <a:off x="1298575" y="2523490"/>
            <a:ext cx="5577205" cy="3473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500" spc="-1" strike="noStrike">
                <a:solidFill>
                  <a:srgbClr val="1e2621"/>
                </a:solidFill>
                <a:latin typeface="Malgun Gothic"/>
                <a:ea typeface="Malgun Gothic"/>
              </a:rPr>
              <a:t>점수로 정렬된 상위 후보 중 최대 </a:t>
            </a:r>
            <a:r>
              <a:rPr b="1" lang="en-US" sz="1500" spc="-1" strike="noStrike">
                <a:solidFill>
                  <a:srgbClr val="1e2621"/>
                </a:solidFill>
                <a:latin typeface="Malgun Gothic"/>
                <a:ea typeface="Malgun Gothic"/>
              </a:rPr>
              <a:t>10</a:t>
            </a:r>
            <a:r>
              <a:rPr b="1" lang="ko-KR" sz="1500" spc="-1" strike="noStrike">
                <a:solidFill>
                  <a:srgbClr val="1e2621"/>
                </a:solidFill>
                <a:latin typeface="Malgun Gothic"/>
                <a:ea typeface="Malgun Gothic"/>
              </a:rPr>
              <a:t>곳 선택</a:t>
            </a:r>
            <a:endParaRPr b="0" lang="en-US" sz="1500" spc="-1" strike="noStrike">
              <a:solidFill>
                <a:srgbClr val="000000"/>
              </a:solidFill>
              <a:latin typeface="Noto Sans KR"/>
            </a:endParaRPr>
          </a:p>
        </p:txBody>
      </p:sp>
      <p:sp>
        <p:nvSpPr>
          <p:cNvPr id="339" name="Text 12"/>
          <p:cNvSpPr/>
          <p:nvPr/>
        </p:nvSpPr>
        <p:spPr>
          <a:xfrm>
            <a:off x="1298575" y="2871470"/>
            <a:ext cx="557720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추천 요청 시점에 실행</a:t>
            </a:r>
            <a:endParaRPr b="0" lang="en-US" sz="1150" spc="-1" strike="noStrike">
              <a:solidFill>
                <a:srgbClr val="000000"/>
              </a:solidFill>
              <a:latin typeface="Noto Sans KR"/>
            </a:endParaRPr>
          </a:p>
        </p:txBody>
      </p:sp>
      <p:sp>
        <p:nvSpPr>
          <p:cNvPr id="340" name="Shape 13"/>
          <p:cNvSpPr/>
          <p:nvPr/>
        </p:nvSpPr>
        <p:spPr>
          <a:xfrm>
            <a:off x="548640" y="3300730"/>
            <a:ext cx="644588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41" name="Shape 14"/>
          <p:cNvSpPr/>
          <p:nvPr/>
        </p:nvSpPr>
        <p:spPr>
          <a:xfrm>
            <a:off x="713105" y="3456305"/>
            <a:ext cx="420370" cy="42037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42" name="Text 15"/>
          <p:cNvSpPr/>
          <p:nvPr/>
        </p:nvSpPr>
        <p:spPr>
          <a:xfrm>
            <a:off x="713105" y="3456305"/>
            <a:ext cx="420370"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Malgun Gothic"/>
                <a:ea typeface="Malgun Gothic"/>
              </a:rPr>
              <a:t>2</a:t>
            </a:r>
            <a:endParaRPr b="0" lang="en-US" sz="1500" spc="-1" strike="noStrike">
              <a:solidFill>
                <a:srgbClr val="000000"/>
              </a:solidFill>
              <a:latin typeface="Noto Sans KR"/>
            </a:endParaRPr>
          </a:p>
        </p:txBody>
      </p:sp>
      <p:sp>
        <p:nvSpPr>
          <p:cNvPr id="343" name="Text 16"/>
          <p:cNvSpPr/>
          <p:nvPr/>
        </p:nvSpPr>
        <p:spPr>
          <a:xfrm>
            <a:off x="1298575" y="3374390"/>
            <a:ext cx="5577205" cy="3473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500" spc="-1" strike="noStrike">
                <a:solidFill>
                  <a:srgbClr val="1e2621"/>
                </a:solidFill>
                <a:latin typeface="Malgun Gothic"/>
                <a:ea typeface="Malgun Gothic"/>
              </a:rPr>
              <a:t>공개 웹페이지의 운영시간 </a:t>
            </a:r>
            <a:r>
              <a:rPr b="1" lang="en-US" sz="1500" spc="-1" strike="noStrike">
                <a:solidFill>
                  <a:srgbClr val="1e2621"/>
                </a:solidFill>
                <a:latin typeface="Malgun Gothic"/>
                <a:ea typeface="Malgun Gothic"/>
              </a:rPr>
              <a:t>· </a:t>
            </a:r>
            <a:r>
              <a:rPr b="1" lang="ko-KR" sz="1500" spc="-1" strike="noStrike">
                <a:solidFill>
                  <a:srgbClr val="1e2621"/>
                </a:solidFill>
                <a:latin typeface="Malgun Gothic"/>
                <a:ea typeface="Malgun Gothic"/>
              </a:rPr>
              <a:t>휴무 </a:t>
            </a:r>
            <a:r>
              <a:rPr b="1" lang="en-US" sz="1500" spc="-1" strike="noStrike">
                <a:solidFill>
                  <a:srgbClr val="1e2621"/>
                </a:solidFill>
                <a:latin typeface="Malgun Gothic"/>
                <a:ea typeface="Malgun Gothic"/>
              </a:rPr>
              <a:t>· </a:t>
            </a:r>
            <a:r>
              <a:rPr b="1" lang="ko-KR" sz="1500" spc="-1" strike="noStrike">
                <a:solidFill>
                  <a:srgbClr val="1e2621"/>
                </a:solidFill>
                <a:latin typeface="Malgun Gothic"/>
                <a:ea typeface="Malgun Gothic"/>
              </a:rPr>
              <a:t>휴관 안내 확인</a:t>
            </a:r>
            <a:endParaRPr b="0" lang="en-US" sz="1500" spc="-1" strike="noStrike">
              <a:solidFill>
                <a:srgbClr val="000000"/>
              </a:solidFill>
              <a:latin typeface="Noto Sans KR"/>
            </a:endParaRPr>
          </a:p>
        </p:txBody>
      </p:sp>
      <p:sp>
        <p:nvSpPr>
          <p:cNvPr id="344" name="Text 17"/>
          <p:cNvSpPr/>
          <p:nvPr/>
        </p:nvSpPr>
        <p:spPr>
          <a:xfrm>
            <a:off x="1298575" y="3721735"/>
            <a:ext cx="557720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시설별 공개 범위는 서로 다름</a:t>
            </a:r>
            <a:endParaRPr b="0" lang="en-US" sz="1150" spc="-1" strike="noStrike">
              <a:solidFill>
                <a:srgbClr val="000000"/>
              </a:solidFill>
              <a:latin typeface="Noto Sans KR"/>
            </a:endParaRPr>
          </a:p>
        </p:txBody>
      </p:sp>
      <p:sp>
        <p:nvSpPr>
          <p:cNvPr id="345" name="Shape 18"/>
          <p:cNvSpPr/>
          <p:nvPr/>
        </p:nvSpPr>
        <p:spPr>
          <a:xfrm>
            <a:off x="548640" y="4151630"/>
            <a:ext cx="644588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46" name="Shape 19"/>
          <p:cNvSpPr/>
          <p:nvPr/>
        </p:nvSpPr>
        <p:spPr>
          <a:xfrm>
            <a:off x="713105" y="4306570"/>
            <a:ext cx="420370" cy="42037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47" name="Text 20"/>
          <p:cNvSpPr/>
          <p:nvPr/>
        </p:nvSpPr>
        <p:spPr>
          <a:xfrm>
            <a:off x="713105" y="4306570"/>
            <a:ext cx="420370"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Malgun Gothic"/>
                <a:ea typeface="Malgun Gothic"/>
              </a:rPr>
              <a:t>3</a:t>
            </a:r>
            <a:endParaRPr b="0" lang="en-US" sz="1500" spc="-1" strike="noStrike">
              <a:solidFill>
                <a:srgbClr val="000000"/>
              </a:solidFill>
              <a:latin typeface="Noto Sans KR"/>
            </a:endParaRPr>
          </a:p>
        </p:txBody>
      </p:sp>
      <p:sp>
        <p:nvSpPr>
          <p:cNvPr id="348" name="Text 21"/>
          <p:cNvSpPr/>
          <p:nvPr/>
        </p:nvSpPr>
        <p:spPr>
          <a:xfrm>
            <a:off x="1298575" y="4224655"/>
            <a:ext cx="5577205" cy="3473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1e2621"/>
                </a:solidFill>
                <a:latin typeface="Malgun Gothic"/>
                <a:ea typeface="Malgun Gothic"/>
              </a:rPr>
              <a:t>‘</a:t>
            </a:r>
            <a:r>
              <a:rPr b="1" lang="ko-KR" sz="1500" spc="-1" strike="noStrike">
                <a:solidFill>
                  <a:srgbClr val="1e2621"/>
                </a:solidFill>
                <a:latin typeface="Malgun Gothic"/>
                <a:ea typeface="Malgun Gothic"/>
              </a:rPr>
              <a:t>오늘 휴무’ ‘금일 휴무’ ‘오늘 휴관’ ‘임시 휴관’ 감지 시 –</a:t>
            </a:r>
            <a:r>
              <a:rPr b="1" lang="en-US" sz="1500" spc="-1" strike="noStrike">
                <a:solidFill>
                  <a:srgbClr val="1e2621"/>
                </a:solidFill>
                <a:latin typeface="Malgun Gothic"/>
                <a:ea typeface="Malgun Gothic"/>
              </a:rPr>
              <a:t>25</a:t>
            </a:r>
            <a:r>
              <a:rPr b="1" lang="ko-KR" sz="1500" spc="-1" strike="noStrike">
                <a:solidFill>
                  <a:srgbClr val="1e2621"/>
                </a:solidFill>
                <a:latin typeface="Malgun Gothic"/>
                <a:ea typeface="Malgun Gothic"/>
              </a:rPr>
              <a:t>점</a:t>
            </a:r>
            <a:endParaRPr b="0" lang="en-US" sz="1500" spc="-1" strike="noStrike">
              <a:solidFill>
                <a:srgbClr val="000000"/>
              </a:solidFill>
              <a:latin typeface="Noto Sans KR"/>
            </a:endParaRPr>
          </a:p>
        </p:txBody>
      </p:sp>
      <p:sp>
        <p:nvSpPr>
          <p:cNvPr id="349" name="Text 22"/>
          <p:cNvSpPr/>
          <p:nvPr/>
        </p:nvSpPr>
        <p:spPr>
          <a:xfrm>
            <a:off x="1298575" y="4572000"/>
            <a:ext cx="557720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특정 당일 </a:t>
            </a:r>
            <a:r>
              <a:rPr b="1" lang="en-US" sz="1150" spc="-1" strike="noStrike">
                <a:solidFill>
                  <a:srgbClr val="5e5b52"/>
                </a:solidFill>
                <a:latin typeface="Malgun Gothic"/>
                <a:ea typeface="Malgun Gothic"/>
              </a:rPr>
              <a:t>· </a:t>
            </a:r>
            <a:r>
              <a:rPr b="1" lang="ko-KR" sz="1150" spc="-1" strike="noStrike">
                <a:solidFill>
                  <a:srgbClr val="5e5b52"/>
                </a:solidFill>
                <a:latin typeface="Malgun Gothic"/>
                <a:ea typeface="Malgun Gothic"/>
              </a:rPr>
              <a:t>임시 휴무 문구만 감점</a:t>
            </a:r>
            <a:endParaRPr b="0" lang="en-US" sz="1150" spc="-1" strike="noStrike">
              <a:solidFill>
                <a:srgbClr val="000000"/>
              </a:solidFill>
              <a:latin typeface="Noto Sans KR"/>
            </a:endParaRPr>
          </a:p>
        </p:txBody>
      </p:sp>
      <p:sp>
        <p:nvSpPr>
          <p:cNvPr id="350" name="Shape 23"/>
          <p:cNvSpPr/>
          <p:nvPr/>
        </p:nvSpPr>
        <p:spPr>
          <a:xfrm>
            <a:off x="548640" y="5001895"/>
            <a:ext cx="644588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51" name="Shape 24"/>
          <p:cNvSpPr/>
          <p:nvPr/>
        </p:nvSpPr>
        <p:spPr>
          <a:xfrm>
            <a:off x="713105" y="5157470"/>
            <a:ext cx="420370" cy="42037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52" name="Text 25"/>
          <p:cNvSpPr/>
          <p:nvPr/>
        </p:nvSpPr>
        <p:spPr>
          <a:xfrm>
            <a:off x="713105" y="5157470"/>
            <a:ext cx="420370" cy="42037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Malgun Gothic"/>
                <a:ea typeface="Malgun Gothic"/>
              </a:rPr>
              <a:t>4</a:t>
            </a:r>
            <a:endParaRPr b="0" lang="en-US" sz="1500" spc="-1" strike="noStrike">
              <a:solidFill>
                <a:srgbClr val="000000"/>
              </a:solidFill>
              <a:latin typeface="Noto Sans KR"/>
            </a:endParaRPr>
          </a:p>
        </p:txBody>
      </p:sp>
      <p:sp>
        <p:nvSpPr>
          <p:cNvPr id="353" name="Text 26"/>
          <p:cNvSpPr/>
          <p:nvPr/>
        </p:nvSpPr>
        <p:spPr>
          <a:xfrm>
            <a:off x="1298575" y="5074920"/>
            <a:ext cx="5577205" cy="34734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500" spc="-1" strike="noStrike">
                <a:solidFill>
                  <a:srgbClr val="1e2621"/>
                </a:solidFill>
                <a:latin typeface="Malgun Gothic"/>
                <a:ea typeface="Malgun Gothic"/>
              </a:rPr>
              <a:t>다시 정렬해 추천 카드에 운영정보 표시</a:t>
            </a:r>
            <a:endParaRPr b="0" lang="en-US" sz="1500" spc="-1" strike="noStrike">
              <a:solidFill>
                <a:srgbClr val="000000"/>
              </a:solidFill>
              <a:latin typeface="Noto Sans KR"/>
            </a:endParaRPr>
          </a:p>
        </p:txBody>
      </p:sp>
      <p:sp>
        <p:nvSpPr>
          <p:cNvPr id="354" name="Text 27"/>
          <p:cNvSpPr/>
          <p:nvPr/>
        </p:nvSpPr>
        <p:spPr>
          <a:xfrm>
            <a:off x="1298575" y="5422265"/>
            <a:ext cx="5577205" cy="2559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150" spc="-1" strike="noStrike">
                <a:solidFill>
                  <a:srgbClr val="5e5b52"/>
                </a:solidFill>
                <a:latin typeface="Malgun Gothic"/>
                <a:ea typeface="Malgun Gothic"/>
              </a:rPr>
              <a:t>확인 불가 시 ‘확인 필요’로 표시</a:t>
            </a:r>
            <a:endParaRPr b="0" lang="en-US" sz="1150" spc="-1" strike="noStrike">
              <a:solidFill>
                <a:srgbClr val="000000"/>
              </a:solidFill>
              <a:latin typeface="Noto Sans KR"/>
            </a:endParaRPr>
          </a:p>
        </p:txBody>
      </p:sp>
      <p:sp>
        <p:nvSpPr>
          <p:cNvPr id="355" name="Shape 28"/>
          <p:cNvSpPr/>
          <p:nvPr/>
        </p:nvSpPr>
        <p:spPr>
          <a:xfrm>
            <a:off x="8051165" y="1783080"/>
            <a:ext cx="2550795" cy="4498340"/>
          </a:xfrm>
          <a:prstGeom prst="roundRect">
            <a:avLst>
              <a:gd name="adj" fmla="val 501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56" name="Shape 29"/>
          <p:cNvSpPr/>
          <p:nvPr/>
        </p:nvSpPr>
        <p:spPr>
          <a:xfrm>
            <a:off x="8179435" y="1901825"/>
            <a:ext cx="109220" cy="109220"/>
          </a:xfrm>
          <a:prstGeom prst="ellipse">
            <a:avLst/>
          </a:prstGeom>
          <a:solidFill>
            <a:srgbClr val="b5654a"/>
          </a:solidFill>
          <a:ln w="12700">
            <a:solidFill>
              <a:srgbClr val="b5654a"/>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357" name="Shape 30"/>
          <p:cNvSpPr/>
          <p:nvPr/>
        </p:nvSpPr>
        <p:spPr>
          <a:xfrm>
            <a:off x="8343900" y="1901825"/>
            <a:ext cx="109220" cy="109220"/>
          </a:xfrm>
          <a:prstGeom prst="ellipse">
            <a:avLst/>
          </a:prstGeom>
          <a:solidFill>
            <a:srgbClr val="d9a441"/>
          </a:solidFill>
          <a:ln w="12700">
            <a:solidFill>
              <a:srgbClr val="d9a441"/>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358" name="Shape 31"/>
          <p:cNvSpPr/>
          <p:nvPr/>
        </p:nvSpPr>
        <p:spPr>
          <a:xfrm>
            <a:off x="8508365" y="1901825"/>
            <a:ext cx="109220" cy="109220"/>
          </a:xfrm>
          <a:prstGeom prst="ellipse">
            <a:avLst/>
          </a:prstGeom>
          <a:solidFill>
            <a:srgbClr val="2e5a46"/>
          </a:solidFill>
          <a:ln w="12700">
            <a:solidFill>
              <a:srgbClr val="2e5a46"/>
            </a:solidFill>
            <a:round/>
          </a:ln>
        </p:spPr>
        <p:style>
          <a:lnRef idx="0"/>
          <a:fillRef idx="0"/>
          <a:effectRef idx="0"/>
          <a:fontRef idx="minor"/>
        </p:style>
        <p:txBody>
          <a:bodyPr lIns="90000" rIns="90000" tIns="32760" bIns="32760" anchor="t">
            <a:noAutofit/>
          </a:bodyPr>
          <a:p>
            <a:endParaRPr b="0" lang="en-US" sz="1800" spc="-1" strike="noStrike">
              <a:solidFill>
                <a:srgbClr val="000000"/>
              </a:solidFill>
              <a:latin typeface="Noto Sans KR"/>
            </a:endParaRPr>
          </a:p>
        </p:txBody>
      </p:sp>
      <p:sp>
        <p:nvSpPr>
          <p:cNvPr id="359" name="Text 32"/>
          <p:cNvSpPr/>
          <p:nvPr/>
        </p:nvSpPr>
        <p:spPr>
          <a:xfrm>
            <a:off x="8728075" y="1837690"/>
            <a:ext cx="1691005" cy="23749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100" spc="199" strike="noStrike">
                <a:solidFill>
                  <a:srgbClr val="5e5b52"/>
                </a:solidFill>
                <a:latin typeface="Malgun Gothic"/>
                <a:ea typeface="Malgun Gothic"/>
              </a:rPr>
              <a:t>추천 결과 화면</a:t>
            </a:r>
            <a:endParaRPr b="0" lang="en-US" sz="1100" spc="-1" strike="noStrike">
              <a:solidFill>
                <a:srgbClr val="000000"/>
              </a:solidFill>
              <a:latin typeface="Noto Sans KR"/>
            </a:endParaRPr>
          </a:p>
        </p:txBody>
      </p:sp>
      <p:pic>
        <p:nvPicPr>
          <p:cNvPr id="360" name="Image 0"/>
          <p:cNvPicPr/>
          <p:nvPr/>
        </p:nvPicPr>
        <p:blipFill>
          <a:blip r:embed="rId1"/>
          <a:stretch/>
        </p:blipFill>
        <p:spPr>
          <a:xfrm>
            <a:off x="8161020" y="2240280"/>
            <a:ext cx="2331085" cy="3931285"/>
          </a:xfrm>
          <a:prstGeom prst="rect">
            <a:avLst/>
          </a:prstGeom>
          <a:ln w="0">
            <a:noFill/>
          </a:ln>
        </p:spPr>
      </p:pic>
      <p:sp>
        <p:nvSpPr>
          <p:cNvPr id="361" name="Shape 33"/>
          <p:cNvSpPr/>
          <p:nvPr/>
        </p:nvSpPr>
        <p:spPr>
          <a:xfrm>
            <a:off x="548640" y="5897880"/>
            <a:ext cx="6445885" cy="456565"/>
          </a:xfrm>
          <a:prstGeom prst="roundRect">
            <a:avLst>
              <a:gd name="adj" fmla="val 28000"/>
            </a:avLst>
          </a:prstGeom>
          <a:solidFill>
            <a:srgbClr val="e3ede5"/>
          </a:solidFill>
          <a:ln w="12700">
            <a:solidFill>
              <a:srgbClr val="e3ede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362" name="Text 34"/>
          <p:cNvSpPr/>
          <p:nvPr/>
        </p:nvSpPr>
        <p:spPr>
          <a:xfrm>
            <a:off x="731520" y="5897880"/>
            <a:ext cx="6217285" cy="45656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1450" spc="-1" strike="noStrike">
                <a:solidFill>
                  <a:srgbClr val="1e3b2f"/>
                </a:solidFill>
                <a:latin typeface="Malgun Gothic"/>
                <a:ea typeface="Malgun Gothic"/>
              </a:rPr>
              <a:t>완벽한 영업 판별이 아니라</a:t>
            </a:r>
            <a:r>
              <a:rPr b="1" lang="en-US" sz="1450" spc="-1" strike="noStrike">
                <a:solidFill>
                  <a:srgbClr val="1e3b2f"/>
                </a:solidFill>
                <a:latin typeface="Malgun Gothic"/>
                <a:ea typeface="Malgun Gothic"/>
              </a:rPr>
              <a:t>, </a:t>
            </a:r>
            <a:r>
              <a:rPr b="1" lang="ko-KR" sz="1450" spc="-1" strike="noStrike">
                <a:solidFill>
                  <a:srgbClr val="1e3b2f"/>
                </a:solidFill>
                <a:latin typeface="Malgun Gothic"/>
                <a:ea typeface="Malgun Gothic"/>
              </a:rPr>
              <a:t>헛걸음할 가능성을 줄이려 했습니다</a:t>
            </a:r>
            <a:endParaRPr b="0" lang="en-US" sz="1450" spc="-1" strike="noStrike">
              <a:solidFill>
                <a:srgbClr val="000000"/>
              </a:solidFill>
              <a:latin typeface="Noto Sans KR"/>
            </a:endParaRPr>
          </a:p>
        </p:txBody>
      </p:sp>
      <p:sp>
        <p:nvSpPr>
          <p:cNvPr id="363" name="Text 35"/>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364" name="Text 36"/>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15</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xmlns:p14="http://schemas.microsoft.com/office/powerpoint/2010/main">
  <p:cSld name="">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sp>
      <p:graphicFrame>
        <p:nvGraphicFramePr>
          <p:cNvPr id="2" name="Shape 0"/>
          <p:cNvGraphicFramePr>
            <a:graphicFrameLocks noGrp="1"/>
          </p:cNvGraphicFramePr>
          <p:nvPr>
            <p:extLst>
              <p:ext uri="{D42A27DB-BD31-4B8C-83A1-F6EECF244321}">
                <p14:modId xmlns:p14="http://schemas.microsoft.com/office/powerpoint/2010/main" val="1579011935"/>
              </p:ext>
            </p:extLst>
          </p:nvPr>
        </p:nvGraphicFramePr>
        <p:xfrm>
          <a:off x="548640" y="4005072"/>
          <a:ext cx="7589520" cy="914400"/>
        </p:xfrm>
        <a:graphic>
          <a:graphicData uri="http://schemas.openxmlformats.org/drawingml/2006/table">
            <a:tbl>
              <a:tblPr/>
              <a:tblGrid>
                <a:gridCol w="1371600"/>
                <a:gridCol w="3017520"/>
                <a:gridCol w="3200400"/>
              </a:tblGrid>
              <a:tr h="475488">
                <a:tc>
                  <a:txBody>
                    <a:bodyPr/>
                    <a:lstStyle/>
                    <a:p>
                      <a:pPr algn="ctr" indent="0" marL="0">
                        <a:buNone/>
                      </a:pP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정기 수집 · Selenium</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추천 시점 · 운영정보 확인</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75488">
                <a:tc>
                  <a:txBody>
                    <a:bodyPr/>
                    <a:lstStyle/>
                    <a:p>
                      <a:pPr algn="ctr" indent="0" marL="0">
                        <a:buNone/>
                      </a:pPr>
                      <a:r>
                        <a:rPr lang="en-US" sz="1200" b="1" dirty="0">
                          <a:solidFill>
                            <a:srgbClr val="B5654A"/>
                          </a:solidFill>
                          <a:latin typeface="Malgun Gothic" pitchFamily="34" charset="0"/>
                          <a:ea typeface="Malgun Gothic" pitchFamily="34" charset="-122"/>
                          <a:cs typeface="Malgun Gothic" pitchFamily="34" charset="-120"/>
                        </a:rPr>
                        <a:t>대상</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문화빅데이터 플랫폼 CSV 상품</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시설 공개 웹페이지의 운영 · 휴무 공지</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75488">
                <a:tc>
                  <a:txBody>
                    <a:bodyPr/>
                    <a:lstStyle/>
                    <a:p>
                      <a:pPr algn="ctr" indent="0" marL="0">
                        <a:buNone/>
                      </a:pPr>
                      <a:r>
                        <a:rPr lang="en-US" sz="1200" b="1" dirty="0">
                          <a:solidFill>
                            <a:srgbClr val="B5654A"/>
                          </a:solidFill>
                          <a:latin typeface="Malgun Gothic" pitchFamily="34" charset="0"/>
                          <a:ea typeface="Malgun Gothic" pitchFamily="34" charset="-122"/>
                          <a:cs typeface="Malgun Gothic" pitchFamily="34" charset="-120"/>
                        </a:rPr>
                        <a:t>실행 시점</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APScheduler · 매월 1일 07:00</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사용자가 추천을 요청할 때</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75488">
                <a:tc>
                  <a:txBody>
                    <a:bodyPr/>
                    <a:lstStyle/>
                    <a:p>
                      <a:pPr algn="ctr" indent="0" marL="0">
                        <a:buNone/>
                      </a:pPr>
                      <a:r>
                        <a:rPr lang="en-US" sz="1200" b="1" dirty="0">
                          <a:solidFill>
                            <a:srgbClr val="B5654A"/>
                          </a:solidFill>
                          <a:latin typeface="Malgun Gothic" pitchFamily="34" charset="0"/>
                          <a:ea typeface="Malgun Gothic" pitchFamily="34" charset="-122"/>
                          <a:cs typeface="Malgun Gothic" pitchFamily="34" charset="-120"/>
                        </a:rPr>
                        <a:t>결과</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검증 후 raw 스키마에 적재</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추천 점수 보정 · 응답에만 사용</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CRAWLING · 문화빅데이터 Selenium 수집</a:t>
            </a:r>
            <a:endParaRPr lang="en-US" sz="1400" dirty="0"/>
          </a:p>
        </p:txBody>
      </p:sp>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API가 없는 데이터는, 브라우저가 대신 받아옵니다</a:t>
            </a:r>
            <a:endParaRPr lang="en-US" sz="3400" dirty="0"/>
          </a:p>
        </p:txBody>
      </p:sp>
      <p:sp>
        <p:nvSpPr>
          <p:cNvPr id="6" name="Shape 4"/>
          <p:cNvSpPr/>
          <p:nvPr/>
        </p:nvSpPr>
        <p:spPr>
          <a:xfrm>
            <a:off x="548640" y="1810385"/>
            <a:ext cx="2011680" cy="1481455"/>
          </a:xfrm>
          <a:prstGeom prst="roundRect">
            <a:avLst>
              <a:gd name="adj" fmla="val 8642"/>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7" name="Shape 5"/>
          <p:cNvSpPr/>
          <p:nvPr/>
        </p:nvSpPr>
        <p:spPr>
          <a:xfrm>
            <a:off x="713105" y="1957070"/>
            <a:ext cx="402590" cy="402590"/>
          </a:xfrm>
          <a:prstGeom prst="ellipse">
            <a:avLst/>
          </a:prstGeom>
          <a:solidFill>
            <a:srgbClr val="B5654A"/>
          </a:solidFill>
          <a:ln w="12700">
            <a:solidFill>
              <a:srgbClr val="B5654A"/>
            </a:solidFill>
            <a:prstDash val="solid"/>
          </a:ln>
        </p:spPr>
      </p:sp>
      <p:sp>
        <p:nvSpPr>
          <p:cNvPr id="8" name="Text 6"/>
          <p:cNvSpPr txBox="1"/>
          <p:nvPr/>
        </p:nvSpPr>
        <p:spPr>
          <a:xfrm>
            <a:off x="713105"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9" name="Text 7"/>
          <p:cNvSpPr txBox="1"/>
          <p:nvPr/>
        </p:nvSpPr>
        <p:spPr>
          <a:xfrm>
            <a:off x="1188720" y="1957070"/>
            <a:ext cx="1325880" cy="402590"/>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로그인</a:t>
            </a:r>
            <a:endParaRPr lang="en-US" sz="1500" dirty="0"/>
          </a:p>
        </p:txBody>
      </p:sp>
      <p:sp>
        <p:nvSpPr>
          <p:cNvPr id="10" name="Text 8"/>
          <p:cNvSpPr txBox="1"/>
          <p:nvPr/>
        </p:nvSpPr>
        <p:spPr>
          <a:xfrm>
            <a:off x="713105"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.env 계정으로 로그인</a:t>
            </a:r>
            <a:endParaRPr lang="en-US" sz="1200" dirty="0"/>
          </a:p>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세션 유지 확인</a:t>
            </a:r>
            <a:endParaRPr lang="en-US" sz="1200" dirty="0"/>
          </a:p>
        </p:txBody>
      </p:sp>
      <p:sp>
        <p:nvSpPr>
          <p:cNvPr id="11" name="Shape 9"/>
          <p:cNvSpPr/>
          <p:nvPr/>
        </p:nvSpPr>
        <p:spPr>
          <a:xfrm>
            <a:off x="2578735" y="2414270"/>
            <a:ext cx="219710" cy="274320"/>
          </a:xfrm>
          <a:prstGeom prst="rightArrow">
            <a:avLst/>
          </a:prstGeom>
          <a:solidFill>
            <a:srgbClr val="B5654A"/>
          </a:solidFill>
          <a:ln w="12700">
            <a:solidFill>
              <a:srgbClr val="B5654A"/>
            </a:solidFill>
            <a:prstDash val="solid"/>
          </a:ln>
        </p:spPr>
      </p:sp>
      <p:sp>
        <p:nvSpPr>
          <p:cNvPr id="12" name="Shape 10"/>
          <p:cNvSpPr/>
          <p:nvPr/>
        </p:nvSpPr>
        <p:spPr>
          <a:xfrm>
            <a:off x="2816225" y="1810385"/>
            <a:ext cx="2011680" cy="1481455"/>
          </a:xfrm>
          <a:prstGeom prst="roundRect">
            <a:avLst>
              <a:gd name="adj" fmla="val 8642"/>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3" name="Shape 11"/>
          <p:cNvSpPr/>
          <p:nvPr/>
        </p:nvSpPr>
        <p:spPr>
          <a:xfrm>
            <a:off x="2980690" y="1957070"/>
            <a:ext cx="402590" cy="402590"/>
          </a:xfrm>
          <a:prstGeom prst="ellipse">
            <a:avLst/>
          </a:prstGeom>
          <a:solidFill>
            <a:srgbClr val="B5654A"/>
          </a:solidFill>
          <a:ln w="12700">
            <a:solidFill>
              <a:srgbClr val="B5654A"/>
            </a:solidFill>
            <a:prstDash val="solid"/>
          </a:ln>
        </p:spPr>
      </p:sp>
      <p:sp>
        <p:nvSpPr>
          <p:cNvPr id="14" name="Text 12"/>
          <p:cNvSpPr txBox="1"/>
          <p:nvPr/>
        </p:nvSpPr>
        <p:spPr>
          <a:xfrm>
            <a:off x="2980690"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15" name="Text 13"/>
          <p:cNvSpPr txBox="1"/>
          <p:nvPr/>
        </p:nvSpPr>
        <p:spPr>
          <a:xfrm>
            <a:off x="3456305" y="1957070"/>
            <a:ext cx="1325880" cy="402590"/>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CSV 선택</a:t>
            </a:r>
            <a:endParaRPr lang="en-US" sz="1500" dirty="0"/>
          </a:p>
        </p:txBody>
      </p:sp>
      <p:sp>
        <p:nvSpPr>
          <p:cNvPr id="16" name="Text 14"/>
          <p:cNvSpPr txBox="1"/>
          <p:nvPr/>
        </p:nvSpPr>
        <p:spPr>
          <a:xfrm>
            <a:off x="2980690"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상품 상세 페이지에서</a:t>
            </a:r>
            <a:endParaRPr lang="en-US" sz="1200" dirty="0"/>
          </a:p>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CSV 배포 파일만 선택</a:t>
            </a:r>
            <a:endParaRPr lang="en-US" sz="1200" dirty="0"/>
          </a:p>
        </p:txBody>
      </p:sp>
      <p:sp>
        <p:nvSpPr>
          <p:cNvPr id="17" name="Shape 15"/>
          <p:cNvSpPr/>
          <p:nvPr/>
        </p:nvSpPr>
        <p:spPr>
          <a:xfrm>
            <a:off x="4846320" y="2414270"/>
            <a:ext cx="219710" cy="274320"/>
          </a:xfrm>
          <a:prstGeom prst="rightArrow">
            <a:avLst/>
          </a:prstGeom>
          <a:solidFill>
            <a:srgbClr val="B5654A"/>
          </a:solidFill>
          <a:ln w="12700">
            <a:solidFill>
              <a:srgbClr val="B5654A"/>
            </a:solidFill>
            <a:prstDash val="solid"/>
          </a:ln>
        </p:spPr>
      </p:sp>
      <p:sp>
        <p:nvSpPr>
          <p:cNvPr id="18" name="Shape 16"/>
          <p:cNvSpPr/>
          <p:nvPr/>
        </p:nvSpPr>
        <p:spPr>
          <a:xfrm>
            <a:off x="5083810" y="1810385"/>
            <a:ext cx="2011680" cy="1481455"/>
          </a:xfrm>
          <a:prstGeom prst="roundRect">
            <a:avLst>
              <a:gd name="adj" fmla="val 8642"/>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9" name="Shape 17"/>
          <p:cNvSpPr/>
          <p:nvPr/>
        </p:nvSpPr>
        <p:spPr>
          <a:xfrm>
            <a:off x="5248910" y="1957070"/>
            <a:ext cx="402590" cy="402590"/>
          </a:xfrm>
          <a:prstGeom prst="ellipse">
            <a:avLst/>
          </a:prstGeom>
          <a:solidFill>
            <a:srgbClr val="B5654A"/>
          </a:solidFill>
          <a:ln w="12700">
            <a:solidFill>
              <a:srgbClr val="B5654A"/>
            </a:solidFill>
            <a:prstDash val="solid"/>
          </a:ln>
        </p:spPr>
      </p:sp>
      <p:sp>
        <p:nvSpPr>
          <p:cNvPr id="20" name="Text 18"/>
          <p:cNvSpPr txBox="1"/>
          <p:nvPr/>
        </p:nvSpPr>
        <p:spPr>
          <a:xfrm>
            <a:off x="5248910"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21" name="Text 19"/>
          <p:cNvSpPr txBox="1"/>
          <p:nvPr/>
        </p:nvSpPr>
        <p:spPr>
          <a:xfrm>
            <a:off x="5723890" y="1957070"/>
            <a:ext cx="1325880" cy="402590"/>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팝업 처리</a:t>
            </a:r>
            <a:endParaRPr lang="en-US" sz="1500" dirty="0"/>
          </a:p>
        </p:txBody>
      </p:sp>
      <p:sp>
        <p:nvSpPr>
          <p:cNvPr id="22" name="Text 20"/>
          <p:cNvSpPr txBox="1"/>
          <p:nvPr/>
        </p:nvSpPr>
        <p:spPr>
          <a:xfrm>
            <a:off x="5248910"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활용목적 입력</a:t>
            </a:r>
            <a:endParaRPr lang="en-US" sz="1200" dirty="0"/>
          </a:p>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필수 약관 동의</a:t>
            </a:r>
            <a:endParaRPr lang="en-US" sz="1200" dirty="0"/>
          </a:p>
        </p:txBody>
      </p:sp>
      <p:sp>
        <p:nvSpPr>
          <p:cNvPr id="23" name="Shape 21"/>
          <p:cNvSpPr/>
          <p:nvPr/>
        </p:nvSpPr>
        <p:spPr>
          <a:xfrm>
            <a:off x="7113905" y="2414270"/>
            <a:ext cx="219710" cy="274320"/>
          </a:xfrm>
          <a:prstGeom prst="rightArrow">
            <a:avLst/>
          </a:prstGeom>
          <a:solidFill>
            <a:srgbClr val="B5654A"/>
          </a:solidFill>
          <a:ln w="12700">
            <a:solidFill>
              <a:srgbClr val="B5654A"/>
            </a:solidFill>
            <a:prstDash val="solid"/>
          </a:ln>
        </p:spPr>
      </p:sp>
      <p:sp>
        <p:nvSpPr>
          <p:cNvPr id="24" name="Shape 22"/>
          <p:cNvSpPr/>
          <p:nvPr/>
        </p:nvSpPr>
        <p:spPr>
          <a:xfrm>
            <a:off x="7352030" y="1810385"/>
            <a:ext cx="2011680" cy="1481455"/>
          </a:xfrm>
          <a:prstGeom prst="roundRect">
            <a:avLst>
              <a:gd name="adj" fmla="val 8642"/>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25" name="Shape 23"/>
          <p:cNvSpPr/>
          <p:nvPr/>
        </p:nvSpPr>
        <p:spPr>
          <a:xfrm>
            <a:off x="7516495" y="1957070"/>
            <a:ext cx="402590" cy="402590"/>
          </a:xfrm>
          <a:prstGeom prst="ellipse">
            <a:avLst/>
          </a:prstGeom>
          <a:solidFill>
            <a:srgbClr val="B5654A"/>
          </a:solidFill>
          <a:ln w="12700">
            <a:solidFill>
              <a:srgbClr val="B5654A"/>
            </a:solidFill>
            <a:prstDash val="solid"/>
          </a:ln>
        </p:spPr>
      </p:sp>
      <p:sp>
        <p:nvSpPr>
          <p:cNvPr id="26" name="Text 24"/>
          <p:cNvSpPr txBox="1"/>
          <p:nvPr/>
        </p:nvSpPr>
        <p:spPr>
          <a:xfrm>
            <a:off x="7516495"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27" name="Text 25"/>
          <p:cNvSpPr txBox="1"/>
          <p:nvPr/>
        </p:nvSpPr>
        <p:spPr>
          <a:xfrm>
            <a:off x="7992110" y="1957070"/>
            <a:ext cx="1325880" cy="402590"/>
          </a:xfrm>
          <a:prstGeom prst="rect">
            <a:avLst/>
          </a:prstGeom>
          <a:noFill/>
          <a:ln/>
        </p:spPr>
        <p:txBody>
          <a:bodyPr wrap="square" lIns="0" tIns="0" rIns="0" bIns="0" rtlCol="0" anchor="ctr"/>
          <a:lstStyle/>
          <a:p>
            <a:pPr indent="0" marL="0">
              <a:buNone/>
            </a:pPr>
            <a:r>
              <a:rPr lang="en-US" sz="1500" b="1" dirty="0">
                <a:solidFill>
                  <a:srgbClr val="1E2621"/>
                </a:solidFill>
                <a:latin typeface="Malgun Gothic" pitchFamily="34" charset="0"/>
                <a:ea typeface="Malgun Gothic" pitchFamily="34" charset="-122"/>
                <a:cs typeface="Malgun Gothic" pitchFamily="34" charset="-120"/>
              </a:rPr>
              <a:t>다운로드 대기</a:t>
            </a:r>
            <a:endParaRPr lang="en-US" sz="1500" dirty="0"/>
          </a:p>
        </p:txBody>
      </p:sp>
      <p:sp>
        <p:nvSpPr>
          <p:cNvPr id="28" name="Text 26"/>
          <p:cNvSpPr txBox="1"/>
          <p:nvPr/>
        </p:nvSpPr>
        <p:spPr>
          <a:xfrm>
            <a:off x="7516495"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.crdownload · .part가</a:t>
            </a:r>
            <a:endParaRPr lang="en-US" sz="1200" dirty="0"/>
          </a:p>
          <a:p>
            <a:pPr indent="0" marL="0">
              <a:lnSpc>
                <a:spcPct val="110000"/>
              </a:lnSpc>
              <a:buNone/>
            </a:pPr>
            <a:r>
              <a:rPr lang="en-US" sz="1200" b="1" dirty="0">
                <a:solidFill>
                  <a:srgbClr val="5E5B52"/>
                </a:solidFill>
                <a:latin typeface="Malgun Gothic" pitchFamily="34" charset="0"/>
                <a:ea typeface="Malgun Gothic" pitchFamily="34" charset="-122"/>
                <a:cs typeface="Malgun Gothic" pitchFamily="34" charset="-120"/>
              </a:rPr>
              <a:t>사라질 때까지 감시</a:t>
            </a:r>
            <a:endParaRPr lang="en-US" sz="1200" dirty="0"/>
          </a:p>
        </p:txBody>
      </p:sp>
      <p:sp>
        <p:nvSpPr>
          <p:cNvPr id="29" name="Shape 27"/>
          <p:cNvSpPr/>
          <p:nvPr/>
        </p:nvSpPr>
        <p:spPr>
          <a:xfrm>
            <a:off x="9381490" y="2414270"/>
            <a:ext cx="219710" cy="274320"/>
          </a:xfrm>
          <a:prstGeom prst="rightArrow">
            <a:avLst/>
          </a:prstGeom>
          <a:solidFill>
            <a:srgbClr val="B5654A"/>
          </a:solidFill>
          <a:ln w="12700">
            <a:solidFill>
              <a:srgbClr val="B5654A"/>
            </a:solidFill>
            <a:prstDash val="solid"/>
          </a:ln>
        </p:spPr>
      </p:sp>
      <p:sp>
        <p:nvSpPr>
          <p:cNvPr id="30" name="Shape 28"/>
          <p:cNvSpPr/>
          <p:nvPr/>
        </p:nvSpPr>
        <p:spPr>
          <a:xfrm>
            <a:off x="9619615" y="1810385"/>
            <a:ext cx="2011680" cy="1481455"/>
          </a:xfrm>
          <a:prstGeom prst="roundRect">
            <a:avLst>
              <a:gd name="adj" fmla="val 8642"/>
            </a:avLst>
          </a:prstGeom>
          <a:solidFill>
            <a:srgbClr val="2E5A46"/>
          </a:solidFill>
          <a:ln w="12700">
            <a:solidFill>
              <a:srgbClr val="2E5A46"/>
            </a:solidFill>
            <a:prstDash val="solid"/>
          </a:ln>
          <a:effectLst>
            <a:outerShdw sx="100000" sy="100000" kx="0" ky="0" algn="bl" rotWithShape="0" blurRad="101600" dist="25400" dir="5400000">
              <a:srgbClr val="8A7A5C">
                <a:alpha val="18000"/>
              </a:srgbClr>
            </a:outerShdw>
          </a:effectLst>
        </p:spPr>
      </p:sp>
      <p:sp>
        <p:nvSpPr>
          <p:cNvPr id="31" name="Shape 29"/>
          <p:cNvSpPr/>
          <p:nvPr/>
        </p:nvSpPr>
        <p:spPr>
          <a:xfrm>
            <a:off x="9784080" y="1957070"/>
            <a:ext cx="402590" cy="402590"/>
          </a:xfrm>
          <a:prstGeom prst="ellipse">
            <a:avLst/>
          </a:prstGeom>
          <a:solidFill>
            <a:srgbClr val="D9A441"/>
          </a:solidFill>
          <a:ln w="12700">
            <a:solidFill>
              <a:srgbClr val="D9A441"/>
            </a:solidFill>
            <a:prstDash val="solid"/>
          </a:ln>
        </p:spPr>
      </p:sp>
      <p:sp>
        <p:nvSpPr>
          <p:cNvPr id="32" name="Text 30"/>
          <p:cNvSpPr txBox="1"/>
          <p:nvPr/>
        </p:nvSpPr>
        <p:spPr>
          <a:xfrm>
            <a:off x="9784080" y="1957070"/>
            <a:ext cx="40259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33" name="Text 31"/>
          <p:cNvSpPr txBox="1"/>
          <p:nvPr/>
        </p:nvSpPr>
        <p:spPr>
          <a:xfrm>
            <a:off x="10259695" y="1957070"/>
            <a:ext cx="1325880" cy="40259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RAW 적재</a:t>
            </a:r>
            <a:endParaRPr lang="en-US" sz="1500" dirty="0"/>
          </a:p>
        </p:txBody>
      </p:sp>
      <p:sp>
        <p:nvSpPr>
          <p:cNvPr id="34" name="Text 32"/>
          <p:cNvSpPr txBox="1"/>
          <p:nvPr/>
        </p:nvSpPr>
        <p:spPr>
          <a:xfrm>
            <a:off x="9784080" y="2487295"/>
            <a:ext cx="1737360" cy="731520"/>
          </a:xfrm>
          <a:prstGeom prst="rect">
            <a:avLst/>
          </a:prstGeom>
          <a:noFill/>
          <a:ln/>
        </p:spPr>
        <p:txBody>
          <a:bodyPr wrap="square" lIns="0" tIns="0" rIns="0" bIns="0" rtlCol="0" anchor="t"/>
          <a:lstStyle/>
          <a:p>
            <a:pPr indent="0" marL="0">
              <a:lnSpc>
                <a:spcPct val="110000"/>
              </a:lnSpc>
              <a:buNone/>
            </a:pPr>
            <a:r>
              <a:rPr lang="en-US" sz="1200" b="1" dirty="0">
                <a:solidFill>
                  <a:srgbClr val="E9E2D2"/>
                </a:solidFill>
                <a:latin typeface="Malgun Gothic" pitchFamily="34" charset="0"/>
                <a:ea typeface="Malgun Gothic" pitchFamily="34" charset="-122"/>
                <a:cs typeface="Malgun Gothic" pitchFamily="34" charset="-120"/>
              </a:rPr>
              <a:t>파일 검증 후</a:t>
            </a:r>
            <a:endParaRPr lang="en-US" sz="1200" dirty="0"/>
          </a:p>
          <a:p>
            <a:pPr indent="0" marL="0">
              <a:lnSpc>
                <a:spcPct val="110000"/>
              </a:lnSpc>
              <a:buNone/>
            </a:pPr>
            <a:r>
              <a:rPr lang="en-US" sz="1200" b="1" dirty="0">
                <a:solidFill>
                  <a:srgbClr val="E9E2D2"/>
                </a:solidFill>
                <a:latin typeface="Malgun Gothic" pitchFamily="34" charset="0"/>
                <a:ea typeface="Malgun Gothic" pitchFamily="34" charset="-122"/>
                <a:cs typeface="Malgun Gothic" pitchFamily="34" charset="-120"/>
              </a:rPr>
              <a:t>PostgreSQL COPY</a:t>
            </a:r>
            <a:endParaRPr lang="en-US" sz="1200" dirty="0"/>
          </a:p>
        </p:txBody>
      </p:sp>
      <p:sp>
        <p:nvSpPr>
          <p:cNvPr id="35" name="Text 33"/>
          <p:cNvSpPr txBox="1">
            <a:spLocks/>
          </p:cNvSpPr>
          <p:nvPr/>
        </p:nvSpPr>
        <p:spPr>
          <a:xfrm rot="0">
            <a:off x="548640" y="3584575"/>
            <a:ext cx="7315835" cy="347980"/>
          </a:xfrm>
          <a:prstGeom prst="rect"/>
          <a:noFill/>
          <a:ln cap="flat" cmpd="sng">
            <a:prstDash/>
          </a:ln>
        </p:spPr>
        <p:txBody>
          <a:bodyPr wrap="square" lIns="0" tIns="0" rIns="0" bIns="0" numCol="1" vert="horz" anchor="t">
            <a:noAutofit/>
          </a:bodyPr>
          <a:lstStyle/>
          <a:p>
            <a:pPr marL="0" indent="0">
              <a:buFontTx/>
              <a:buNone/>
            </a:pPr>
            <a:r>
              <a:rPr lang="en-US" sz="1600" b="1">
                <a:solidFill>
                  <a:srgbClr val="B5654A"/>
                </a:solidFill>
                <a:latin typeface="Malgun Gothic" charset="0"/>
                <a:ea typeface="Malgun Gothic" charset="0"/>
                <a:cs typeface="Malgun Gothic" charset="0"/>
              </a:rPr>
              <a:t>크롤링은 두 곳에서, 서로 다른 시점에 씁니다</a:t>
            </a:r>
            <a:endParaRPr lang="ko-KR" altLang="en-US" sz="1600" b="1">
              <a:solidFill>
                <a:srgbClr val="B5654A"/>
              </a:solidFill>
              <a:latin typeface="Malgun Gothic" charset="0"/>
              <a:ea typeface="Malgun Gothic" charset="0"/>
              <a:cs typeface="Malgun Gothic" charset="0"/>
            </a:endParaRPr>
          </a:p>
        </p:txBody>
      </p:sp>
      <p:sp>
        <p:nvSpPr>
          <p:cNvPr id="44" name="Text 41"/>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45" name="Text 42"/>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16</a:t>
            </a:r>
            <a:endParaRPr lang="en-US" sz="900" dirty="0"/>
          </a:p>
        </p:txBody>
      </p:sp>
      <p:sp>
        <p:nvSpPr>
          <p:cNvPr id="46" name="도형 6"/>
          <p:cNvSpPr>
            <a:spLocks/>
          </p:cNvSpPr>
          <p:nvPr/>
        </p:nvSpPr>
        <p:spPr>
          <a:xfrm rot="0">
            <a:off x="548640" y="384175"/>
            <a:ext cx="384175" cy="38417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0</a:t>
            </a:r>
            <a:r>
              <a:rPr lang="ko-KR" sz="1300" b="1" strike="noStrike">
                <a:solidFill>
                  <a:srgbClr val="FFFFFF"/>
                </a:solidFill>
                <a:latin typeface="Malgun Gothic" charset="0"/>
                <a:ea typeface="Malgun Gothic" charset="0"/>
              </a:rPr>
              <a:t>6</a:t>
            </a:r>
            <a:endParaRPr lang="ko-KR" altLang="en-US" sz="1300" b="1" strike="noStrike">
              <a:solidFill>
                <a:srgbClr val="FFFFFF"/>
              </a:solidFill>
              <a:latin typeface="Malgun Gothic" charset="0"/>
              <a:ea typeface="Malgun 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xmlns:p14="http://schemas.microsoft.com/office/powerpoint/2010/main">
  <p:cSld name="">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sp>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CRAWLING · 다운로드 검증</a:t>
            </a:r>
            <a:endParaRPr lang="en-US" sz="1400" dirty="0"/>
          </a:p>
        </p:txBody>
      </p:sp>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받은 파일도, 그대로 믿지 않습니다</a:t>
            </a:r>
            <a:endParaRPr lang="en-US" sz="3400" dirty="0"/>
          </a:p>
        </p:txBody>
      </p:sp>
      <p:sp>
        <p:nvSpPr>
          <p:cNvPr id="6" name="Shape 4"/>
          <p:cNvSpPr/>
          <p:nvPr/>
        </p:nvSpPr>
        <p:spPr>
          <a:xfrm>
            <a:off x="548640" y="1810385"/>
            <a:ext cx="3520440" cy="1170305"/>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7" name="Shape 5"/>
          <p:cNvSpPr/>
          <p:nvPr/>
        </p:nvSpPr>
        <p:spPr>
          <a:xfrm>
            <a:off x="731520" y="2084705"/>
            <a:ext cx="567055" cy="567055"/>
          </a:xfrm>
          <a:prstGeom prst="ellipse">
            <a:avLst/>
          </a:prstGeom>
          <a:solidFill>
            <a:srgbClr val="2E5A46"/>
          </a:solidFill>
          <a:ln w="12700">
            <a:solidFill>
              <a:srgbClr val="2E5A46"/>
            </a:solidFill>
            <a:prstDash val="solid"/>
          </a:ln>
        </p:spPr>
      </p:sp>
      <p:pic>
        <p:nvPicPr>
          <p:cNvPr id="8" name="Image 0">    </p:cNvPr>
          <p:cNvPicPr>
            <a:picLocks noChangeAspect="1"/>
          </p:cNvPicPr>
          <p:nvPr/>
        </p:nvPicPr>
        <p:blipFill>
          <a:blip r:embed="rId1"/>
          <a:stretch>
            <a:fillRect/>
          </a:stretch>
        </p:blipFill>
        <p:spPr>
          <a:xfrm>
            <a:off x="878840" y="2232025"/>
            <a:ext cx="272415" cy="272415"/>
          </a:xfrm>
          <a:prstGeom prst="rect">
            <a:avLst/>
          </a:prstGeom>
        </p:spPr>
      </p:pic>
      <p:sp>
        <p:nvSpPr>
          <p:cNvPr id="9" name="Text 6"/>
          <p:cNvSpPr txBox="1"/>
          <p:nvPr/>
        </p:nvSpPr>
        <p:spPr>
          <a:xfrm>
            <a:off x="1463040" y="1938655"/>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HTML 페이지 차단</a:t>
            </a:r>
            <a:endParaRPr lang="en-US" sz="1650" dirty="0"/>
          </a:p>
        </p:txBody>
      </p:sp>
      <p:sp>
        <p:nvSpPr>
          <p:cNvPr id="10" name="Text 7"/>
          <p:cNvSpPr txBox="1"/>
          <p:nvPr/>
        </p:nvSpPr>
        <p:spPr>
          <a:xfrm>
            <a:off x="1463040" y="2322830"/>
            <a:ext cx="2514600" cy="603250"/>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받은 파일이 CSV가 아니라</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로그인 페이지 같은 HTML이면 중단</a:t>
            </a:r>
            <a:endParaRPr lang="en-US" sz="1150" dirty="0"/>
          </a:p>
        </p:txBody>
      </p:sp>
      <p:sp>
        <p:nvSpPr>
          <p:cNvPr id="11" name="Shape 8"/>
          <p:cNvSpPr/>
          <p:nvPr/>
        </p:nvSpPr>
        <p:spPr>
          <a:xfrm>
            <a:off x="4251960" y="1810385"/>
            <a:ext cx="3520440" cy="1170305"/>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2" name="Shape 9"/>
          <p:cNvSpPr/>
          <p:nvPr/>
        </p:nvSpPr>
        <p:spPr>
          <a:xfrm>
            <a:off x="4434840" y="2084705"/>
            <a:ext cx="567055" cy="567055"/>
          </a:xfrm>
          <a:prstGeom prst="ellipse">
            <a:avLst/>
          </a:prstGeom>
          <a:solidFill>
            <a:srgbClr val="2E5A46"/>
          </a:solidFill>
          <a:ln w="12700">
            <a:solidFill>
              <a:srgbClr val="2E5A46"/>
            </a:solidFill>
            <a:prstDash val="solid"/>
          </a:ln>
        </p:spPr>
      </p:sp>
      <p:pic>
        <p:nvPicPr>
          <p:cNvPr id="13" name="Image 1">    </p:cNvPr>
          <p:cNvPicPr>
            <a:picLocks noChangeAspect="1"/>
          </p:cNvPicPr>
          <p:nvPr/>
        </p:nvPicPr>
        <p:blipFill>
          <a:blip r:embed="rId2"/>
          <a:stretch>
            <a:fillRect/>
          </a:stretch>
        </p:blipFill>
        <p:spPr>
          <a:xfrm>
            <a:off x="4582160" y="2232025"/>
            <a:ext cx="272415" cy="272415"/>
          </a:xfrm>
          <a:prstGeom prst="rect">
            <a:avLst/>
          </a:prstGeom>
        </p:spPr>
      </p:pic>
      <p:sp>
        <p:nvSpPr>
          <p:cNvPr id="14" name="Text 10"/>
          <p:cNvSpPr txBox="1"/>
          <p:nvPr/>
        </p:nvSpPr>
        <p:spPr>
          <a:xfrm>
            <a:off x="5166360" y="1938655"/>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UTF-8 디코딩</a:t>
            </a:r>
            <a:endParaRPr lang="en-US" sz="1650" dirty="0"/>
          </a:p>
        </p:txBody>
      </p:sp>
      <p:sp>
        <p:nvSpPr>
          <p:cNvPr id="15" name="Text 11"/>
          <p:cNvSpPr txBox="1"/>
          <p:nvPr/>
        </p:nvSpPr>
        <p:spPr>
          <a:xfrm>
            <a:off x="5166360" y="2322830"/>
            <a:ext cx="2514600" cy="603250"/>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인코딩이 깨지면</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깨진 byte 위치와 함께 실패 기록</a:t>
            </a:r>
            <a:endParaRPr lang="en-US" sz="1150" dirty="0"/>
          </a:p>
        </p:txBody>
      </p:sp>
      <p:sp>
        <p:nvSpPr>
          <p:cNvPr id="16" name="Shape 12"/>
          <p:cNvSpPr/>
          <p:nvPr/>
        </p:nvSpPr>
        <p:spPr>
          <a:xfrm>
            <a:off x="548640" y="3163570"/>
            <a:ext cx="3520440" cy="1170305"/>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7" name="Shape 13"/>
          <p:cNvSpPr/>
          <p:nvPr/>
        </p:nvSpPr>
        <p:spPr>
          <a:xfrm>
            <a:off x="731520" y="3437890"/>
            <a:ext cx="567055" cy="567055"/>
          </a:xfrm>
          <a:prstGeom prst="ellipse">
            <a:avLst/>
          </a:prstGeom>
          <a:solidFill>
            <a:srgbClr val="B5654A"/>
          </a:solidFill>
          <a:ln w="12700">
            <a:solidFill>
              <a:srgbClr val="B5654A"/>
            </a:solidFill>
            <a:prstDash val="solid"/>
          </a:ln>
        </p:spPr>
      </p:sp>
      <p:pic>
        <p:nvPicPr>
          <p:cNvPr id="18" name="Image 2">    </p:cNvPr>
          <p:cNvPicPr>
            <a:picLocks noChangeAspect="1"/>
          </p:cNvPicPr>
          <p:nvPr/>
        </p:nvPicPr>
        <p:blipFill>
          <a:blip r:embed="rId3"/>
          <a:stretch>
            <a:fillRect/>
          </a:stretch>
        </p:blipFill>
        <p:spPr>
          <a:xfrm>
            <a:off x="878840" y="3585845"/>
            <a:ext cx="272415" cy="272415"/>
          </a:xfrm>
          <a:prstGeom prst="rect">
            <a:avLst/>
          </a:prstGeom>
        </p:spPr>
      </p:pic>
      <p:sp>
        <p:nvSpPr>
          <p:cNvPr id="19" name="Text 14"/>
          <p:cNvSpPr txBox="1"/>
          <p:nvPr/>
        </p:nvSpPr>
        <p:spPr>
          <a:xfrm>
            <a:off x="1463040" y="3291840"/>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헤더 검사</a:t>
            </a:r>
            <a:endParaRPr lang="en-US" sz="1650" dirty="0"/>
          </a:p>
        </p:txBody>
      </p:sp>
      <p:sp>
        <p:nvSpPr>
          <p:cNvPr id="20" name="Text 15"/>
          <p:cNvSpPr txBox="1"/>
          <p:nvPr/>
        </p:nvSpPr>
        <p:spPr>
          <a:xfrm>
            <a:off x="1463040" y="3676015"/>
            <a:ext cx="2514600" cy="603250"/>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이름 없는 컬럼 ·</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중복 컬럼명이 있으면 차단</a:t>
            </a:r>
            <a:endParaRPr lang="en-US" sz="1150" dirty="0"/>
          </a:p>
        </p:txBody>
      </p:sp>
      <p:sp>
        <p:nvSpPr>
          <p:cNvPr id="21" name="Shape 16"/>
          <p:cNvSpPr/>
          <p:nvPr/>
        </p:nvSpPr>
        <p:spPr>
          <a:xfrm>
            <a:off x="4251960" y="3163570"/>
            <a:ext cx="3520440" cy="1170305"/>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22" name="Shape 17"/>
          <p:cNvSpPr/>
          <p:nvPr/>
        </p:nvSpPr>
        <p:spPr>
          <a:xfrm>
            <a:off x="4434840" y="3437890"/>
            <a:ext cx="567055" cy="567055"/>
          </a:xfrm>
          <a:prstGeom prst="ellipse">
            <a:avLst/>
          </a:prstGeom>
          <a:solidFill>
            <a:srgbClr val="2E5A46"/>
          </a:solidFill>
          <a:ln w="12700">
            <a:solidFill>
              <a:srgbClr val="2E5A46"/>
            </a:solidFill>
            <a:prstDash val="solid"/>
          </a:ln>
        </p:spPr>
      </p:sp>
      <p:pic>
        <p:nvPicPr>
          <p:cNvPr id="23" name="Image 3">    </p:cNvPr>
          <p:cNvPicPr>
            <a:picLocks noChangeAspect="1"/>
          </p:cNvPicPr>
          <p:nvPr/>
        </p:nvPicPr>
        <p:blipFill>
          <a:blip r:embed="rId4"/>
          <a:stretch>
            <a:fillRect/>
          </a:stretch>
        </p:blipFill>
        <p:spPr>
          <a:xfrm>
            <a:off x="4582160" y="3585845"/>
            <a:ext cx="272415" cy="272415"/>
          </a:xfrm>
          <a:prstGeom prst="rect">
            <a:avLst/>
          </a:prstGeom>
        </p:spPr>
      </p:pic>
      <p:sp>
        <p:nvSpPr>
          <p:cNvPr id="24" name="Text 18"/>
          <p:cNvSpPr txBox="1"/>
          <p:nvPr/>
        </p:nvSpPr>
        <p:spPr>
          <a:xfrm>
            <a:off x="5166360" y="3291840"/>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행 구조 검사</a:t>
            </a:r>
            <a:endParaRPr lang="en-US" sz="1650" dirty="0"/>
          </a:p>
        </p:txBody>
      </p:sp>
      <p:sp>
        <p:nvSpPr>
          <p:cNvPr id="25" name="Text 19"/>
          <p:cNvSpPr txBox="1"/>
          <p:nvPr/>
        </p:nvSpPr>
        <p:spPr>
          <a:xfrm>
            <a:off x="5166360" y="3676015"/>
            <a:ext cx="2514600" cy="603250"/>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헤더와 컬럼 수가 다른 행은</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줄 번호를 남기고 중단</a:t>
            </a:r>
            <a:endParaRPr lang="en-US" sz="1150" dirty="0"/>
          </a:p>
        </p:txBody>
      </p:sp>
      <p:sp>
        <p:nvSpPr>
          <p:cNvPr id="26" name="Shape 20"/>
          <p:cNvSpPr/>
          <p:nvPr/>
        </p:nvSpPr>
        <p:spPr>
          <a:xfrm>
            <a:off x="548640" y="4517390"/>
            <a:ext cx="3520440" cy="1170305"/>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27" name="Shape 21"/>
          <p:cNvSpPr/>
          <p:nvPr/>
        </p:nvSpPr>
        <p:spPr>
          <a:xfrm>
            <a:off x="731520" y="4791710"/>
            <a:ext cx="567055" cy="567055"/>
          </a:xfrm>
          <a:prstGeom prst="ellipse">
            <a:avLst/>
          </a:prstGeom>
          <a:solidFill>
            <a:srgbClr val="2E5A46"/>
          </a:solidFill>
          <a:ln w="12700">
            <a:solidFill>
              <a:srgbClr val="2E5A46"/>
            </a:solidFill>
            <a:prstDash val="solid"/>
          </a:ln>
        </p:spPr>
      </p:sp>
      <p:pic>
        <p:nvPicPr>
          <p:cNvPr id="28" name="Image 4">    </p:cNvPr>
          <p:cNvPicPr>
            <a:picLocks noChangeAspect="1"/>
          </p:cNvPicPr>
          <p:nvPr/>
        </p:nvPicPr>
        <p:blipFill>
          <a:blip r:embed="rId5"/>
          <a:stretch>
            <a:fillRect/>
          </a:stretch>
        </p:blipFill>
        <p:spPr>
          <a:xfrm>
            <a:off x="878840" y="4939030"/>
            <a:ext cx="272415" cy="272415"/>
          </a:xfrm>
          <a:prstGeom prst="rect">
            <a:avLst/>
          </a:prstGeom>
        </p:spPr>
      </p:pic>
      <p:sp>
        <p:nvSpPr>
          <p:cNvPr id="29" name="Text 22"/>
          <p:cNvSpPr txBox="1"/>
          <p:nvPr/>
        </p:nvSpPr>
        <p:spPr>
          <a:xfrm>
            <a:off x="1463040" y="4645025"/>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NUL 문자 차단</a:t>
            </a:r>
            <a:endParaRPr lang="en-US" sz="1650" dirty="0"/>
          </a:p>
        </p:txBody>
      </p:sp>
      <p:sp>
        <p:nvSpPr>
          <p:cNvPr id="30" name="Text 23"/>
          <p:cNvSpPr txBox="1"/>
          <p:nvPr/>
        </p:nvSpPr>
        <p:spPr>
          <a:xfrm>
            <a:off x="1463040" y="5029200"/>
            <a:ext cx="2514600" cy="603250"/>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PostgreSQL TEXT가 허용하지 않는</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문자가 있으면 적재 전 중단</a:t>
            </a:r>
            <a:endParaRPr lang="en-US" sz="1150" dirty="0"/>
          </a:p>
        </p:txBody>
      </p:sp>
      <p:sp>
        <p:nvSpPr>
          <p:cNvPr id="31" name="Shape 24"/>
          <p:cNvSpPr/>
          <p:nvPr/>
        </p:nvSpPr>
        <p:spPr>
          <a:xfrm>
            <a:off x="4251960" y="4517390"/>
            <a:ext cx="3520440" cy="1170305"/>
          </a:xfrm>
          <a:prstGeom prst="roundRect">
            <a:avLst>
              <a:gd name="adj" fmla="val 10938"/>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32" name="Shape 25"/>
          <p:cNvSpPr/>
          <p:nvPr/>
        </p:nvSpPr>
        <p:spPr>
          <a:xfrm>
            <a:off x="4434840" y="4791710"/>
            <a:ext cx="567055" cy="567055"/>
          </a:xfrm>
          <a:prstGeom prst="ellipse">
            <a:avLst/>
          </a:prstGeom>
          <a:solidFill>
            <a:srgbClr val="B5654A"/>
          </a:solidFill>
          <a:ln w="12700">
            <a:solidFill>
              <a:srgbClr val="B5654A"/>
            </a:solidFill>
            <a:prstDash val="solid"/>
          </a:ln>
        </p:spPr>
      </p:sp>
      <p:pic>
        <p:nvPicPr>
          <p:cNvPr id="33" name="Image 5">    </p:cNvPr>
          <p:cNvPicPr>
            <a:picLocks noChangeAspect="1"/>
          </p:cNvPicPr>
          <p:nvPr/>
        </p:nvPicPr>
        <p:blipFill>
          <a:blip r:embed="rId6"/>
          <a:stretch>
            <a:fillRect/>
          </a:stretch>
        </p:blipFill>
        <p:spPr>
          <a:xfrm>
            <a:off x="4582160" y="4939030"/>
            <a:ext cx="272415" cy="272415"/>
          </a:xfrm>
          <a:prstGeom prst="rect">
            <a:avLst/>
          </a:prstGeom>
        </p:spPr>
      </p:pic>
      <p:sp>
        <p:nvSpPr>
          <p:cNvPr id="34" name="Text 26"/>
          <p:cNvSpPr txBox="1"/>
          <p:nvPr/>
        </p:nvSpPr>
        <p:spPr>
          <a:xfrm>
            <a:off x="5166360" y="4645025"/>
            <a:ext cx="2514600" cy="365760"/>
          </a:xfrm>
          <a:prstGeom prst="rect">
            <a:avLst/>
          </a:prstGeom>
          <a:noFill/>
          <a:ln/>
        </p:spPr>
        <p:txBody>
          <a:bodyPr wrap="square" lIns="0" tIns="0" rIns="0" bIns="0" rtlCol="0" anchor="t"/>
          <a:lstStyle/>
          <a:p>
            <a:pPr indent="0" marL="0">
              <a:buNone/>
            </a:pPr>
            <a:r>
              <a:rPr lang="en-US" sz="1650" b="1" dirty="0">
                <a:solidFill>
                  <a:srgbClr val="1E2621"/>
                </a:solidFill>
                <a:latin typeface="Malgun Gothic" pitchFamily="34" charset="0"/>
                <a:ea typeface="Malgun Gothic" pitchFamily="34" charset="-122"/>
                <a:cs typeface="Malgun Gothic" pitchFamily="34" charset="-120"/>
              </a:rPr>
              <a:t>빈 파일 차단</a:t>
            </a:r>
            <a:endParaRPr lang="en-US" sz="1650" dirty="0"/>
          </a:p>
        </p:txBody>
      </p:sp>
      <p:sp>
        <p:nvSpPr>
          <p:cNvPr id="35" name="Text 27"/>
          <p:cNvSpPr txBox="1"/>
          <p:nvPr/>
        </p:nvSpPr>
        <p:spPr>
          <a:xfrm>
            <a:off x="5166360" y="5029200"/>
            <a:ext cx="2514600" cy="603250"/>
          </a:xfrm>
          <a:prstGeom prst="rect">
            <a:avLst/>
          </a:prstGeom>
          <a:noFill/>
          <a:ln/>
        </p:spPr>
        <p:txBody>
          <a:bodyPr wrap="square" lIns="0" tIns="0" rIns="0" bIns="0" rtlCol="0" anchor="t"/>
          <a:lstStyle/>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헤더 외 데이터 행이 0건이면</a:t>
            </a:r>
            <a:endParaRPr lang="en-US" sz="1150" dirty="0"/>
          </a:p>
          <a:p>
            <a:pPr indent="0" marL="0">
              <a:lnSpc>
                <a:spcPct val="105000"/>
              </a:lnSpc>
              <a:buNone/>
            </a:pPr>
            <a:r>
              <a:rPr lang="en-US" sz="1150" b="1" dirty="0">
                <a:solidFill>
                  <a:srgbClr val="5E5B52"/>
                </a:solidFill>
                <a:latin typeface="Malgun Gothic" pitchFamily="34" charset="0"/>
                <a:ea typeface="Malgun Gothic" pitchFamily="34" charset="-122"/>
                <a:cs typeface="Malgun Gothic" pitchFamily="34" charset="-120"/>
              </a:rPr>
              <a:t>적재하지 않음</a:t>
            </a:r>
            <a:endParaRPr lang="en-US" sz="1150" dirty="0"/>
          </a:p>
        </p:txBody>
      </p:sp>
      <p:sp>
        <p:nvSpPr>
          <p:cNvPr id="36" name="Shape 28"/>
          <p:cNvSpPr/>
          <p:nvPr/>
        </p:nvSpPr>
        <p:spPr>
          <a:xfrm>
            <a:off x="8092440" y="1810385"/>
            <a:ext cx="3547745" cy="3877310"/>
          </a:xfrm>
          <a:prstGeom prst="roundRect">
            <a:avLst>
              <a:gd name="adj" fmla="val 3608"/>
            </a:avLst>
          </a:prstGeom>
          <a:solidFill>
            <a:srgbClr val="1E3B2F"/>
          </a:solidFill>
          <a:ln w="12700">
            <a:solidFill>
              <a:srgbClr val="1E3B2F"/>
            </a:solidFill>
            <a:prstDash val="solid"/>
          </a:ln>
          <a:effectLst>
            <a:outerShdw sx="100000" sy="100000" kx="0" ky="0" algn="bl" rotWithShape="0" blurRad="101600" dist="25400" dir="5400000">
              <a:srgbClr val="8A7A5C">
                <a:alpha val="18000"/>
              </a:srgbClr>
            </a:outerShdw>
          </a:effectLst>
        </p:spPr>
      </p:sp>
      <p:sp>
        <p:nvSpPr>
          <p:cNvPr id="37" name="Text 29"/>
          <p:cNvSpPr txBox="1"/>
          <p:nvPr/>
        </p:nvSpPr>
        <p:spPr>
          <a:xfrm>
            <a:off x="8321040" y="1938655"/>
            <a:ext cx="3108960" cy="384175"/>
          </a:xfrm>
          <a:prstGeom prst="rect">
            <a:avLst/>
          </a:prstGeom>
          <a:noFill/>
          <a:ln/>
        </p:spPr>
        <p:txBody>
          <a:bodyPr wrap="square" lIns="0" tIns="0" rIns="0" bIns="0" rtlCol="0" anchor="t"/>
          <a:lstStyle/>
          <a:p>
            <a:pPr indent="0" marL="0">
              <a:buNone/>
            </a:pPr>
            <a:r>
              <a:rPr lang="en-US" sz="1700" b="1" dirty="0">
                <a:solidFill>
                  <a:srgbClr val="D9A441"/>
                </a:solidFill>
                <a:latin typeface="Malgun Gothic" pitchFamily="34" charset="0"/>
                <a:ea typeface="Malgun Gothic" pitchFamily="34" charset="-122"/>
                <a:cs typeface="Malgun Gothic" pitchFamily="34" charset="-120"/>
              </a:rPr>
              <a:t>행 수를 5번 대조합니다</a:t>
            </a:r>
            <a:endParaRPr lang="en-US" sz="1700" dirty="0"/>
          </a:p>
        </p:txBody>
      </p:sp>
      <p:sp>
        <p:nvSpPr>
          <p:cNvPr id="38" name="Shape 30"/>
          <p:cNvSpPr/>
          <p:nvPr/>
        </p:nvSpPr>
        <p:spPr>
          <a:xfrm>
            <a:off x="8458200" y="2450465"/>
            <a:ext cx="2834640" cy="420370"/>
          </a:xfrm>
          <a:prstGeom prst="roundRect">
            <a:avLst>
              <a:gd name="adj" fmla="val 50000"/>
            </a:avLst>
          </a:prstGeom>
          <a:solidFill>
            <a:srgbClr val="2E5A46"/>
          </a:solidFill>
          <a:ln w="12700">
            <a:solidFill>
              <a:srgbClr val="2E5A46"/>
            </a:solidFill>
            <a:prstDash val="solid"/>
          </a:ln>
        </p:spPr>
      </p:sp>
      <p:sp>
        <p:nvSpPr>
          <p:cNvPr id="39" name="Text 31"/>
          <p:cNvSpPr txBox="1"/>
          <p:nvPr/>
        </p:nvSpPr>
        <p:spPr>
          <a:xfrm>
            <a:off x="8458200" y="2450465"/>
            <a:ext cx="2834640" cy="420370"/>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CSV 검증 행 수</a:t>
            </a:r>
            <a:endParaRPr lang="en-US" sz="1350" dirty="0"/>
          </a:p>
        </p:txBody>
      </p:sp>
      <p:sp>
        <p:nvSpPr>
          <p:cNvPr id="40" name="Text 32"/>
          <p:cNvSpPr txBox="1"/>
          <p:nvPr/>
        </p:nvSpPr>
        <p:spPr>
          <a:xfrm>
            <a:off x="8458200" y="2853055"/>
            <a:ext cx="2834640" cy="219710"/>
          </a:xfrm>
          <a:prstGeom prst="rect">
            <a:avLst/>
          </a:prstGeom>
          <a:noFill/>
          <a:ln/>
        </p:spPr>
        <p:txBody>
          <a:bodyPr wrap="square" lIns="0" tIns="0" rIns="0" bIns="0" rtlCol="0" anchor="ctr"/>
          <a:lstStyle/>
          <a:p>
            <a:pPr algn="ctr" indent="0" marL="0">
              <a:buNone/>
            </a:pPr>
            <a:r>
              <a:rPr lang="en-US" sz="1300" b="1" dirty="0">
                <a:solidFill>
                  <a:srgbClr val="D9A441"/>
                </a:solidFill>
                <a:latin typeface="Malgun Gothic" pitchFamily="34" charset="0"/>
                <a:ea typeface="Malgun Gothic" pitchFamily="34" charset="-122"/>
                <a:cs typeface="Malgun Gothic" pitchFamily="34" charset="-120"/>
              </a:rPr>
              <a:t>=</a:t>
            </a:r>
            <a:endParaRPr lang="en-US" sz="1300" dirty="0"/>
          </a:p>
        </p:txBody>
      </p:sp>
      <p:sp>
        <p:nvSpPr>
          <p:cNvPr id="41" name="Shape 33"/>
          <p:cNvSpPr/>
          <p:nvPr/>
        </p:nvSpPr>
        <p:spPr>
          <a:xfrm>
            <a:off x="8458200" y="3054350"/>
            <a:ext cx="2834640" cy="420370"/>
          </a:xfrm>
          <a:prstGeom prst="roundRect">
            <a:avLst>
              <a:gd name="adj" fmla="val 50000"/>
            </a:avLst>
          </a:prstGeom>
          <a:solidFill>
            <a:srgbClr val="2E5A46"/>
          </a:solidFill>
          <a:ln w="12700">
            <a:solidFill>
              <a:srgbClr val="2E5A46"/>
            </a:solidFill>
            <a:prstDash val="solid"/>
          </a:ln>
        </p:spPr>
      </p:sp>
      <p:sp>
        <p:nvSpPr>
          <p:cNvPr id="42" name="Text 34"/>
          <p:cNvSpPr txBox="1"/>
          <p:nvPr/>
        </p:nvSpPr>
        <p:spPr>
          <a:xfrm>
            <a:off x="8458200" y="3054350"/>
            <a:ext cx="2834640" cy="420370"/>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COPY 행 수</a:t>
            </a:r>
            <a:endParaRPr lang="en-US" sz="1350" dirty="0"/>
          </a:p>
        </p:txBody>
      </p:sp>
      <p:sp>
        <p:nvSpPr>
          <p:cNvPr id="43" name="Text 35"/>
          <p:cNvSpPr txBox="1"/>
          <p:nvPr/>
        </p:nvSpPr>
        <p:spPr>
          <a:xfrm>
            <a:off x="8458200" y="3456305"/>
            <a:ext cx="2834640" cy="219710"/>
          </a:xfrm>
          <a:prstGeom prst="rect">
            <a:avLst/>
          </a:prstGeom>
          <a:noFill/>
          <a:ln/>
        </p:spPr>
        <p:txBody>
          <a:bodyPr wrap="square" lIns="0" tIns="0" rIns="0" bIns="0" rtlCol="0" anchor="ctr"/>
          <a:lstStyle/>
          <a:p>
            <a:pPr algn="ctr" indent="0" marL="0">
              <a:buNone/>
            </a:pPr>
            <a:r>
              <a:rPr lang="en-US" sz="1300" b="1" dirty="0">
                <a:solidFill>
                  <a:srgbClr val="D9A441"/>
                </a:solidFill>
                <a:latin typeface="Malgun Gothic" pitchFamily="34" charset="0"/>
                <a:ea typeface="Malgun Gothic" pitchFamily="34" charset="-122"/>
                <a:cs typeface="Malgun Gothic" pitchFamily="34" charset="-120"/>
              </a:rPr>
              <a:t>=</a:t>
            </a:r>
            <a:endParaRPr lang="en-US" sz="1300" dirty="0"/>
          </a:p>
        </p:txBody>
      </p:sp>
      <p:sp>
        <p:nvSpPr>
          <p:cNvPr id="44" name="Shape 36"/>
          <p:cNvSpPr/>
          <p:nvPr/>
        </p:nvSpPr>
        <p:spPr>
          <a:xfrm>
            <a:off x="8458200" y="3657600"/>
            <a:ext cx="2834640" cy="420370"/>
          </a:xfrm>
          <a:prstGeom prst="roundRect">
            <a:avLst>
              <a:gd name="adj" fmla="val 50000"/>
            </a:avLst>
          </a:prstGeom>
          <a:solidFill>
            <a:srgbClr val="2E5A46"/>
          </a:solidFill>
          <a:ln w="12700">
            <a:solidFill>
              <a:srgbClr val="2E5A46"/>
            </a:solidFill>
            <a:prstDash val="solid"/>
          </a:ln>
        </p:spPr>
      </p:sp>
      <p:sp>
        <p:nvSpPr>
          <p:cNvPr id="45" name="Text 37"/>
          <p:cNvSpPr txBox="1"/>
          <p:nvPr/>
        </p:nvSpPr>
        <p:spPr>
          <a:xfrm>
            <a:off x="8458200" y="3657600"/>
            <a:ext cx="2834640" cy="420370"/>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staging 테이블</a:t>
            </a:r>
            <a:endParaRPr lang="en-US" sz="1350" dirty="0"/>
          </a:p>
        </p:txBody>
      </p:sp>
      <p:sp>
        <p:nvSpPr>
          <p:cNvPr id="46" name="Text 38"/>
          <p:cNvSpPr txBox="1"/>
          <p:nvPr/>
        </p:nvSpPr>
        <p:spPr>
          <a:xfrm>
            <a:off x="8458200" y="4060190"/>
            <a:ext cx="2834640" cy="219710"/>
          </a:xfrm>
          <a:prstGeom prst="rect">
            <a:avLst/>
          </a:prstGeom>
          <a:noFill/>
          <a:ln/>
        </p:spPr>
        <p:txBody>
          <a:bodyPr wrap="square" lIns="0" tIns="0" rIns="0" bIns="0" rtlCol="0" anchor="ctr"/>
          <a:lstStyle/>
          <a:p>
            <a:pPr algn="ctr" indent="0" marL="0">
              <a:buNone/>
            </a:pPr>
            <a:r>
              <a:rPr lang="en-US" sz="1300" b="1" dirty="0">
                <a:solidFill>
                  <a:srgbClr val="D9A441"/>
                </a:solidFill>
                <a:latin typeface="Malgun Gothic" pitchFamily="34" charset="0"/>
                <a:ea typeface="Malgun Gothic" pitchFamily="34" charset="-122"/>
                <a:cs typeface="Malgun Gothic" pitchFamily="34" charset="-120"/>
              </a:rPr>
              <a:t>=</a:t>
            </a:r>
            <a:endParaRPr lang="en-US" sz="1300" dirty="0"/>
          </a:p>
        </p:txBody>
      </p:sp>
      <p:sp>
        <p:nvSpPr>
          <p:cNvPr id="47" name="Shape 39"/>
          <p:cNvSpPr/>
          <p:nvPr/>
        </p:nvSpPr>
        <p:spPr>
          <a:xfrm>
            <a:off x="8458200" y="4260850"/>
            <a:ext cx="2834640" cy="420370"/>
          </a:xfrm>
          <a:prstGeom prst="roundRect">
            <a:avLst>
              <a:gd name="adj" fmla="val 50000"/>
            </a:avLst>
          </a:prstGeom>
          <a:solidFill>
            <a:srgbClr val="2E5A46"/>
          </a:solidFill>
          <a:ln w="12700">
            <a:solidFill>
              <a:srgbClr val="2E5A46"/>
            </a:solidFill>
            <a:prstDash val="solid"/>
          </a:ln>
        </p:spPr>
      </p:sp>
      <p:sp>
        <p:nvSpPr>
          <p:cNvPr id="48" name="Text 40"/>
          <p:cNvSpPr txBox="1"/>
          <p:nvPr/>
        </p:nvSpPr>
        <p:spPr>
          <a:xfrm>
            <a:off x="8458200" y="4260850"/>
            <a:ext cx="2834640" cy="420370"/>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final 테이블</a:t>
            </a:r>
            <a:endParaRPr lang="en-US" sz="1350" dirty="0"/>
          </a:p>
        </p:txBody>
      </p:sp>
      <p:sp>
        <p:nvSpPr>
          <p:cNvPr id="49" name="Text 41"/>
          <p:cNvSpPr txBox="1"/>
          <p:nvPr/>
        </p:nvSpPr>
        <p:spPr>
          <a:xfrm>
            <a:off x="8458200" y="4663440"/>
            <a:ext cx="2834640" cy="219710"/>
          </a:xfrm>
          <a:prstGeom prst="rect">
            <a:avLst/>
          </a:prstGeom>
          <a:noFill/>
          <a:ln/>
        </p:spPr>
        <p:txBody>
          <a:bodyPr wrap="square" lIns="0" tIns="0" rIns="0" bIns="0" rtlCol="0" anchor="ctr"/>
          <a:lstStyle/>
          <a:p>
            <a:pPr algn="ctr" indent="0" marL="0">
              <a:buNone/>
            </a:pPr>
            <a:r>
              <a:rPr lang="en-US" sz="1300" b="1" dirty="0">
                <a:solidFill>
                  <a:srgbClr val="D9A441"/>
                </a:solidFill>
                <a:latin typeface="Malgun Gothic" pitchFamily="34" charset="0"/>
                <a:ea typeface="Malgun Gothic" pitchFamily="34" charset="-122"/>
                <a:cs typeface="Malgun Gothic" pitchFamily="34" charset="-120"/>
              </a:rPr>
              <a:t>=</a:t>
            </a:r>
            <a:endParaRPr lang="en-US" sz="1300" dirty="0"/>
          </a:p>
        </p:txBody>
      </p:sp>
      <p:sp>
        <p:nvSpPr>
          <p:cNvPr id="50" name="Shape 42"/>
          <p:cNvSpPr/>
          <p:nvPr/>
        </p:nvSpPr>
        <p:spPr>
          <a:xfrm>
            <a:off x="8458200" y="4864735"/>
            <a:ext cx="2834640" cy="420370"/>
          </a:xfrm>
          <a:prstGeom prst="roundRect">
            <a:avLst>
              <a:gd name="adj" fmla="val 50000"/>
            </a:avLst>
          </a:prstGeom>
          <a:solidFill>
            <a:srgbClr val="B5654A"/>
          </a:solidFill>
          <a:ln w="12700">
            <a:solidFill>
              <a:srgbClr val="B5654A"/>
            </a:solidFill>
            <a:prstDash val="solid"/>
          </a:ln>
        </p:spPr>
      </p:sp>
      <p:sp>
        <p:nvSpPr>
          <p:cNvPr id="51" name="Text 43"/>
          <p:cNvSpPr txBox="1"/>
          <p:nvPr/>
        </p:nvSpPr>
        <p:spPr>
          <a:xfrm>
            <a:off x="8458200" y="4864735"/>
            <a:ext cx="2834640" cy="420370"/>
          </a:xfrm>
          <a:prstGeom prst="rect">
            <a:avLst/>
          </a:prstGeom>
          <a:noFill/>
          <a:ln/>
        </p:spPr>
        <p:txBody>
          <a:bodyPr wrap="square" lIns="0" tIns="0" rIns="0" bIns="0" rtlCol="0" anchor="ct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커밋 후 조회</a:t>
            </a:r>
            <a:endParaRPr lang="en-US" sz="1350" dirty="0"/>
          </a:p>
        </p:txBody>
      </p:sp>
      <p:sp>
        <p:nvSpPr>
          <p:cNvPr id="52" name="Shape 44"/>
          <p:cNvSpPr/>
          <p:nvPr/>
        </p:nvSpPr>
        <p:spPr>
          <a:xfrm>
            <a:off x="548640" y="5852160"/>
            <a:ext cx="11091545" cy="457200"/>
          </a:xfrm>
          <a:prstGeom prst="roundRect">
            <a:avLst>
              <a:gd name="adj" fmla="val 28000"/>
            </a:avLst>
          </a:prstGeom>
          <a:solidFill>
            <a:srgbClr val="E3EDE5"/>
          </a:solidFill>
          <a:ln w="12700">
            <a:solidFill>
              <a:srgbClr val="E3EDE5"/>
            </a:solidFill>
            <a:prstDash val="solid"/>
          </a:ln>
        </p:spPr>
      </p:sp>
      <p:sp>
        <p:nvSpPr>
          <p:cNvPr id="53" name="Text 45"/>
          <p:cNvSpPr txBox="1"/>
          <p:nvPr/>
        </p:nvSpPr>
        <p:spPr>
          <a:xfrm>
            <a:off x="731520" y="5852160"/>
            <a:ext cx="10789920" cy="457200"/>
          </a:xfrm>
          <a:prstGeom prst="rect">
            <a:avLst/>
          </a:prstGeom>
          <a:noFill/>
          <a:ln/>
        </p:spPr>
        <p:txBody>
          <a:bodyPr wrap="square" lIns="0" tIns="0" rIns="0" bIns="0" rtlCol="0" anchor="ctr"/>
          <a:lstStyle/>
          <a:p>
            <a:pPr indent="0" marL="0">
              <a:buNone/>
            </a:pPr>
            <a:r>
              <a:rPr lang="en-US" sz="1300" b="1" dirty="0">
                <a:solidFill>
                  <a:srgbClr val="B5654A"/>
                </a:solidFill>
                <a:latin typeface="Malgun Gothic" pitchFamily="34" charset="0"/>
                <a:ea typeface="Malgun Gothic" pitchFamily="34" charset="-122"/>
                <a:cs typeface="Malgun Gothic" pitchFamily="34" charset="-120"/>
              </a:rPr>
              <a:t>원본은 수정하지 않습니다  </a:t>
            </a:r>
            <a:pPr indent="0" marL="0">
              <a:buNone/>
            </a:pPr>
            <a:r>
              <a:rPr lang="en-US" sz="1300" b="1" dirty="0">
                <a:solidFill>
                  <a:srgbClr val="1E3B2F"/>
                </a:solidFill>
                <a:latin typeface="Malgun Gothic" pitchFamily="34" charset="0"/>
                <a:ea typeface="Malgun Gothic" pitchFamily="34" charset="-122"/>
                <a:cs typeface="Malgun Gothic" pitchFamily="34" charset="-120"/>
              </a:rPr>
              <a:t>빈 문자열만 NULL로 바꾸고 나머지 원본 문자열은 그대로 COPY · 실패 시 stage와 원인을 로그로 기록</a:t>
            </a:r>
            <a:endParaRPr lang="en-US" sz="1300" dirty="0"/>
          </a:p>
        </p:txBody>
      </p:sp>
      <p:sp>
        <p:nvSpPr>
          <p:cNvPr id="54" name="Text 46"/>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55" name="Text 47"/>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17</a:t>
            </a:r>
            <a:endParaRPr lang="en-US" sz="900" dirty="0"/>
          </a:p>
        </p:txBody>
      </p:sp>
      <p:sp>
        <p:nvSpPr>
          <p:cNvPr id="56" name="도형 7"/>
          <p:cNvSpPr>
            <a:spLocks/>
          </p:cNvSpPr>
          <p:nvPr/>
        </p:nvSpPr>
        <p:spPr>
          <a:xfrm rot="0">
            <a:off x="548640" y="384175"/>
            <a:ext cx="384175" cy="38417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0</a:t>
            </a:r>
            <a:r>
              <a:rPr lang="ko-KR" sz="1300" b="1" strike="noStrike">
                <a:solidFill>
                  <a:srgbClr val="FFFFFF"/>
                </a:solidFill>
                <a:latin typeface="Malgun Gothic" charset="0"/>
                <a:ea typeface="Malgun Gothic" charset="0"/>
              </a:rPr>
              <a:t>6</a:t>
            </a:r>
            <a:endParaRPr lang="ko-KR" altLang="en-US" sz="1300" b="1" strike="noStrike">
              <a:solidFill>
                <a:srgbClr val="FFFFFF"/>
              </a:solidFill>
              <a:latin typeface="Malgun Gothic" charset="0"/>
              <a:ea typeface="Malgun 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xmlns:p14="http://schemas.microsoft.com/office/powerpoint/2010/main">
  <p:cSld name="">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txBody>
          <a:bodyPr/>
          <a:p/>
        </p:txBody>
      </p:sp>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EXCEPTION · 오류 분류</a:t>
            </a:r>
            <a:endParaRPr lang="en-US" sz="1400" dirty="0"/>
          </a:p>
        </p:txBody>
      </p:sp>
      <p:graphicFrame>
        <p:nvGraphicFramePr>
          <p:cNvPr id="4" name="Text 2"/>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914400"/>
        </p:xfrm>
        <a:graphic>
          <a:graphicData uri="http://schemas.openxmlformats.org/drawingml/2006/table">
            <a:tbl>
              <a:tblPr/>
              <a:tblGrid>
                <a:gridCol w="2834640"/>
                <a:gridCol w="4325112"/>
                <a:gridCol w="3931920"/>
              </a:tblGrid>
              <a:tr h="420624">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오류 유형</a:t>
                      </a:r>
                      <a:endParaRPr lang="en-US" sz="125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예시</a:t>
                      </a:r>
                      <a:endParaRPr lang="en-US" sz="125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처리 방식</a:t>
                      </a:r>
                      <a:endParaRPr lang="en-US" sz="125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658368">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일시적 오류</a:t>
                      </a:r>
                      <a:endParaRPr lang="en-US" sz="1200" dirty="0">
                        <a:latin typeface="Malgun Gothic" charset="0"/>
                        <a:ea typeface="Malgun Gothic" charset="0"/>
                        <a:cs typeface="Malgun Gothic" charset="0"/>
                      </a:endParaRPr>
                    </a:p>
                    <a:p>
                      <a:pPr indent="0" marL="0">
                        <a:buNone/>
                      </a:pPr>
                      <a:r>
                        <a:rPr lang="en-US" sz="1200" b="1" dirty="0">
                          <a:solidFill>
                            <a:srgbClr val="1E2621"/>
                          </a:solidFill>
                          <a:latin typeface="Malgun Gothic" pitchFamily="34" charset="0"/>
                          <a:ea typeface="Malgun Gothic" pitchFamily="34" charset="-122"/>
                          <a:cs typeface="Malgun Gothic" pitchFamily="34" charset="-120"/>
                        </a:rPr>
                        <a:t>TransientApiError</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Timeout · 연결 오류 · HTTP 5xx</a:t>
                      </a:r>
                      <a:endParaRPr lang="en-US" sz="1200" dirty="0">
                        <a:latin typeface="Malgun Gothic" charset="0"/>
                        <a:ea typeface="Malgun Gothic" charset="0"/>
                        <a:cs typeface="Malgun Gothic" charset="0"/>
                      </a:endParaRPr>
                    </a:p>
                    <a:p>
                      <a:pPr indent="0" marL="0">
                        <a:buNone/>
                      </a:pPr>
                      <a:r>
                        <a:rPr lang="en-US" sz="1200" b="1" dirty="0">
                          <a:solidFill>
                            <a:srgbClr val="5E5B52"/>
                          </a:solidFill>
                          <a:latin typeface="Malgun Gothic" pitchFamily="34" charset="0"/>
                          <a:ea typeface="Malgun Gothic" pitchFamily="34" charset="-122"/>
                          <a:cs typeface="Malgun Gothic" pitchFamily="34" charset="-120"/>
                        </a:rPr>
                        <a:t>일시적 429 · resultCode 99</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최대 3회 재시도</a:t>
                      </a:r>
                      <a:endParaRPr lang="en-US" sz="1200" dirty="0">
                        <a:latin typeface="Malgun Gothic" charset="0"/>
                        <a:ea typeface="Malgun Gothic" charset="0"/>
                        <a:cs typeface="Malgun Gothic" charset="0"/>
                      </a:endParaRPr>
                    </a:p>
                    <a:p>
                      <a:pPr indent="0" marL="0">
                        <a:buNone/>
                      </a:pPr>
                      <a:r>
                        <a:rPr lang="en-US" sz="1200" b="1" dirty="0">
                          <a:solidFill>
                            <a:srgbClr val="2E5A46"/>
                          </a:solidFill>
                          <a:latin typeface="Malgun Gothic" pitchFamily="34" charset="0"/>
                          <a:ea typeface="Malgun Gothic" pitchFamily="34" charset="-122"/>
                          <a:cs typeface="Malgun Gothic" pitchFamily="34" charset="-120"/>
                        </a:rPr>
                        <a:t>3초 → 5초 대기 후 다시 요청</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영구 오류</a:t>
                      </a:r>
                      <a:endParaRPr lang="en-US" sz="1200" dirty="0">
                        <a:latin typeface="Malgun Gothic" charset="0"/>
                        <a:ea typeface="Malgun Gothic" charset="0"/>
                        <a:cs typeface="Malgun Gothic" charset="0"/>
                      </a:endParaRPr>
                    </a:p>
                    <a:p>
                      <a:pPr indent="0" marL="0">
                        <a:buNone/>
                      </a:pPr>
                      <a:r>
                        <a:rPr lang="en-US" sz="1200" b="1" dirty="0">
                          <a:solidFill>
                            <a:srgbClr val="1E2621"/>
                          </a:solidFill>
                          <a:latin typeface="Malgun Gothic" pitchFamily="34" charset="0"/>
                          <a:ea typeface="Malgun Gothic" pitchFamily="34" charset="-122"/>
                          <a:cs typeface="Malgun Gothic" pitchFamily="34" charset="-120"/>
                        </a:rPr>
                        <a:t>PermanentApiError</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HTTP 4xx · 정의되지 않은 resultCode</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B5654A"/>
                          </a:solidFill>
                          <a:latin typeface="Malgun Gothic" pitchFamily="34" charset="0"/>
                          <a:ea typeface="Malgun Gothic" pitchFamily="34" charset="-122"/>
                          <a:cs typeface="Malgun Gothic" pitchFamily="34" charset="-120"/>
                        </a:rPr>
                        <a:t>재시도 없이 실패 기록</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범위 오류</a:t>
                      </a:r>
                      <a:endParaRPr lang="en-US" sz="1200" dirty="0">
                        <a:latin typeface="Malgun Gothic" charset="0"/>
                        <a:ea typeface="Malgun Gothic" charset="0"/>
                        <a:cs typeface="Malgun Gothic" charset="0"/>
                      </a:endParaRPr>
                    </a:p>
                    <a:p>
                      <a:pPr indent="0" marL="0">
                        <a:buNone/>
                      </a:pPr>
                      <a:r>
                        <a:rPr lang="en-US" sz="1200" b="1" dirty="0">
                          <a:solidFill>
                            <a:srgbClr val="1E2621"/>
                          </a:solidFill>
                          <a:latin typeface="Malgun Gothic" pitchFamily="34" charset="0"/>
                          <a:ea typeface="Malgun Gothic" pitchFamily="34" charset="-122"/>
                          <a:cs typeface="Malgun Gothic" pitchFamily="34" charset="-120"/>
                        </a:rPr>
                        <a:t>UnsupportedScopeError</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resultCode 10</a:t>
                      </a:r>
                      <a:endParaRPr lang="en-US" sz="1200" dirty="0">
                        <a:latin typeface="Malgun Gothic" charset="0"/>
                        <a:ea typeface="Malgun Gothic" charset="0"/>
                        <a:cs typeface="Malgun Gothic" charset="0"/>
                      </a:endParaRPr>
                    </a:p>
                    <a:p>
                      <a:pPr indent="0" marL="0">
                        <a:buNone/>
                      </a:pPr>
                      <a:r>
                        <a:rPr lang="en-US" sz="1200" b="1" dirty="0">
                          <a:solidFill>
                            <a:srgbClr val="5E5B52"/>
                          </a:solidFill>
                          <a:latin typeface="Malgun Gothic" pitchFamily="34" charset="0"/>
                          <a:ea typeface="Malgun Gothic" pitchFamily="34" charset="-122"/>
                          <a:cs typeface="Malgun Gothic" pitchFamily="34" charset="-120"/>
                        </a:rPr>
                        <a:t>존재하지 않는 연도 · 행정구역 조합</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해당 범위만 건너뛰고 계속 수집</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전역 오류</a:t>
                      </a:r>
                      <a:endParaRPr lang="en-US" sz="1200" dirty="0">
                        <a:latin typeface="Malgun Gothic" charset="0"/>
                        <a:ea typeface="Malgun Gothic" charset="0"/>
                        <a:cs typeface="Malgun Gothic" charset="0"/>
                      </a:endParaRPr>
                    </a:p>
                    <a:p>
                      <a:pPr indent="0" marL="0">
                        <a:buNone/>
                      </a:pPr>
                      <a:r>
                        <a:rPr lang="en-US" sz="1200" b="1" dirty="0">
                          <a:solidFill>
                            <a:srgbClr val="1E2621"/>
                          </a:solidFill>
                          <a:latin typeface="Malgun Gothic" pitchFamily="34" charset="0"/>
                          <a:ea typeface="Malgun Gothic" pitchFamily="34" charset="-122"/>
                          <a:cs typeface="Malgun Gothic" pitchFamily="34" charset="-120"/>
                        </a:rPr>
                        <a:t>GlobalServiceError</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일일 호출 한도 초과(429 · 22)</a:t>
                      </a:r>
                      <a:endParaRPr lang="en-US" sz="1200" dirty="0">
                        <a:latin typeface="Malgun Gothic" charset="0"/>
                        <a:ea typeface="Malgun Gothic" charset="0"/>
                        <a:cs typeface="Malgun Gothic" charset="0"/>
                      </a:endParaRPr>
                    </a:p>
                    <a:p>
                      <a:pPr indent="0" marL="0">
                        <a:buNone/>
                      </a:pPr>
                      <a:r>
                        <a:rPr lang="en-US" sz="1200" b="1" dirty="0">
                          <a:solidFill>
                            <a:srgbClr val="5E5B52"/>
                          </a:solidFill>
                          <a:latin typeface="Malgun Gothic" pitchFamily="34" charset="0"/>
                          <a:ea typeface="Malgun Gothic" pitchFamily="34" charset="-122"/>
                          <a:cs typeface="Malgun Gothic" pitchFamily="34" charset="-120"/>
                        </a:rPr>
                        <a:t>인증키 · 사용승인 오류(30 · 31 · 32)</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B5654A"/>
                          </a:solidFill>
                          <a:latin typeface="Malgun Gothic" pitchFamily="34" charset="0"/>
                          <a:ea typeface="Malgun Gothic" pitchFamily="34" charset="-122"/>
                          <a:cs typeface="Malgun Gothic" pitchFamily="34" charset="-120"/>
                        </a:rPr>
                        <a:t>즉시 전체 중단</a:t>
                      </a:r>
                      <a:endParaRPr lang="en-US" sz="1200" dirty="0">
                        <a:latin typeface="Malgun Gothic" charset="0"/>
                        <a:ea typeface="Malgun Gothic" charset="0"/>
                        <a:cs typeface="Malgun Gothic" charset="0"/>
                      </a:endParaRPr>
                    </a:p>
                    <a:p>
                      <a:pPr indent="0" marL="0">
                        <a:buNone/>
                      </a:pPr>
                      <a:r>
                        <a:rPr lang="en-US" sz="1200" b="1" dirty="0">
                          <a:solidFill>
                            <a:srgbClr val="B5654A"/>
                          </a:solidFill>
                          <a:latin typeface="Malgun Gothic" pitchFamily="34" charset="0"/>
                          <a:ea typeface="Malgun Gothic" pitchFamily="34" charset="-122"/>
                          <a:cs typeface="Malgun Gothic" pitchFamily="34" charset="-120"/>
                        </a:rPr>
                        <a:t>재시도해도 해결되지 않음</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데이터 없음</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resultCode 03</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오류가 아닌 0건으로 정상 처리</a:t>
                      </a:r>
                      <a:endParaRPr lang="en-US" sz="1200" dirty="0">
                        <a:latin typeface="Malgun Gothic" charset="0"/>
                        <a:ea typeface="Malgun Gothic" charset="0"/>
                        <a:cs typeface="Malgun Gothic" charset="0"/>
                      </a:endParaRPr>
                    </a:p>
                  </a:txBody>
                  <a:tcPr marL="137160" marR="137160" marT="36576" marB="36576"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모든 오류를 똑같이 재시도하지 않습니다</a:t>
            </a:r>
            <a:endParaRPr lang="en-US" sz="3400" dirty="0"/>
          </a:p>
        </p:txBody>
      </p:sp>
      <p:sp>
        <p:nvSpPr>
          <p:cNvPr id="6" name="Shape 4"/>
          <p:cNvSpPr/>
          <p:nvPr/>
        </p:nvSpPr>
        <p:spPr>
          <a:xfrm>
            <a:off x="548640" y="1737360"/>
            <a:ext cx="2743200" cy="402590"/>
          </a:xfrm>
          <a:prstGeom prst="roundRect">
            <a:avLst>
              <a:gd name="adj" fmla="val 50000"/>
            </a:avLst>
          </a:prstGeom>
          <a:solidFill>
            <a:srgbClr val="B5654A"/>
          </a:solidFill>
          <a:ln w="12700">
            <a:solidFill>
              <a:srgbClr val="B5654A"/>
            </a:solidFill>
            <a:prstDash val="solid"/>
          </a:ln>
        </p:spPr>
      </p:sp>
      <p:sp>
        <p:nvSpPr>
          <p:cNvPr id="7" name="Text 5"/>
          <p:cNvSpPr txBox="1"/>
          <p:nvPr/>
        </p:nvSpPr>
        <p:spPr>
          <a:xfrm>
            <a:off x="548640" y="1737360"/>
            <a:ext cx="2743200" cy="40259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HTTP 200 ≠ 정상 응답</a:t>
            </a:r>
            <a:endParaRPr lang="en-US" sz="1400" dirty="0"/>
          </a:p>
        </p:txBody>
      </p:sp>
      <p:sp>
        <p:nvSpPr>
          <p:cNvPr id="8" name="Text 6"/>
          <p:cNvSpPr txBox="1"/>
          <p:nvPr/>
        </p:nvSpPr>
        <p:spPr>
          <a:xfrm>
            <a:off x="3474720" y="1737360"/>
            <a:ext cx="8138160" cy="402590"/>
          </a:xfrm>
          <a:prstGeom prst="rect">
            <a:avLst/>
          </a:prstGeom>
          <a:noFill/>
          <a:ln/>
        </p:spPr>
        <p:txBody>
          <a:bodyPr wrap="square" lIns="0" tIns="0" rIns="0" bIns="0" rtlCol="0" anchor="ctr"/>
          <a:lstStyle/>
          <a:p>
            <a:pPr indent="0" marL="0">
              <a:buNone/>
            </a:pPr>
            <a:r>
              <a:rPr lang="en-US" sz="1500" b="1" dirty="0">
                <a:solidFill>
                  <a:srgbClr val="2E5A46"/>
                </a:solidFill>
                <a:latin typeface="Malgun Gothic" pitchFamily="34" charset="0"/>
                <a:ea typeface="Malgun Gothic" pitchFamily="34" charset="-122"/>
                <a:cs typeface="Malgun Gothic" pitchFamily="34" charset="-120"/>
              </a:rPr>
              <a:t>HTTP 상태코드 + API resultCode + 응답 형식(JSON/XML)을 함께 확인합니다</a:t>
            </a:r>
            <a:endParaRPr lang="en-US" sz="1500" dirty="0"/>
          </a:p>
        </p:txBody>
      </p:sp>
      <p:sp>
        <p:nvSpPr>
          <p:cNvPr id="10" name="Text 7"/>
          <p:cNvSpPr txBox="1"/>
          <p:nvPr/>
        </p:nvSpPr>
        <p:spPr>
          <a:xfrm>
            <a:off x="548640" y="6053455"/>
            <a:ext cx="11064240" cy="274320"/>
          </a:xfrm>
          <a:prstGeom prst="rect">
            <a:avLst/>
          </a:prstGeom>
          <a:noFill/>
          <a:ln/>
        </p:spPr>
        <p:txBody>
          <a:bodyPr wrap="square" lIns="0" tIns="0" rIns="0" bIns="0" rtlCol="0" anchor="t"/>
          <a:lstStyle/>
          <a:p>
            <a:pPr indent="0" marL="0">
              <a:buNone/>
            </a:pPr>
            <a:r>
              <a:rPr lang="en-US" sz="1150" b="1" dirty="0">
                <a:solidFill>
                  <a:srgbClr val="5E5B52"/>
                </a:solidFill>
                <a:latin typeface="Malgun Gothic" pitchFamily="34" charset="0"/>
                <a:ea typeface="Malgun Gothic" pitchFamily="34" charset="-122"/>
                <a:cs typeface="Malgun Gothic" pitchFamily="34" charset="-120"/>
              </a:rPr>
              <a:t>※ 자전거 사고다발지역 수집기 기준 분류 · 기상·대기질·AED 등 다른 수집기도 timeout 30초 · 최대 3회 재시도 적용</a:t>
            </a:r>
            <a:endParaRPr lang="en-US" sz="1150" dirty="0"/>
          </a:p>
        </p:txBody>
      </p:sp>
      <p:sp>
        <p:nvSpPr>
          <p:cNvPr id="11" name="Text 8"/>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12" name="Text 9"/>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18</a:t>
            </a:r>
            <a:endParaRPr lang="en-US" sz="900" dirty="0"/>
          </a:p>
        </p:txBody>
      </p:sp>
      <p:sp>
        <p:nvSpPr>
          <p:cNvPr id="13" name="도형 8"/>
          <p:cNvSpPr>
            <a:spLocks/>
          </p:cNvSpPr>
          <p:nvPr/>
        </p:nvSpPr>
        <p:spPr>
          <a:xfrm rot="0">
            <a:off x="548640" y="384175"/>
            <a:ext cx="384175" cy="38417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07</a:t>
            </a:r>
            <a:r>
              <a:rPr lang="ko-KR" sz="1300" b="1" strike="noStrike">
                <a:solidFill>
                  <a:srgbClr val="FFFFFF"/>
                </a:solidFill>
                <a:latin typeface="Malgun Gothic" charset="0"/>
                <a:ea typeface="Malgun Gothic" charset="0"/>
              </a:rPr>
              <a:t/>
            </a:r>
            <a:endParaRPr lang="ko-KR" altLang="en-US" sz="1300" b="1" strike="noStrike">
              <a:solidFill>
                <a:srgbClr val="FFFFFF"/>
              </a:solidFill>
              <a:latin typeface="Malgun Gothic" charset="0"/>
              <a:ea typeface="Malgun 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xmlns:p14="http://schemas.microsoft.com/office/powerpoint/2010/main">
  <p:cSld name="">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txBody>
          <a:bodyPr/>
          <a:p/>
        </p:txBody>
      </p:sp>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EXCEPTION · 복구와 보호</a:t>
            </a:r>
            <a:endParaRPr lang="en-US" sz="1400" dirty="0"/>
          </a:p>
        </p:txBody>
      </p:sp>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실패해도, 기존 데이터는 지킵니다</a:t>
            </a:r>
            <a:endParaRPr lang="en-US" sz="3400" dirty="0"/>
          </a:p>
        </p:txBody>
      </p:sp>
      <p:sp>
        <p:nvSpPr>
          <p:cNvPr id="6" name="Shape 4"/>
          <p:cNvSpPr/>
          <p:nvPr/>
        </p:nvSpPr>
        <p:spPr>
          <a:xfrm>
            <a:off x="548640" y="1810385"/>
            <a:ext cx="3566160" cy="3401695"/>
          </a:xfrm>
          <a:prstGeom prst="roundRect">
            <a:avLst>
              <a:gd name="adj" fmla="val 3763"/>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7" name="Shape 5"/>
          <p:cNvSpPr/>
          <p:nvPr/>
        </p:nvSpPr>
        <p:spPr>
          <a:xfrm>
            <a:off x="777240" y="2011680"/>
            <a:ext cx="603250" cy="603250"/>
          </a:xfrm>
          <a:prstGeom prst="ellipse">
            <a:avLst/>
          </a:prstGeom>
          <a:solidFill>
            <a:srgbClr val="2E5A46"/>
          </a:solidFill>
          <a:ln w="12700">
            <a:solidFill>
              <a:srgbClr val="2E5A46"/>
            </a:solidFill>
            <a:prstDash val="solid"/>
          </a:ln>
        </p:spPr>
      </p:sp>
      <p:pic>
        <p:nvPicPr>
          <p:cNvPr id="8" name="Image 0">    </p:cNvPr>
          <p:cNvPicPr>
            <a:picLocks noChangeAspect="1"/>
          </p:cNvPicPr>
          <p:nvPr/>
        </p:nvPicPr>
        <p:blipFill>
          <a:blip r:embed="rId1"/>
          <a:stretch>
            <a:fillRect/>
          </a:stretch>
        </p:blipFill>
        <p:spPr>
          <a:xfrm>
            <a:off x="934085" y="2168525"/>
            <a:ext cx="289560" cy="289560"/>
          </a:xfrm>
          <a:prstGeom prst="rect">
            <a:avLst/>
          </a:prstGeom>
        </p:spPr>
      </p:pic>
      <p:sp>
        <p:nvSpPr>
          <p:cNvPr id="9" name="Text 6"/>
          <p:cNvSpPr txBox="1"/>
          <p:nvPr/>
        </p:nvSpPr>
        <p:spPr>
          <a:xfrm>
            <a:off x="1536065" y="2011680"/>
            <a:ext cx="2468880" cy="274320"/>
          </a:xfrm>
          <a:prstGeom prst="rect">
            <a:avLst/>
          </a:prstGeom>
          <a:noFill/>
          <a:ln/>
        </p:spPr>
        <p:txBody>
          <a:bodyPr wrap="square" lIns="0" tIns="0" rIns="0" bIns="0" rtlCol="0" anchor="t"/>
          <a:lstStyle/>
          <a:p>
            <a:pPr indent="0" marL="0">
              <a:buNone/>
            </a:pPr>
            <a:r>
              <a:rPr lang="en-US" sz="1250" b="1" dirty="0">
                <a:solidFill>
                  <a:srgbClr val="B5654A"/>
                </a:solidFill>
                <a:latin typeface="Malgun Gothic" pitchFamily="34" charset="0"/>
                <a:ea typeface="Malgun Gothic" pitchFamily="34" charset="-122"/>
                <a:cs typeface="Malgun Gothic" pitchFamily="34" charset="-120"/>
              </a:rPr>
              <a:t>수집 단계</a:t>
            </a:r>
            <a:endParaRPr lang="en-US" sz="1250" dirty="0"/>
          </a:p>
        </p:txBody>
      </p:sp>
      <p:sp>
        <p:nvSpPr>
          <p:cNvPr id="10" name="Text 7"/>
          <p:cNvSpPr txBox="1"/>
          <p:nvPr/>
        </p:nvSpPr>
        <p:spPr>
          <a:xfrm>
            <a:off x="1536065" y="2286000"/>
            <a:ext cx="2468880" cy="365760"/>
          </a:xfrm>
          <a:prstGeom prst="rect">
            <a:avLst/>
          </a:prstGeom>
          <a:noFill/>
          <a:ln/>
        </p:spPr>
        <p:txBody>
          <a:bodyPr wrap="square" lIns="0" tIns="0" rIns="0" bIns="0" rtlCol="0" anchor="t"/>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Checkpoint / Resume</a:t>
            </a:r>
            <a:endParaRPr lang="en-US" sz="1600" dirty="0"/>
          </a:p>
        </p:txBody>
      </p:sp>
      <p:sp>
        <p:nvSpPr>
          <p:cNvPr id="11" name="Text 8"/>
          <p:cNvSpPr txBox="1"/>
          <p:nvPr/>
        </p:nvSpPr>
        <p:spPr>
          <a:xfrm>
            <a:off x="777240" y="2853055"/>
            <a:ext cx="3154680" cy="224028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완료된 요청 단위를 체크포인트 파일(jsonl)에 기록</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재실행 시 완료된 범위는 건너뛰고 이어서 수집</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전체 성공 후 체크포인트 삭제</a:t>
            </a:r>
            <a:endParaRPr lang="en-US" sz="1350" dirty="0"/>
          </a:p>
        </p:txBody>
      </p:sp>
      <p:sp>
        <p:nvSpPr>
          <p:cNvPr id="12" name="Shape 9"/>
          <p:cNvSpPr/>
          <p:nvPr/>
        </p:nvSpPr>
        <p:spPr>
          <a:xfrm>
            <a:off x="4311650" y="1810385"/>
            <a:ext cx="3566160" cy="3401695"/>
          </a:xfrm>
          <a:prstGeom prst="roundRect">
            <a:avLst>
              <a:gd name="adj" fmla="val 3763"/>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3" name="Shape 10"/>
          <p:cNvSpPr/>
          <p:nvPr/>
        </p:nvSpPr>
        <p:spPr>
          <a:xfrm>
            <a:off x="4540250" y="2011680"/>
            <a:ext cx="603250" cy="603250"/>
          </a:xfrm>
          <a:prstGeom prst="ellipse">
            <a:avLst/>
          </a:prstGeom>
          <a:solidFill>
            <a:srgbClr val="B5654A"/>
          </a:solidFill>
          <a:ln w="12700">
            <a:solidFill>
              <a:srgbClr val="B5654A"/>
            </a:solidFill>
            <a:prstDash val="solid"/>
          </a:ln>
        </p:spPr>
      </p:sp>
      <p:pic>
        <p:nvPicPr>
          <p:cNvPr id="14" name="Image 1">    </p:cNvPr>
          <p:cNvPicPr>
            <a:picLocks noChangeAspect="1"/>
          </p:cNvPicPr>
          <p:nvPr/>
        </p:nvPicPr>
        <p:blipFill>
          <a:blip r:embed="rId2"/>
          <a:stretch>
            <a:fillRect/>
          </a:stretch>
        </p:blipFill>
        <p:spPr>
          <a:xfrm>
            <a:off x="4697095" y="2168525"/>
            <a:ext cx="289560" cy="289560"/>
          </a:xfrm>
          <a:prstGeom prst="rect">
            <a:avLst/>
          </a:prstGeom>
        </p:spPr>
      </p:pic>
      <p:sp>
        <p:nvSpPr>
          <p:cNvPr id="15" name="Text 11"/>
          <p:cNvSpPr txBox="1"/>
          <p:nvPr/>
        </p:nvSpPr>
        <p:spPr>
          <a:xfrm>
            <a:off x="5299075" y="2011680"/>
            <a:ext cx="2468880" cy="274320"/>
          </a:xfrm>
          <a:prstGeom prst="rect">
            <a:avLst/>
          </a:prstGeom>
          <a:noFill/>
          <a:ln/>
        </p:spPr>
        <p:txBody>
          <a:bodyPr wrap="square" lIns="0" tIns="0" rIns="0" bIns="0" rtlCol="0" anchor="t"/>
          <a:lstStyle/>
          <a:p>
            <a:pPr indent="0" marL="0">
              <a:buNone/>
            </a:pPr>
            <a:r>
              <a:rPr lang="en-US" sz="1250" b="1" dirty="0">
                <a:solidFill>
                  <a:srgbClr val="B5654A"/>
                </a:solidFill>
                <a:latin typeface="Malgun Gothic" pitchFamily="34" charset="0"/>
                <a:ea typeface="Malgun Gothic" pitchFamily="34" charset="-122"/>
                <a:cs typeface="Malgun Gothic" pitchFamily="34" charset="-120"/>
              </a:rPr>
              <a:t>적재 단계</a:t>
            </a:r>
            <a:endParaRPr lang="en-US" sz="1250" dirty="0"/>
          </a:p>
        </p:txBody>
      </p:sp>
      <p:sp>
        <p:nvSpPr>
          <p:cNvPr id="16" name="Text 12"/>
          <p:cNvSpPr txBox="1"/>
          <p:nvPr/>
        </p:nvSpPr>
        <p:spPr>
          <a:xfrm>
            <a:off x="5299075" y="2286000"/>
            <a:ext cx="2468880" cy="365760"/>
          </a:xfrm>
          <a:prstGeom prst="rect">
            <a:avLst/>
          </a:prstGeom>
          <a:noFill/>
          <a:ln/>
        </p:spPr>
        <p:txBody>
          <a:bodyPr wrap="square" lIns="0" tIns="0" rIns="0" bIns="0" rtlCol="0" anchor="t"/>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staging → 원자적 교체</a:t>
            </a:r>
            <a:endParaRPr lang="en-US" sz="1600" dirty="0"/>
          </a:p>
        </p:txBody>
      </p:sp>
      <p:sp>
        <p:nvSpPr>
          <p:cNvPr id="17" name="Text 13"/>
          <p:cNvSpPr txBox="1"/>
          <p:nvPr/>
        </p:nvSpPr>
        <p:spPr>
          <a:xfrm>
            <a:off x="4540250" y="2853055"/>
            <a:ext cx="3154680" cy="224028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새 데이터는 __staging 테이블에 먼저 적재</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행 수 검증을 통과해야 기존 테이블 교체</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여러 테이블을 하나의 transaction으로, 하나라도 실패하면 전체 rollback</a:t>
            </a:r>
            <a:endParaRPr lang="en-US" sz="1350" dirty="0"/>
          </a:p>
        </p:txBody>
      </p:sp>
      <p:sp>
        <p:nvSpPr>
          <p:cNvPr id="18" name="Shape 14"/>
          <p:cNvSpPr/>
          <p:nvPr/>
        </p:nvSpPr>
        <p:spPr>
          <a:xfrm>
            <a:off x="8074025" y="1810385"/>
            <a:ext cx="3566160" cy="3401695"/>
          </a:xfrm>
          <a:prstGeom prst="roundRect">
            <a:avLst>
              <a:gd name="adj" fmla="val 3763"/>
            </a:avLst>
          </a:prstGeom>
          <a:solidFill>
            <a:srgbClr val="FFFCF6"/>
          </a:solidFill>
          <a:ln w="12700">
            <a:solidFill>
              <a:srgbClr val="D8CBB2"/>
            </a:solidFill>
            <a:prstDash val="solid"/>
          </a:ln>
          <a:effectLst>
            <a:outerShdw sx="100000" sy="100000" kx="0" ky="0" algn="bl" rotWithShape="0" blurRad="101600" dist="25400" dir="5400000">
              <a:srgbClr val="8A7A5C">
                <a:alpha val="18000"/>
              </a:srgbClr>
            </a:outerShdw>
          </a:effectLst>
        </p:spPr>
      </p:sp>
      <p:sp>
        <p:nvSpPr>
          <p:cNvPr id="19" name="Shape 15"/>
          <p:cNvSpPr/>
          <p:nvPr/>
        </p:nvSpPr>
        <p:spPr>
          <a:xfrm>
            <a:off x="8302625" y="2011680"/>
            <a:ext cx="603250" cy="603250"/>
          </a:xfrm>
          <a:prstGeom prst="ellipse">
            <a:avLst/>
          </a:prstGeom>
          <a:solidFill>
            <a:srgbClr val="D9A441"/>
          </a:solidFill>
          <a:ln w="12700">
            <a:solidFill>
              <a:srgbClr val="D9A441"/>
            </a:solidFill>
            <a:prstDash val="solid"/>
          </a:ln>
        </p:spPr>
      </p:sp>
      <p:pic>
        <p:nvPicPr>
          <p:cNvPr id="20" name="Image 2">    </p:cNvPr>
          <p:cNvPicPr>
            <a:picLocks noChangeAspect="1"/>
          </p:cNvPicPr>
          <p:nvPr/>
        </p:nvPicPr>
        <p:blipFill>
          <a:blip r:embed="rId3"/>
          <a:stretch>
            <a:fillRect/>
          </a:stretch>
        </p:blipFill>
        <p:spPr>
          <a:xfrm>
            <a:off x="8459470" y="2168525"/>
            <a:ext cx="289560" cy="289560"/>
          </a:xfrm>
          <a:prstGeom prst="rect">
            <a:avLst/>
          </a:prstGeom>
        </p:spPr>
      </p:pic>
      <p:sp>
        <p:nvSpPr>
          <p:cNvPr id="21" name="Text 16"/>
          <p:cNvSpPr txBox="1"/>
          <p:nvPr/>
        </p:nvSpPr>
        <p:spPr>
          <a:xfrm>
            <a:off x="9061450" y="2011680"/>
            <a:ext cx="2468880" cy="274320"/>
          </a:xfrm>
          <a:prstGeom prst="rect">
            <a:avLst/>
          </a:prstGeom>
          <a:noFill/>
          <a:ln/>
        </p:spPr>
        <p:txBody>
          <a:bodyPr wrap="square" lIns="0" tIns="0" rIns="0" bIns="0" rtlCol="0" anchor="t"/>
          <a:lstStyle/>
          <a:p>
            <a:pPr indent="0" marL="0">
              <a:buNone/>
            </a:pPr>
            <a:r>
              <a:rPr lang="en-US" sz="1250" b="1" dirty="0">
                <a:solidFill>
                  <a:srgbClr val="B5654A"/>
                </a:solidFill>
                <a:latin typeface="Malgun Gothic" pitchFamily="34" charset="0"/>
                <a:ea typeface="Malgun Gothic" pitchFamily="34" charset="-122"/>
                <a:cs typeface="Malgun Gothic" pitchFamily="34" charset="-120"/>
              </a:rPr>
              <a:t>정제 단계</a:t>
            </a:r>
            <a:endParaRPr lang="en-US" sz="1250" dirty="0"/>
          </a:p>
        </p:txBody>
      </p:sp>
      <p:sp>
        <p:nvSpPr>
          <p:cNvPr id="22" name="Text 17"/>
          <p:cNvSpPr txBox="1"/>
          <p:nvPr/>
        </p:nvSpPr>
        <p:spPr>
          <a:xfrm>
            <a:off x="9061450" y="2286000"/>
            <a:ext cx="2468880" cy="365760"/>
          </a:xfrm>
          <a:prstGeom prst="rect">
            <a:avLst/>
          </a:prstGeom>
          <a:noFill/>
          <a:ln/>
        </p:spPr>
        <p:txBody>
          <a:bodyPr wrap="square" lIns="0" tIns="0" rIns="0" bIns="0" rtlCol="0" anchor="t"/>
          <a:lstStyle/>
          <a:p>
            <a:pPr indent="0" marL="0">
              <a:buNone/>
            </a:pPr>
            <a:r>
              <a:rPr lang="en-US" sz="1600" b="1" dirty="0">
                <a:solidFill>
                  <a:srgbClr val="1E2621"/>
                </a:solidFill>
                <a:latin typeface="Malgun Gothic" pitchFamily="34" charset="0"/>
                <a:ea typeface="Malgun Gothic" pitchFamily="34" charset="-122"/>
                <a:cs typeface="Malgun Gothic" pitchFamily="34" charset="-120"/>
              </a:rPr>
              <a:t>불완전한 결과 적재 차단</a:t>
            </a:r>
            <a:endParaRPr lang="en-US" sz="1600" dirty="0"/>
          </a:p>
        </p:txBody>
      </p:sp>
      <p:sp>
        <p:nvSpPr>
          <p:cNvPr id="23" name="Text 18"/>
          <p:cNvSpPr txBox="1"/>
          <p:nvPr/>
        </p:nvSpPr>
        <p:spPr>
          <a:xfrm>
            <a:off x="8302625" y="2853055"/>
            <a:ext cx="3154680" cy="224028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정제 규칙이 없는 데이터셋은 적재 차단</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정제 중 오류가 나면 적재하지 않음</a:t>
            </a:r>
            <a:endParaRPr lang="en-US" sz="1350" dirty="0"/>
          </a:p>
          <a:p>
            <a:pPr marL="342900" indent="-342900">
              <a:spcAft>
                <a:spcPts val="1000"/>
              </a:spcAft>
              <a:buSzPct val="100000"/>
              <a:buChar char="•"/>
            </a:pPr>
            <a:r>
              <a:rPr lang="en-US" sz="1350" b="1" dirty="0">
                <a:solidFill>
                  <a:srgbClr val="1E2621"/>
                </a:solidFill>
                <a:latin typeface="Malgun Gothic" pitchFamily="34" charset="0"/>
                <a:ea typeface="Malgun Gothic" pitchFamily="34" charset="-122"/>
                <a:cs typeface="Malgun Gothic" pitchFamily="34" charset="-120"/>
              </a:rPr>
              <a:t>결과가 0건이면 기존 processed 유지</a:t>
            </a:r>
            <a:endParaRPr lang="en-US" sz="1350" dirty="0"/>
          </a:p>
        </p:txBody>
      </p:sp>
      <p:sp>
        <p:nvSpPr>
          <p:cNvPr id="24" name="Shape 19"/>
          <p:cNvSpPr/>
          <p:nvPr/>
        </p:nvSpPr>
        <p:spPr>
          <a:xfrm>
            <a:off x="548640" y="5413375"/>
            <a:ext cx="11091545" cy="868680"/>
          </a:xfrm>
          <a:prstGeom prst="roundRect">
            <a:avLst>
              <a:gd name="adj" fmla="val 14737"/>
            </a:avLst>
          </a:prstGeom>
          <a:solidFill>
            <a:srgbClr val="1E3B2F"/>
          </a:solidFill>
          <a:ln w="12700">
            <a:solidFill>
              <a:srgbClr val="1E3B2F"/>
            </a:solidFill>
            <a:prstDash val="solid"/>
          </a:ln>
          <a:effectLst>
            <a:outerShdw sx="100000" sy="100000" kx="0" ky="0" algn="bl" rotWithShape="0" blurRad="101600" dist="25400" dir="5400000">
              <a:srgbClr val="8A7A5C">
                <a:alpha val="18000"/>
              </a:srgbClr>
            </a:outerShdw>
          </a:effectLst>
        </p:spPr>
      </p:sp>
      <p:sp>
        <p:nvSpPr>
          <p:cNvPr id="25" name="Text 20"/>
          <p:cNvSpPr txBox="1"/>
          <p:nvPr/>
        </p:nvSpPr>
        <p:spPr>
          <a:xfrm>
            <a:off x="777240" y="5413375"/>
            <a:ext cx="1280160" cy="868680"/>
          </a:xfrm>
          <a:prstGeom prst="rect">
            <a:avLst/>
          </a:prstGeom>
          <a:noFill/>
          <a:ln/>
        </p:spPr>
        <p:txBody>
          <a:bodyPr wrap="square" lIns="0" tIns="0" rIns="0" bIns="0" rtlCol="0" anchor="ctr"/>
          <a:lstStyle/>
          <a:p>
            <a:pPr indent="0" marL="0">
              <a:buNone/>
            </a:pPr>
            <a:r>
              <a:rPr lang="en-US" sz="1500" b="1" dirty="0">
                <a:solidFill>
                  <a:srgbClr val="D9A441"/>
                </a:solidFill>
                <a:latin typeface="Malgun Gothic" pitchFamily="34" charset="0"/>
                <a:ea typeface="Malgun Gothic" pitchFamily="34" charset="-122"/>
                <a:cs typeface="Malgun Gothic" pitchFamily="34" charset="-120"/>
              </a:rPr>
              <a:t>운영 단계</a:t>
            </a:r>
            <a:endParaRPr lang="en-US" sz="1500" dirty="0"/>
          </a:p>
        </p:txBody>
      </p:sp>
      <p:sp>
        <p:nvSpPr>
          <p:cNvPr id="26" name="Text 21"/>
          <p:cNvSpPr txBox="1"/>
          <p:nvPr/>
        </p:nvSpPr>
        <p:spPr>
          <a:xfrm>
            <a:off x="2103120" y="5413375"/>
            <a:ext cx="9418320" cy="86868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APScheduler  중복 실행 방지(max_instances=1) · 밀린 실행은 1회로 합침(coalesce) · 지연 허용 1시간</a:t>
            </a:r>
            <a:endParaRPr lang="en-US" sz="1300" dirty="0"/>
          </a:p>
          <a:p>
            <a:pPr indent="0" marL="0">
              <a:lnSpc>
                <a:spcPct val="115000"/>
              </a:lnSpc>
              <a:buNone/>
            </a:pPr>
            <a:r>
              <a:rPr lang="en-US" sz="1300" b="1" dirty="0">
                <a:solidFill>
                  <a:srgbClr val="B9CFC2"/>
                </a:solidFill>
                <a:latin typeface="Malgun Gothic" pitchFamily="34" charset="0"/>
                <a:ea typeface="Malgun Gothic" pitchFamily="34" charset="-122"/>
                <a:cs typeface="Malgun Gothic" pitchFamily="34" charset="-120"/>
              </a:rPr>
              <a:t>데이터셋 단위로 격리해 실패한 데이터셋만 건너뛰고, 실패 · DQ 이상은 Discord로 즉시 알림</a:t>
            </a:r>
            <a:endParaRPr lang="en-US" sz="1300" dirty="0"/>
          </a:p>
        </p:txBody>
      </p:sp>
      <p:sp>
        <p:nvSpPr>
          <p:cNvPr id="27" name="Text 22"/>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28" name="Text 23"/>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19</a:t>
            </a:r>
            <a:endParaRPr lang="en-US" sz="900" dirty="0"/>
          </a:p>
        </p:txBody>
      </p:sp>
      <p:sp>
        <p:nvSpPr>
          <p:cNvPr id="29" name="도형 9"/>
          <p:cNvSpPr>
            <a:spLocks/>
          </p:cNvSpPr>
          <p:nvPr/>
        </p:nvSpPr>
        <p:spPr>
          <a:xfrm rot="0">
            <a:off x="548640" y="384175"/>
            <a:ext cx="384175" cy="38417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07</a:t>
            </a:r>
            <a:r>
              <a:rPr lang="ko-KR" sz="1300" b="1" strike="noStrike">
                <a:solidFill>
                  <a:srgbClr val="FFFFFF"/>
                </a:solidFill>
                <a:latin typeface="Malgun Gothic" charset="0"/>
                <a:ea typeface="Malgun Gothic" charset="0"/>
              </a:rPr>
              <a:t/>
            </a:r>
            <a:endParaRPr lang="ko-KR" altLang="en-US" sz="1300" b="1" strike="noStrike">
              <a:solidFill>
                <a:srgbClr val="FFFFFF"/>
              </a:solidFill>
              <a:latin typeface="Malgun Gothic" charset="0"/>
              <a:ea typeface="Malgun 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2E5A46"/>
          </a:solidFill>
          <a:ln w="12700">
            <a:solidFill>
              <a:srgbClr val="2E5A46"/>
            </a:solidFill>
            <a:prstDash val="solid"/>
          </a:ln>
        </p:spPr>
      </p:sp>
      <p:sp>
        <p:nvSpPr>
          <p:cNvPr id="3" name="Text 1"/>
          <p:cNvSpPr txBox="1"/>
          <p:nvPr/>
        </p:nvSpPr>
        <p:spPr>
          <a:xfrm>
            <a:off x="54864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07</a:t>
            </a:r>
            <a:endParaRPr lang="en-US" sz="1300" dirty="0"/>
          </a:p>
        </p:txBody>
      </p:sp>
      <p:sp>
        <p:nvSpPr>
          <p:cNvPr id="4" name="Text 2"/>
          <p:cNvSpPr txBox="1"/>
          <p:nvPr/>
        </p:nvSpPr>
        <p:spPr>
          <a:xfrm>
            <a:off x="1042416" y="384048"/>
            <a:ext cx="5486400" cy="384048"/>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EXCEPTION · 누락 · 중복 · 좌표 오류</a:t>
            </a:r>
            <a:endParaRPr lang="en-US" sz="1400" dirty="0"/>
          </a:p>
        </p:txBody>
      </p:sp>
      <p:sp>
        <p:nvSpPr>
          <p:cNvPr id="5" name="Text 3"/>
          <p:cNvSpPr txBox="1"/>
          <p:nvPr/>
        </p:nvSpPr>
        <p:spPr>
          <a:xfrm>
            <a:off x="548640" y="896112"/>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잘못 들어온 값도, 기준을 정해 처리합니다</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148840"/>
                <a:gridCol w="4480560"/>
                <a:gridCol w="4462272"/>
              </a:tblGrid>
              <a:tr h="384048">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문제</a:t>
                      </a:r>
                      <a:endParaRPr lang="en-US" sz="125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탐지 기준</a:t>
                      </a:r>
                      <a:endParaRPr lang="en-US" sz="125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처리 방법</a:t>
                      </a:r>
                      <a:endParaRPr lang="en-US" sz="125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57200">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API 호출 실패</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Timeout · 연결 오류 · HTTP 5xx · resultCode</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최대 3회 재시도 → 실패한 데이터셋만 건너뛰고 기록 · 알림</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값 누락</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빈 문자열 · "-" · "null" · "nan" 등 제각각인 빈 값</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NULL로 통일 · 핵심 보조정보 결측은 needs_review 표시</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대표 좌표 누락 · 오류</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숫자 변환 실패 · 위도 33.0~39.5 / 경도 124.0~132.0 밖</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B5654A"/>
                          </a:solidFill>
                          <a:latin typeface="Malgun Gothic" pitchFamily="34" charset="0"/>
                          <a:ea typeface="Malgun Gothic" pitchFamily="34" charset="-122"/>
                          <a:cs typeface="Malgun Gothic" pitchFamily="34" charset="-120"/>
                        </a:rPr>
                        <a:t>해당 행을 PROCESSED에서 제거 (제거 사유 추적)</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부가 좌표 오류</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주변 교통 등 보조 좌표가 범위 밖</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행은 유지하고 좌표쌍만 NULL</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중복</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검증된 키가 같은 행 (예: AED serialSeq)</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최신 행만 유지 · 키가 NULL인 행은 임의로 지우지 않음</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설명 안 되는 손실</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RAW ≠ PROCESSED + 설명 가능한 제거</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B5654A"/>
                          </a:solidFill>
                          <a:latin typeface="Malgun Gothic" pitchFamily="34" charset="0"/>
                          <a:ea typeface="Malgun Gothic" pitchFamily="34" charset="-122"/>
                          <a:cs typeface="Malgun Gothic" pitchFamily="34" charset="-120"/>
                        </a:rPr>
                        <a:t>CHECK_FAILED 기록 + Discord 알림</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138928"/>
            <a:ext cx="11091672" cy="1143000"/>
          </a:xfrm>
          <a:prstGeom prst="roundRect">
            <a:avLst>
              <a:gd name="adj" fmla="val 11200"/>
            </a:avLst>
          </a:prstGeom>
          <a:solidFill>
            <a:srgbClr val="1E3B2F"/>
          </a:solidFill>
          <a:ln w="12700">
            <a:solidFill>
              <a:srgbClr val="1E3B2F"/>
            </a:solidFill>
            <a:prstDash val="solid"/>
          </a:ln>
          <a:effectLst>
            <a:outerShdw sx="100000" sy="100000" kx="0" ky="0" algn="bl" rotWithShape="0" blurRad="101600" dist="25400" dir="5400000">
              <a:srgbClr val="8A7A5C">
                <a:alpha val="18000"/>
              </a:srgbClr>
            </a:outerShdw>
          </a:effectLst>
        </p:spPr>
      </p:sp>
      <p:sp>
        <p:nvSpPr>
          <p:cNvPr id="8" name="Text 5"/>
          <p:cNvSpPr txBox="1"/>
          <p:nvPr/>
        </p:nvSpPr>
        <p:spPr>
          <a:xfrm>
            <a:off x="777240" y="5230368"/>
            <a:ext cx="2743200" cy="310896"/>
          </a:xfrm>
          <a:prstGeom prst="rect">
            <a:avLst/>
          </a:prstGeom>
          <a:noFill/>
          <a:ln/>
        </p:spPr>
        <p:txBody>
          <a:bodyPr wrap="square" lIns="0" tIns="0" rIns="0" bIns="0" rtlCol="0" anchor="t"/>
          <a:lstStyle/>
          <a:p>
            <a:pPr indent="0" marL="0">
              <a:buNone/>
            </a:pPr>
            <a:r>
              <a:rPr lang="en-US" sz="1300" b="1" dirty="0">
                <a:solidFill>
                  <a:srgbClr val="D9A441"/>
                </a:solidFill>
                <a:latin typeface="Malgun Gothic" pitchFamily="34" charset="0"/>
                <a:ea typeface="Malgun Gothic" pitchFamily="34" charset="-122"/>
                <a:cs typeface="Malgun Gothic" pitchFamily="34" charset="-120"/>
              </a:rPr>
              <a:t>테스트 입력으로 확인</a:t>
            </a:r>
            <a:endParaRPr lang="en-US" sz="1300" dirty="0"/>
          </a:p>
        </p:txBody>
      </p:sp>
      <p:sp>
        <p:nvSpPr>
          <p:cNvPr id="9" name="Text 6"/>
          <p:cNvSpPr txBox="1"/>
          <p:nvPr/>
        </p:nvSpPr>
        <p:spPr>
          <a:xfrm>
            <a:off x="777240" y="5559552"/>
            <a:ext cx="868680" cy="548640"/>
          </a:xfrm>
          <a:prstGeom prst="rect">
            <a:avLst/>
          </a:prstGeom>
          <a:noFill/>
          <a:ln/>
        </p:spPr>
        <p:txBody>
          <a:bodyPr wrap="square" lIns="0" tIns="0" rIns="0" bIns="0" rtlCol="0" anchor="ctr"/>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103</a:t>
            </a:r>
            <a:endParaRPr lang="en-US" sz="2600" dirty="0"/>
          </a:p>
        </p:txBody>
      </p:sp>
      <p:sp>
        <p:nvSpPr>
          <p:cNvPr id="10" name="Text 7"/>
          <p:cNvSpPr txBox="1"/>
          <p:nvPr/>
        </p:nvSpPr>
        <p:spPr>
          <a:xfrm>
            <a:off x="1645920" y="5559552"/>
            <a:ext cx="960120" cy="548640"/>
          </a:xfrm>
          <a:prstGeom prst="rect">
            <a:avLst/>
          </a:prstGeom>
          <a:noFill/>
          <a:ln/>
        </p:spPr>
        <p:txBody>
          <a:bodyPr wrap="square" lIns="0" tIns="0" rIns="0" bIns="0" rtlCol="0" anchor="ctr"/>
          <a:lstStyle/>
          <a:p>
            <a:pPr indent="0" marL="0">
              <a:buNone/>
            </a:pPr>
            <a:r>
              <a:rPr lang="en-US" sz="1150" b="1" dirty="0">
                <a:solidFill>
                  <a:srgbClr val="B9CFC2"/>
                </a:solidFill>
                <a:latin typeface="Malgun Gothic" pitchFamily="34" charset="0"/>
                <a:ea typeface="Malgun Gothic" pitchFamily="34" charset="-122"/>
                <a:cs typeface="Malgun Gothic" pitchFamily="34" charset="-120"/>
              </a:rPr>
              <a:t>입력 행</a:t>
            </a:r>
            <a:endParaRPr lang="en-US" sz="1150" dirty="0"/>
          </a:p>
        </p:txBody>
      </p:sp>
      <p:sp>
        <p:nvSpPr>
          <p:cNvPr id="11" name="Text 8"/>
          <p:cNvSpPr txBox="1"/>
          <p:nvPr/>
        </p:nvSpPr>
        <p:spPr>
          <a:xfrm>
            <a:off x="2651760" y="5559552"/>
            <a:ext cx="868680" cy="548640"/>
          </a:xfrm>
          <a:prstGeom prst="rect">
            <a:avLst/>
          </a:prstGeom>
          <a:noFill/>
          <a:ln/>
        </p:spPr>
        <p:txBody>
          <a:bodyPr wrap="square" lIns="0" tIns="0" rIns="0" bIns="0" rtlCol="0" anchor="ctr"/>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–10</a:t>
            </a:r>
            <a:endParaRPr lang="en-US" sz="2600" dirty="0"/>
          </a:p>
        </p:txBody>
      </p:sp>
      <p:sp>
        <p:nvSpPr>
          <p:cNvPr id="12" name="Text 9"/>
          <p:cNvSpPr txBox="1"/>
          <p:nvPr/>
        </p:nvSpPr>
        <p:spPr>
          <a:xfrm>
            <a:off x="3520440" y="5559552"/>
            <a:ext cx="960120" cy="548640"/>
          </a:xfrm>
          <a:prstGeom prst="rect">
            <a:avLst/>
          </a:prstGeom>
          <a:noFill/>
          <a:ln/>
        </p:spPr>
        <p:txBody>
          <a:bodyPr wrap="square" lIns="0" tIns="0" rIns="0" bIns="0" rtlCol="0" anchor="ctr"/>
          <a:lstStyle/>
          <a:p>
            <a:pPr indent="0" marL="0">
              <a:buNone/>
            </a:pPr>
            <a:r>
              <a:rPr lang="en-US" sz="1150" b="1" dirty="0">
                <a:solidFill>
                  <a:srgbClr val="B9CFC2"/>
                </a:solidFill>
                <a:latin typeface="Malgun Gothic" pitchFamily="34" charset="0"/>
                <a:ea typeface="Malgun Gothic" pitchFamily="34" charset="-122"/>
                <a:cs typeface="Malgun Gothic" pitchFamily="34" charset="-120"/>
              </a:rPr>
              <a:t>좌표 빈 값</a:t>
            </a:r>
            <a:endParaRPr lang="en-US" sz="1150" dirty="0"/>
          </a:p>
        </p:txBody>
      </p:sp>
      <p:sp>
        <p:nvSpPr>
          <p:cNvPr id="13" name="Text 10"/>
          <p:cNvSpPr txBox="1"/>
          <p:nvPr/>
        </p:nvSpPr>
        <p:spPr>
          <a:xfrm>
            <a:off x="4526280" y="5559552"/>
            <a:ext cx="868680" cy="548640"/>
          </a:xfrm>
          <a:prstGeom prst="rect">
            <a:avLst/>
          </a:prstGeom>
          <a:noFill/>
          <a:ln/>
        </p:spPr>
        <p:txBody>
          <a:bodyPr wrap="square" lIns="0" tIns="0" rIns="0" bIns="0" rtlCol="0" anchor="ctr"/>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–5</a:t>
            </a:r>
            <a:endParaRPr lang="en-US" sz="2600" dirty="0"/>
          </a:p>
        </p:txBody>
      </p:sp>
      <p:sp>
        <p:nvSpPr>
          <p:cNvPr id="14" name="Text 11"/>
          <p:cNvSpPr txBox="1"/>
          <p:nvPr/>
        </p:nvSpPr>
        <p:spPr>
          <a:xfrm>
            <a:off x="5394960" y="5559552"/>
            <a:ext cx="960120" cy="548640"/>
          </a:xfrm>
          <a:prstGeom prst="rect">
            <a:avLst/>
          </a:prstGeom>
          <a:noFill/>
          <a:ln/>
        </p:spPr>
        <p:txBody>
          <a:bodyPr wrap="square" lIns="0" tIns="0" rIns="0" bIns="0" rtlCol="0" anchor="ctr"/>
          <a:lstStyle/>
          <a:p>
            <a:pPr indent="0" marL="0">
              <a:buNone/>
            </a:pPr>
            <a:r>
              <a:rPr lang="en-US" sz="1150" b="1" dirty="0">
                <a:solidFill>
                  <a:srgbClr val="B9CFC2"/>
                </a:solidFill>
                <a:latin typeface="Malgun Gothic" pitchFamily="34" charset="0"/>
                <a:ea typeface="Malgun Gothic" pitchFamily="34" charset="-122"/>
                <a:cs typeface="Malgun Gothic" pitchFamily="34" charset="-120"/>
              </a:rPr>
              <a:t>경도 범위 밖</a:t>
            </a:r>
            <a:endParaRPr lang="en-US" sz="1150" dirty="0"/>
          </a:p>
        </p:txBody>
      </p:sp>
      <p:sp>
        <p:nvSpPr>
          <p:cNvPr id="15" name="Text 12"/>
          <p:cNvSpPr txBox="1"/>
          <p:nvPr/>
        </p:nvSpPr>
        <p:spPr>
          <a:xfrm>
            <a:off x="6400800" y="5559552"/>
            <a:ext cx="868680" cy="548640"/>
          </a:xfrm>
          <a:prstGeom prst="rect">
            <a:avLst/>
          </a:prstGeom>
          <a:noFill/>
          <a:ln/>
        </p:spPr>
        <p:txBody>
          <a:bodyPr wrap="square" lIns="0" tIns="0" rIns="0" bIns="0" rtlCol="0" anchor="ctr"/>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–3</a:t>
            </a:r>
            <a:endParaRPr lang="en-US" sz="2600" dirty="0"/>
          </a:p>
        </p:txBody>
      </p:sp>
      <p:sp>
        <p:nvSpPr>
          <p:cNvPr id="16" name="Text 13"/>
          <p:cNvSpPr txBox="1"/>
          <p:nvPr/>
        </p:nvSpPr>
        <p:spPr>
          <a:xfrm>
            <a:off x="7269480" y="5559552"/>
            <a:ext cx="960120" cy="548640"/>
          </a:xfrm>
          <a:prstGeom prst="rect">
            <a:avLst/>
          </a:prstGeom>
          <a:noFill/>
          <a:ln/>
        </p:spPr>
        <p:txBody>
          <a:bodyPr wrap="square" lIns="0" tIns="0" rIns="0" bIns="0" rtlCol="0" anchor="ctr"/>
          <a:lstStyle/>
          <a:p>
            <a:pPr indent="0" marL="0">
              <a:buNone/>
            </a:pPr>
            <a:r>
              <a:rPr lang="en-US" sz="1150" b="1" dirty="0">
                <a:solidFill>
                  <a:srgbClr val="B9CFC2"/>
                </a:solidFill>
                <a:latin typeface="Malgun Gothic" pitchFamily="34" charset="0"/>
                <a:ea typeface="Malgun Gothic" pitchFamily="34" charset="-122"/>
                <a:cs typeface="Malgun Gothic" pitchFamily="34" charset="-120"/>
              </a:rPr>
              <a:t>중복 키</a:t>
            </a:r>
            <a:endParaRPr lang="en-US" sz="1150" dirty="0"/>
          </a:p>
        </p:txBody>
      </p:sp>
      <p:sp>
        <p:nvSpPr>
          <p:cNvPr id="17" name="Text 14"/>
          <p:cNvSpPr txBox="1"/>
          <p:nvPr/>
        </p:nvSpPr>
        <p:spPr>
          <a:xfrm>
            <a:off x="8275320" y="5559552"/>
            <a:ext cx="868680" cy="548640"/>
          </a:xfrm>
          <a:prstGeom prst="rect">
            <a:avLst/>
          </a:prstGeom>
          <a:noFill/>
          <a:ln/>
        </p:spPr>
        <p:txBody>
          <a:bodyPr wrap="square" lIns="0" tIns="0" rIns="0" bIns="0" rtlCol="0" anchor="ctr"/>
          <a:lstStyle/>
          <a:p>
            <a:pPr indent="0" marL="0">
              <a:buNone/>
            </a:pPr>
            <a:r>
              <a:rPr lang="en-US" sz="2600" b="1" dirty="0">
                <a:solidFill>
                  <a:srgbClr val="D9A441"/>
                </a:solidFill>
                <a:latin typeface="Malgun Gothic" pitchFamily="34" charset="0"/>
                <a:ea typeface="Malgun Gothic" pitchFamily="34" charset="-122"/>
                <a:cs typeface="Malgun Gothic" pitchFamily="34" charset="-120"/>
              </a:rPr>
              <a:t>85</a:t>
            </a:r>
            <a:endParaRPr lang="en-US" sz="2600" dirty="0"/>
          </a:p>
        </p:txBody>
      </p:sp>
      <p:sp>
        <p:nvSpPr>
          <p:cNvPr id="18" name="Text 15"/>
          <p:cNvSpPr txBox="1"/>
          <p:nvPr/>
        </p:nvSpPr>
        <p:spPr>
          <a:xfrm>
            <a:off x="9144000" y="5559552"/>
            <a:ext cx="960120" cy="548640"/>
          </a:xfrm>
          <a:prstGeom prst="rect">
            <a:avLst/>
          </a:prstGeom>
          <a:noFill/>
          <a:ln/>
        </p:spPr>
        <p:txBody>
          <a:bodyPr wrap="square" lIns="0" tIns="0" rIns="0" bIns="0" rtlCol="0" anchor="ctr"/>
          <a:lstStyle/>
          <a:p>
            <a:pPr indent="0" marL="0">
              <a:buNone/>
            </a:pPr>
            <a:r>
              <a:rPr lang="en-US" sz="1150" b="1" dirty="0">
                <a:solidFill>
                  <a:srgbClr val="B9CFC2"/>
                </a:solidFill>
                <a:latin typeface="Malgun Gothic" pitchFamily="34" charset="0"/>
                <a:ea typeface="Malgun Gothic" pitchFamily="34" charset="-122"/>
                <a:cs typeface="Malgun Gothic" pitchFamily="34" charset="-120"/>
              </a:rPr>
              <a:t>PROCESSED</a:t>
            </a:r>
            <a:endParaRPr lang="en-US" sz="1150" dirty="0"/>
          </a:p>
        </p:txBody>
      </p:sp>
      <p:sp>
        <p:nvSpPr>
          <p:cNvPr id="19" name="Text 16"/>
          <p:cNvSpPr txBox="1"/>
          <p:nvPr/>
        </p:nvSpPr>
        <p:spPr>
          <a:xfrm>
            <a:off x="8138160" y="5230368"/>
            <a:ext cx="3383280" cy="310896"/>
          </a:xfrm>
          <a:prstGeom prst="rect">
            <a:avLst/>
          </a:prstGeom>
          <a:noFill/>
          <a:ln/>
        </p:spPr>
        <p:txBody>
          <a:bodyPr wrap="square" lIns="0" tIns="0" rIns="0" bIns="0" rtlCol="0" anchor="t"/>
          <a:lstStyle/>
          <a:p>
            <a:pPr algn="r" indent="0" marL="0">
              <a:buNone/>
            </a:pPr>
            <a:r>
              <a:rPr lang="en-US" sz="1100" b="1" dirty="0">
                <a:solidFill>
                  <a:srgbClr val="B9CFC2"/>
                </a:solidFill>
                <a:latin typeface="Malgun Gothic" pitchFamily="34" charset="0"/>
                <a:ea typeface="Malgun Gothic" pitchFamily="34" charset="-122"/>
                <a:cs typeface="Malgun Gothic" pitchFamily="34" charset="-120"/>
              </a:rPr>
              <a:t>103 – 18 = 85 · 모든 제거가 설명 가능</a:t>
            </a:r>
            <a:endParaRPr lang="en-US" sz="1100" dirty="0"/>
          </a:p>
        </p:txBody>
      </p:sp>
      <p:sp>
        <p:nvSpPr>
          <p:cNvPr id="20" name="Text 17"/>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21" name="Text 18"/>
          <p:cNvSpPr txBox="1"/>
          <p:nvPr/>
        </p:nvSpPr>
        <p:spPr>
          <a:xfrm>
            <a:off x="11183112"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20</a:t>
            </a:r>
            <a:endParaRPr lang="en-US" sz="9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479"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80"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08</a:t>
            </a:r>
            <a:endParaRPr b="0" lang="en-US" sz="1300" spc="-1" strike="noStrike">
              <a:solidFill>
                <a:srgbClr val="000000"/>
              </a:solidFill>
              <a:latin typeface="Noto Sans KR"/>
            </a:endParaRPr>
          </a:p>
        </p:txBody>
      </p:sp>
      <p:sp>
        <p:nvSpPr>
          <p:cNvPr id="481"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RESULT · </a:t>
            </a:r>
            <a:r>
              <a:rPr b="1" lang="ko-KR" sz="1400" spc="199" strike="noStrike">
                <a:solidFill>
                  <a:srgbClr val="b5654a"/>
                </a:solidFill>
                <a:latin typeface="Malgun Gothic"/>
                <a:ea typeface="Malgun Gothic"/>
              </a:rPr>
              <a:t>품질검증에서 찾은 것</a:t>
            </a:r>
            <a:endParaRPr b="0" lang="en-US" sz="1400" spc="-1" strike="noStrike">
              <a:solidFill>
                <a:srgbClr val="000000"/>
              </a:solidFill>
              <a:latin typeface="Noto Sans KR"/>
            </a:endParaRPr>
          </a:p>
        </p:txBody>
      </p:sp>
      <p:sp>
        <p:nvSpPr>
          <p:cNvPr id="482"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정상 실행 ≠ 정상 데이터</a:t>
            </a:r>
            <a:endParaRPr b="0" lang="en-US" sz="3400" spc="-1" strike="noStrike">
              <a:solidFill>
                <a:srgbClr val="000000"/>
              </a:solidFill>
              <a:latin typeface="Noto Sans KR"/>
            </a:endParaRPr>
          </a:p>
        </p:txBody>
      </p:sp>
      <p:sp>
        <p:nvSpPr>
          <p:cNvPr id="483" name="Text 4"/>
          <p:cNvSpPr/>
          <p:nvPr/>
        </p:nvSpPr>
        <p:spPr>
          <a:xfrm>
            <a:off x="548640" y="1600200"/>
            <a:ext cx="11063605" cy="36512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700" spc="-1" strike="noStrike">
                <a:solidFill>
                  <a:srgbClr val="5e5b52"/>
                </a:solidFill>
                <a:latin typeface="Malgun Gothic"/>
                <a:ea typeface="Malgun Gothic"/>
              </a:rPr>
              <a:t>파이프라인은 ‘성공’했는데</a:t>
            </a:r>
            <a:r>
              <a:rPr b="1" lang="en-US" sz="1700" spc="-1" strike="noStrike">
                <a:solidFill>
                  <a:srgbClr val="5e5b52"/>
                </a:solidFill>
                <a:latin typeface="Malgun Gothic"/>
                <a:ea typeface="Malgun Gothic"/>
              </a:rPr>
              <a:t>, RAW</a:t>
            </a:r>
            <a:r>
              <a:rPr b="1" lang="ko-KR" sz="1700" spc="-1" strike="noStrike">
                <a:solidFill>
                  <a:srgbClr val="5e5b52"/>
                </a:solidFill>
                <a:latin typeface="Malgun Gothic"/>
                <a:ea typeface="Malgun Gothic"/>
              </a:rPr>
              <a:t>에 있던 값이 </a:t>
            </a:r>
            <a:r>
              <a:rPr b="1" lang="en-US" sz="1700" spc="-1" strike="noStrike">
                <a:solidFill>
                  <a:srgbClr val="5e5b52"/>
                </a:solidFill>
                <a:latin typeface="Malgun Gothic"/>
                <a:ea typeface="Malgun Gothic"/>
              </a:rPr>
              <a:t>PROCESSED</a:t>
            </a:r>
            <a:r>
              <a:rPr b="1" lang="ko-KR" sz="1700" spc="-1" strike="noStrike">
                <a:solidFill>
                  <a:srgbClr val="5e5b52"/>
                </a:solidFill>
                <a:latin typeface="Malgun Gothic"/>
                <a:ea typeface="Malgun Gothic"/>
              </a:rPr>
              <a:t>에서 사라져 있었습니다</a:t>
            </a:r>
            <a:endParaRPr b="0" lang="en-US" sz="1700" spc="-1" strike="noStrike">
              <a:solidFill>
                <a:srgbClr val="000000"/>
              </a:solidFill>
              <a:latin typeface="Noto Sans KR"/>
            </a:endParaRPr>
          </a:p>
        </p:txBody>
      </p:sp>
      <p:sp>
        <p:nvSpPr>
          <p:cNvPr id="484" name="Text 5"/>
          <p:cNvSpPr/>
          <p:nvPr/>
        </p:nvSpPr>
        <p:spPr>
          <a:xfrm>
            <a:off x="3017520" y="2194560"/>
            <a:ext cx="274320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en-US" sz="1250" b="1" strike="noStrike">
                <a:solidFill>
                  <a:srgbClr val="B5654A"/>
                </a:solidFill>
                <a:latin typeface="Malgun Gothic" charset="0"/>
                <a:ea typeface="Malgun Gothic" charset="0"/>
              </a:rPr>
              <a:t>RAW </a:t>
            </a:r>
            <a:r>
              <a:rPr lang="ko-KR" sz="1250" b="1" strike="noStrike">
                <a:solidFill>
                  <a:srgbClr val="B5654A"/>
                </a:solidFill>
                <a:latin typeface="Malgun Gothic" charset="0"/>
                <a:ea typeface="Malgun Gothic" charset="0"/>
              </a:rPr>
              <a:t>원본 값</a:t>
            </a:r>
            <a:endParaRPr lang="ko-KR" altLang="en-US" sz="1250" b="1" strike="noStrike">
              <a:solidFill>
                <a:srgbClr val="B5654A"/>
              </a:solidFill>
              <a:latin typeface="Malgun Gothic" charset="0"/>
              <a:ea typeface="Malgun Gothic" charset="0"/>
            </a:endParaRPr>
          </a:p>
        </p:txBody>
      </p:sp>
      <p:sp>
        <p:nvSpPr>
          <p:cNvPr id="485" name="Text 6"/>
          <p:cNvSpPr/>
          <p:nvPr/>
        </p:nvSpPr>
        <p:spPr>
          <a:xfrm>
            <a:off x="5897880" y="2194560"/>
            <a:ext cx="274320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50" b="1" strike="noStrike">
                <a:solidFill>
                  <a:srgbClr val="B5654A"/>
                </a:solidFill>
                <a:latin typeface="Malgun Gothic" charset="0"/>
                <a:ea typeface="Malgun Gothic" charset="0"/>
              </a:rPr>
              <a:t>기존 처리</a:t>
            </a:r>
            <a:endParaRPr lang="ko-KR" altLang="en-US" sz="1250" b="1" strike="noStrike">
              <a:solidFill>
                <a:srgbClr val="B5654A"/>
              </a:solidFill>
              <a:latin typeface="Malgun Gothic" charset="0"/>
              <a:ea typeface="Malgun Gothic" charset="0"/>
            </a:endParaRPr>
          </a:p>
        </p:txBody>
      </p:sp>
      <p:sp>
        <p:nvSpPr>
          <p:cNvPr id="486" name="Text 7"/>
          <p:cNvSpPr/>
          <p:nvPr/>
        </p:nvSpPr>
        <p:spPr>
          <a:xfrm>
            <a:off x="9144000" y="2194560"/>
            <a:ext cx="2468880" cy="274320"/>
          </a:xfrm>
          <a:prstGeom prst="rect">
            <a:avLst/>
          </a:prstGeom>
          <a:noFill/>
          <a:ln w="0">
            <a:noFill/>
          </a:ln>
        </p:spPr>
        <p:style>
          <a:lnRef idx="0"/>
          <a:fillRef idx="0"/>
          <a:effectRef idx="0"/>
          <a:fontRef idx="minor"/>
        </p:style>
        <p:txBody>
          <a:bodyPr wrap="square" lIns="0" tIns="0" rIns="0" bIns="0" numCol="1" vert="horz" anchor="t">
            <a:noAutofit/>
          </a:bodyPr>
          <a:lstStyle/>
          <a:p>
            <a:pPr marL="0" indent="0" algn="ctr" defTabSz="914400">
              <a:lnSpc>
                <a:spcPct val="100000"/>
              </a:lnSpc>
              <a:buFontTx/>
              <a:buNone/>
              <a:tabLst>
                <a:tab pos="0" algn="l"/>
              </a:tabLst>
            </a:pPr>
            <a:r>
              <a:rPr lang="ko-KR" sz="1250" b="1" strike="noStrike">
                <a:solidFill>
                  <a:srgbClr val="B5654A"/>
                </a:solidFill>
                <a:latin typeface="Malgun Gothic" charset="0"/>
                <a:ea typeface="Malgun Gothic" charset="0"/>
              </a:rPr>
              <a:t>개선</a:t>
            </a:r>
            <a:endParaRPr lang="ko-KR" altLang="en-US" sz="1250" b="1" strike="noStrike">
              <a:solidFill>
                <a:srgbClr val="B5654A"/>
              </a:solidFill>
              <a:latin typeface="Malgun Gothic" charset="0"/>
              <a:ea typeface="Malgun Gothic" charset="0"/>
            </a:endParaRPr>
          </a:p>
        </p:txBody>
      </p:sp>
      <p:sp>
        <p:nvSpPr>
          <p:cNvPr id="487" name="Shape 8"/>
          <p:cNvSpPr/>
          <p:nvPr/>
        </p:nvSpPr>
        <p:spPr>
          <a:xfrm>
            <a:off x="548640" y="2541905"/>
            <a:ext cx="1109154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88" name="Text 9"/>
          <p:cNvSpPr/>
          <p:nvPr/>
        </p:nvSpPr>
        <p:spPr>
          <a:xfrm>
            <a:off x="777240" y="2541905"/>
            <a:ext cx="219392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e2621"/>
                </a:solidFill>
                <a:latin typeface="Malgun Gothic"/>
                <a:ea typeface="Malgun Gothic"/>
              </a:rPr>
              <a:t>MESURE_TME</a:t>
            </a:r>
            <a:endParaRPr b="0" lang="en-US" sz="1450" spc="-1" strike="noStrike">
              <a:solidFill>
                <a:srgbClr val="000000"/>
              </a:solidFill>
              <a:latin typeface="Noto Sans KR"/>
            </a:endParaRPr>
          </a:p>
        </p:txBody>
      </p:sp>
      <p:sp>
        <p:nvSpPr>
          <p:cNvPr id="489" name="Text 10"/>
          <p:cNvSpPr/>
          <p:nvPr/>
        </p:nvSpPr>
        <p:spPr>
          <a:xfrm>
            <a:off x="3017520" y="2541905"/>
            <a:ext cx="2743200" cy="73152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600" b="1" strike="noStrike">
                <a:solidFill>
                  <a:srgbClr val="2E5A46"/>
                </a:solidFill>
                <a:latin typeface="Malgun Gothic" charset="0"/>
                <a:ea typeface="Malgun Gothic" charset="0"/>
              </a:rPr>
              <a:t>“</a:t>
            </a:r>
            <a:r>
              <a:rPr lang="en-US" sz="1600" b="1" strike="noStrike">
                <a:solidFill>
                  <a:srgbClr val="2E5A46"/>
                </a:solidFill>
                <a:latin typeface="Malgun Gothic" charset="0"/>
                <a:ea typeface="Malgun Gothic" charset="0"/>
              </a:rPr>
              <a:t>2”  “67”  “1591”</a:t>
            </a:r>
            <a:endParaRPr lang="ko-KR" altLang="en-US" sz="1600" b="1" strike="noStrike">
              <a:solidFill>
                <a:srgbClr val="2E5A46"/>
              </a:solidFill>
              <a:latin typeface="Malgun Gothic" charset="0"/>
              <a:ea typeface="Malgun Gothic" charset="0"/>
            </a:endParaRPr>
          </a:p>
        </p:txBody>
      </p:sp>
      <p:sp>
        <p:nvSpPr>
          <p:cNvPr id="490" name="Text 11"/>
          <p:cNvSpPr/>
          <p:nvPr/>
        </p:nvSpPr>
        <p:spPr>
          <a:xfrm>
            <a:off x="5897880" y="2597150"/>
            <a:ext cx="2926080" cy="64008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250" b="1" strike="noStrike">
                <a:solidFill>
                  <a:srgbClr val="5E5B52"/>
                </a:solidFill>
                <a:latin typeface="Malgun Gothic" charset="0"/>
                <a:ea typeface="Malgun Gothic" charset="0"/>
              </a:rPr>
              <a:t>datetime</a:t>
            </a:r>
            <a:r>
              <a:rPr lang="ko-KR" sz="1250" b="1" strike="noStrike">
                <a:solidFill>
                  <a:srgbClr val="5E5B52"/>
                </a:solidFill>
                <a:latin typeface="Malgun Gothic" charset="0"/>
                <a:ea typeface="Malgun Gothic" charset="0"/>
              </a:rPr>
              <a:t>으로 추정 변환</a:t>
            </a:r>
            <a:endParaRPr lang="ko-KR" altLang="en-US" sz="1250" b="1" strike="noStrike">
              <a:solidFill>
                <a:srgbClr val="5E5B52"/>
              </a:solidFill>
              <a:latin typeface="Malgun Gothic" charset="0"/>
              <a:ea typeface="Malgun Gothic" charset="0"/>
            </a:endParaRPr>
          </a:p>
          <a:p>
            <a:pPr marL="0" indent="0" algn="ctr" defTabSz="914400">
              <a:lnSpc>
                <a:spcPct val="100000"/>
              </a:lnSpc>
              <a:buFontTx/>
              <a:buNone/>
              <a:tabLst>
                <a:tab pos="0" algn="l"/>
              </a:tabLst>
            </a:pPr>
            <a:r>
              <a:rPr lang="en-US" sz="1600" b="1" strike="noStrike">
                <a:solidFill>
                  <a:srgbClr val="B5654A"/>
                </a:solidFill>
                <a:latin typeface="Malgun Gothic" charset="0"/>
                <a:ea typeface="Malgun Gothic" charset="0"/>
              </a:rPr>
              <a:t>→ NULL</a:t>
            </a:r>
            <a:endParaRPr lang="ko-KR" altLang="en-US" sz="1600" b="1" strike="noStrike">
              <a:solidFill>
                <a:srgbClr val="B5654A"/>
              </a:solidFill>
              <a:latin typeface="Malgun Gothic" charset="0"/>
              <a:ea typeface="Malgun Gothic" charset="0"/>
            </a:endParaRPr>
          </a:p>
        </p:txBody>
      </p:sp>
      <p:sp>
        <p:nvSpPr>
          <p:cNvPr id="491" name="Shape 12"/>
          <p:cNvSpPr/>
          <p:nvPr/>
        </p:nvSpPr>
        <p:spPr>
          <a:xfrm>
            <a:off x="9144000" y="2706370"/>
            <a:ext cx="2285365" cy="40195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92" name="Text 13"/>
          <p:cNvSpPr/>
          <p:nvPr/>
        </p:nvSpPr>
        <p:spPr>
          <a:xfrm>
            <a:off x="9144000" y="2706370"/>
            <a:ext cx="2285365" cy="40195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00" spc="-1" strike="noStrike">
                <a:solidFill>
                  <a:srgbClr val="ffffff"/>
                </a:solidFill>
                <a:latin typeface="Malgun Gothic"/>
                <a:ea typeface="Malgun Gothic"/>
              </a:rPr>
              <a:t>원본 문자열 보존</a:t>
            </a:r>
            <a:endParaRPr b="0" lang="en-US" sz="1300" spc="-1" strike="noStrike">
              <a:solidFill>
                <a:srgbClr val="000000"/>
              </a:solidFill>
              <a:latin typeface="Noto Sans KR"/>
            </a:endParaRPr>
          </a:p>
        </p:txBody>
      </p:sp>
      <p:sp>
        <p:nvSpPr>
          <p:cNvPr id="493" name="Shape 14"/>
          <p:cNvSpPr/>
          <p:nvPr/>
        </p:nvSpPr>
        <p:spPr>
          <a:xfrm>
            <a:off x="548640" y="3410585"/>
            <a:ext cx="1109154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94" name="Text 15"/>
          <p:cNvSpPr/>
          <p:nvPr/>
        </p:nvSpPr>
        <p:spPr>
          <a:xfrm>
            <a:off x="777240" y="3410585"/>
            <a:ext cx="219392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e2621"/>
                </a:solidFill>
                <a:latin typeface="Malgun Gothic"/>
                <a:ea typeface="Malgun Gothic"/>
              </a:rPr>
              <a:t>RN1 (1</a:t>
            </a:r>
            <a:r>
              <a:rPr b="1" lang="ko-KR" sz="1450" spc="-1" strike="noStrike">
                <a:solidFill>
                  <a:srgbClr val="1e2621"/>
                </a:solidFill>
                <a:latin typeface="Malgun Gothic"/>
                <a:ea typeface="Malgun Gothic"/>
              </a:rPr>
              <a:t>시간 강수량</a:t>
            </a:r>
            <a:r>
              <a:rPr b="1" lang="en-US" sz="1450" spc="-1" strike="noStrike">
                <a:solidFill>
                  <a:srgbClr val="1e2621"/>
                </a:solidFill>
                <a:latin typeface="Malgun Gothic"/>
                <a:ea typeface="Malgun Gothic"/>
              </a:rPr>
              <a:t>)</a:t>
            </a:r>
            <a:endParaRPr b="0" lang="en-US" sz="1450" spc="-1" strike="noStrike">
              <a:solidFill>
                <a:srgbClr val="000000"/>
              </a:solidFill>
              <a:latin typeface="Noto Sans KR"/>
            </a:endParaRPr>
          </a:p>
        </p:txBody>
      </p:sp>
      <p:sp>
        <p:nvSpPr>
          <p:cNvPr id="495" name="Text 16"/>
          <p:cNvSpPr/>
          <p:nvPr/>
        </p:nvSpPr>
        <p:spPr>
          <a:xfrm>
            <a:off x="3017520" y="3410585"/>
            <a:ext cx="2743200" cy="73152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600" b="1" strike="noStrike">
                <a:solidFill>
                  <a:srgbClr val="2E5A46"/>
                </a:solidFill>
                <a:latin typeface="Malgun Gothic" charset="0"/>
                <a:ea typeface="Malgun Gothic" charset="0"/>
              </a:rPr>
              <a:t>“</a:t>
            </a:r>
            <a:r>
              <a:rPr lang="ko-KR" sz="1600" b="1" strike="noStrike">
                <a:solidFill>
                  <a:srgbClr val="2E5A46"/>
                </a:solidFill>
                <a:latin typeface="Malgun Gothic" charset="0"/>
                <a:ea typeface="Malgun Gothic" charset="0"/>
              </a:rPr>
              <a:t>강수없음”</a:t>
            </a:r>
            <a:endParaRPr lang="ko-KR" altLang="en-US" sz="1600" b="1" strike="noStrike">
              <a:solidFill>
                <a:srgbClr val="2E5A46"/>
              </a:solidFill>
              <a:latin typeface="Malgun Gothic" charset="0"/>
              <a:ea typeface="Malgun Gothic" charset="0"/>
            </a:endParaRPr>
          </a:p>
        </p:txBody>
      </p:sp>
      <p:sp>
        <p:nvSpPr>
          <p:cNvPr id="496" name="Text 17"/>
          <p:cNvSpPr/>
          <p:nvPr/>
        </p:nvSpPr>
        <p:spPr>
          <a:xfrm>
            <a:off x="5897880" y="3465830"/>
            <a:ext cx="2926080" cy="64008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250" b="1" strike="noStrike">
                <a:solidFill>
                  <a:srgbClr val="5E5B52"/>
                </a:solidFill>
                <a:latin typeface="Malgun Gothic" charset="0"/>
                <a:ea typeface="Malgun Gothic" charset="0"/>
              </a:rPr>
              <a:t>숫자로 변환</a:t>
            </a:r>
            <a:endParaRPr lang="ko-KR" altLang="en-US" sz="1250" b="1" strike="noStrike">
              <a:solidFill>
                <a:srgbClr val="5E5B52"/>
              </a:solidFill>
              <a:latin typeface="Malgun Gothic" charset="0"/>
              <a:ea typeface="Malgun Gothic" charset="0"/>
            </a:endParaRPr>
          </a:p>
          <a:p>
            <a:pPr marL="0" indent="0" algn="ctr" defTabSz="914400">
              <a:lnSpc>
                <a:spcPct val="100000"/>
              </a:lnSpc>
              <a:buFontTx/>
              <a:buNone/>
              <a:tabLst>
                <a:tab pos="0" algn="l"/>
              </a:tabLst>
            </a:pPr>
            <a:r>
              <a:rPr lang="en-US" sz="1600" b="1" strike="noStrike">
                <a:solidFill>
                  <a:srgbClr val="B5654A"/>
                </a:solidFill>
                <a:latin typeface="Malgun Gothic" charset="0"/>
                <a:ea typeface="Malgun Gothic" charset="0"/>
              </a:rPr>
              <a:t>→ NULL</a:t>
            </a:r>
            <a:endParaRPr lang="ko-KR" altLang="en-US" sz="1600" b="1" strike="noStrike">
              <a:solidFill>
                <a:srgbClr val="B5654A"/>
              </a:solidFill>
              <a:latin typeface="Malgun Gothic" charset="0"/>
              <a:ea typeface="Malgun Gothic" charset="0"/>
            </a:endParaRPr>
          </a:p>
        </p:txBody>
      </p:sp>
      <p:sp>
        <p:nvSpPr>
          <p:cNvPr id="497" name="Shape 18"/>
          <p:cNvSpPr/>
          <p:nvPr/>
        </p:nvSpPr>
        <p:spPr>
          <a:xfrm>
            <a:off x="9144000" y="3575050"/>
            <a:ext cx="2285365" cy="40195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498" name="Text 19"/>
          <p:cNvSpPr/>
          <p:nvPr/>
        </p:nvSpPr>
        <p:spPr>
          <a:xfrm>
            <a:off x="9144000" y="3575050"/>
            <a:ext cx="2285365" cy="40195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00" spc="-1" strike="noStrike">
                <a:solidFill>
                  <a:srgbClr val="ffffff"/>
                </a:solidFill>
                <a:latin typeface="Malgun Gothic"/>
                <a:ea typeface="Malgun Gothic"/>
              </a:rPr>
              <a:t>원본 문자열 보존</a:t>
            </a:r>
            <a:endParaRPr b="0" lang="en-US" sz="1300" spc="-1" strike="noStrike">
              <a:solidFill>
                <a:srgbClr val="000000"/>
              </a:solidFill>
              <a:latin typeface="Noto Sans KR"/>
            </a:endParaRPr>
          </a:p>
        </p:txBody>
      </p:sp>
      <p:sp>
        <p:nvSpPr>
          <p:cNvPr id="499" name="Shape 20"/>
          <p:cNvSpPr/>
          <p:nvPr/>
        </p:nvSpPr>
        <p:spPr>
          <a:xfrm>
            <a:off x="548640" y="4279265"/>
            <a:ext cx="11091545" cy="730885"/>
          </a:xfrm>
          <a:prstGeom prst="roundRect">
            <a:avLst>
              <a:gd name="adj" fmla="val 17500"/>
            </a:avLst>
          </a:prstGeom>
          <a:solidFill>
            <a:srgbClr val="ffffff"/>
          </a:solidFill>
          <a:ln w="12700">
            <a:solidFill>
              <a:srgbClr val="d8cbb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00" name="Text 21"/>
          <p:cNvSpPr/>
          <p:nvPr/>
        </p:nvSpPr>
        <p:spPr>
          <a:xfrm>
            <a:off x="777240" y="4279265"/>
            <a:ext cx="219392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e2621"/>
                </a:solidFill>
                <a:latin typeface="Malgun Gothic"/>
                <a:ea typeface="Malgun Gothic"/>
              </a:rPr>
              <a:t>ARBY_COT_CO_VALUE</a:t>
            </a:r>
            <a:endParaRPr b="0" lang="en-US" sz="1450" spc="-1" strike="noStrike">
              <a:solidFill>
                <a:srgbClr val="000000"/>
              </a:solidFill>
              <a:latin typeface="Noto Sans KR"/>
            </a:endParaRPr>
          </a:p>
        </p:txBody>
      </p:sp>
      <p:sp>
        <p:nvSpPr>
          <p:cNvPr id="501" name="Text 22"/>
          <p:cNvSpPr/>
          <p:nvPr/>
        </p:nvSpPr>
        <p:spPr>
          <a:xfrm>
            <a:off x="3017520" y="4279265"/>
            <a:ext cx="2743200" cy="73152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600" b="1" strike="noStrike">
                <a:solidFill>
                  <a:srgbClr val="2E5A46"/>
                </a:solidFill>
                <a:latin typeface="Malgun Gothic" charset="0"/>
                <a:ea typeface="Malgun Gothic" charset="0"/>
              </a:rPr>
              <a:t>“570</a:t>
            </a:r>
            <a:r>
              <a:rPr lang="ko-KR" sz="1600" b="1" strike="noStrike">
                <a:solidFill>
                  <a:srgbClr val="2E5A46"/>
                </a:solidFill>
                <a:latin typeface="Malgun Gothic" charset="0"/>
                <a:ea typeface="Malgun Gothic" charset="0"/>
              </a:rPr>
              <a:t>㎡ </a:t>
            </a:r>
            <a:r>
              <a:rPr lang="en-US" sz="1600" b="1" strike="noStrike">
                <a:solidFill>
                  <a:srgbClr val="2E5A46"/>
                </a:solidFill>
                <a:latin typeface="Malgun Gothic" charset="0"/>
                <a:ea typeface="Malgun Gothic" charset="0"/>
              </a:rPr>
              <a:t>/1</a:t>
            </a:r>
            <a:r>
              <a:rPr lang="ko-KR" sz="1600" b="1" strike="noStrike">
                <a:solidFill>
                  <a:srgbClr val="2E5A46"/>
                </a:solidFill>
                <a:latin typeface="Malgun Gothic" charset="0"/>
                <a:ea typeface="Malgun Gothic" charset="0"/>
              </a:rPr>
              <a:t>개 코트”</a:t>
            </a:r>
            <a:endParaRPr lang="ko-KR" altLang="en-US" sz="1600" b="1" strike="noStrike">
              <a:solidFill>
                <a:srgbClr val="2E5A46"/>
              </a:solidFill>
              <a:latin typeface="Malgun Gothic" charset="0"/>
              <a:ea typeface="Malgun Gothic" charset="0"/>
            </a:endParaRPr>
          </a:p>
        </p:txBody>
      </p:sp>
      <p:sp>
        <p:nvSpPr>
          <p:cNvPr id="502" name="Text 23"/>
          <p:cNvSpPr/>
          <p:nvPr/>
        </p:nvSpPr>
        <p:spPr>
          <a:xfrm>
            <a:off x="5897880" y="4334510"/>
            <a:ext cx="2926080" cy="640080"/>
          </a:xfrm>
          <a:prstGeom prst="rect">
            <a:avLst/>
          </a:prstGeom>
          <a:noFill/>
          <a:ln w="0">
            <a:noFill/>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250" b="1" strike="noStrike">
                <a:solidFill>
                  <a:srgbClr val="5E5B52"/>
                </a:solidFill>
                <a:latin typeface="Malgun Gothic" charset="0"/>
                <a:ea typeface="Malgun Gothic" charset="0"/>
              </a:rPr>
              <a:t>값 형태와 맞지 않는 타입 변환</a:t>
            </a:r>
            <a:endParaRPr lang="ko-KR" altLang="en-US" sz="1250" b="1" strike="noStrike">
              <a:solidFill>
                <a:srgbClr val="5E5B52"/>
              </a:solidFill>
              <a:latin typeface="Malgun Gothic" charset="0"/>
              <a:ea typeface="Malgun Gothic" charset="0"/>
            </a:endParaRPr>
          </a:p>
          <a:p>
            <a:pPr marL="0" indent="0" algn="ctr" defTabSz="914400">
              <a:lnSpc>
                <a:spcPct val="100000"/>
              </a:lnSpc>
              <a:buFontTx/>
              <a:buNone/>
              <a:tabLst>
                <a:tab pos="0" algn="l"/>
              </a:tabLst>
            </a:pPr>
            <a:r>
              <a:rPr lang="en-US" sz="1600" b="1" strike="noStrike">
                <a:solidFill>
                  <a:srgbClr val="B5654A"/>
                </a:solidFill>
                <a:latin typeface="Malgun Gothic" charset="0"/>
                <a:ea typeface="Malgun Gothic" charset="0"/>
              </a:rPr>
              <a:t>→ NULL</a:t>
            </a:r>
            <a:endParaRPr lang="ko-KR" altLang="en-US" sz="1600" b="1" strike="noStrike">
              <a:solidFill>
                <a:srgbClr val="B5654A"/>
              </a:solidFill>
              <a:latin typeface="Malgun Gothic" charset="0"/>
              <a:ea typeface="Malgun Gothic" charset="0"/>
            </a:endParaRPr>
          </a:p>
        </p:txBody>
      </p:sp>
      <p:sp>
        <p:nvSpPr>
          <p:cNvPr id="503" name="Shape 24"/>
          <p:cNvSpPr/>
          <p:nvPr/>
        </p:nvSpPr>
        <p:spPr>
          <a:xfrm>
            <a:off x="9144000" y="4443730"/>
            <a:ext cx="2285365" cy="401955"/>
          </a:xfrm>
          <a:prstGeom prst="roundRect">
            <a:avLst>
              <a:gd name="adj" fmla="val 50000"/>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04" name="Text 25"/>
          <p:cNvSpPr/>
          <p:nvPr/>
        </p:nvSpPr>
        <p:spPr>
          <a:xfrm>
            <a:off x="9144000" y="4443730"/>
            <a:ext cx="2285365" cy="401955"/>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ko-KR" sz="1300" spc="-1" strike="noStrike">
                <a:solidFill>
                  <a:srgbClr val="ffffff"/>
                </a:solidFill>
                <a:latin typeface="Malgun Gothic"/>
                <a:ea typeface="Malgun Gothic"/>
              </a:rPr>
              <a:t>원본 문자열 보존</a:t>
            </a:r>
            <a:endParaRPr b="0" lang="en-US" sz="1300" spc="-1" strike="noStrike">
              <a:solidFill>
                <a:srgbClr val="000000"/>
              </a:solidFill>
              <a:latin typeface="Noto Sans KR"/>
            </a:endParaRPr>
          </a:p>
        </p:txBody>
      </p:sp>
      <p:sp>
        <p:nvSpPr>
          <p:cNvPr id="505" name="Shape 26"/>
          <p:cNvSpPr>
            <a:spLocks/>
          </p:cNvSpPr>
          <p:nvPr/>
        </p:nvSpPr>
        <p:spPr>
          <a:xfrm rot="0">
            <a:off x="548640" y="5192395"/>
            <a:ext cx="4754880" cy="1033780"/>
          </a:xfrm>
          <a:prstGeom prst="roundRect">
            <a:avLst>
              <a:gd name="adj" fmla="val 12389"/>
            </a:avLst>
          </a:prstGeom>
          <a:solidFill>
            <a:srgbClr val="1E3B2F"/>
          </a:solidFill>
          <a:ln w="12700" cap="flat" cmpd="sng">
            <a:solidFill>
              <a:srgbClr val="1E3B2F">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FFFFFF"/>
              </a:solidFill>
              <a:latin typeface="Noto Sans KR" charset="0"/>
            </a:endParaRPr>
          </a:p>
        </p:txBody>
      </p:sp>
      <p:sp>
        <p:nvSpPr>
          <p:cNvPr id="506" name="Text 27"/>
          <p:cNvSpPr/>
          <p:nvPr/>
        </p:nvSpPr>
        <p:spPr>
          <a:xfrm>
            <a:off x="777240" y="5303520"/>
            <a:ext cx="438848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300" spc="-1" strike="noStrike">
                <a:solidFill>
                  <a:srgbClr val="9db5a8"/>
                </a:solidFill>
                <a:latin typeface="Malgun Gothic"/>
                <a:ea typeface="Malgun Gothic"/>
              </a:rPr>
              <a:t>행 수 대조 </a:t>
            </a:r>
            <a:r>
              <a:rPr b="1" lang="en-US" sz="1300" spc="-1" strike="noStrike">
                <a:solidFill>
                  <a:srgbClr val="9db5a8"/>
                </a:solidFill>
                <a:latin typeface="Malgun Gothic"/>
                <a:ea typeface="Malgun Gothic"/>
              </a:rPr>
              <a:t>(Reconciliation)</a:t>
            </a:r>
            <a:endParaRPr b="0" lang="en-US" sz="1300" spc="-1" strike="noStrike">
              <a:solidFill>
                <a:srgbClr val="000000"/>
              </a:solidFill>
              <a:latin typeface="Noto Sans KR"/>
            </a:endParaRPr>
          </a:p>
        </p:txBody>
      </p:sp>
      <p:sp>
        <p:nvSpPr>
          <p:cNvPr id="507" name="Text 28"/>
          <p:cNvSpPr/>
          <p:nvPr/>
        </p:nvSpPr>
        <p:spPr>
          <a:xfrm>
            <a:off x="777240" y="5650865"/>
            <a:ext cx="4388485" cy="4565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800" spc="-1" strike="noStrike">
                <a:solidFill>
                  <a:srgbClr val="d9a441"/>
                </a:solidFill>
                <a:latin typeface="Malgun Gothic"/>
                <a:ea typeface="Malgun Gothic"/>
              </a:rPr>
              <a:t>RAW = PROCESSED + </a:t>
            </a:r>
            <a:r>
              <a:rPr b="1" lang="ko-KR" sz="1800" spc="-1" strike="noStrike">
                <a:solidFill>
                  <a:srgbClr val="d9a441"/>
                </a:solidFill>
                <a:latin typeface="Malgun Gothic"/>
                <a:ea typeface="Malgun Gothic"/>
              </a:rPr>
              <a:t>설명 가능한 제거</a:t>
            </a:r>
            <a:endParaRPr b="0" lang="en-US" sz="1800" spc="-1" strike="noStrike">
              <a:solidFill>
                <a:srgbClr val="000000"/>
              </a:solidFill>
              <a:latin typeface="Noto Sans KR"/>
            </a:endParaRPr>
          </a:p>
        </p:txBody>
      </p:sp>
      <p:sp>
        <p:nvSpPr>
          <p:cNvPr id="508" name="Shape 29"/>
          <p:cNvSpPr/>
          <p:nvPr/>
        </p:nvSpPr>
        <p:spPr>
          <a:xfrm>
            <a:off x="5577840" y="5532120"/>
            <a:ext cx="1261745" cy="456565"/>
          </a:xfrm>
          <a:prstGeom prst="roundRect">
            <a:avLst>
              <a:gd name="adj" fmla="val 50000"/>
            </a:avLst>
          </a:prstGeom>
          <a:solidFill>
            <a:srgbClr val="b5654a"/>
          </a:solidFill>
          <a:ln w="12700">
            <a:solidFill>
              <a:srgbClr val="b5654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09" name="Text 30"/>
          <p:cNvSpPr>
            <a:spLocks/>
          </p:cNvSpPr>
          <p:nvPr/>
        </p:nvSpPr>
        <p:spPr>
          <a:xfrm rot="0">
            <a:off x="5577840" y="5513070"/>
            <a:ext cx="1262380" cy="45720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FFFFFF"/>
                </a:solidFill>
                <a:latin typeface="Malgun Gothic" charset="0"/>
                <a:ea typeface="Malgun Gothic" charset="0"/>
              </a:rPr>
              <a:t>DQ </a:t>
            </a:r>
            <a:r>
              <a:rPr lang="ko-KR" sz="1300" b="1" strike="noStrike">
                <a:solidFill>
                  <a:srgbClr val="FFFFFF"/>
                </a:solidFill>
                <a:latin typeface="Malgun Gothic" charset="0"/>
                <a:ea typeface="Malgun Gothic" charset="0"/>
              </a:rPr>
              <a:t>탐지</a:t>
            </a:r>
            <a:endParaRPr lang="ko-KR" altLang="en-US" sz="1300" b="1" strike="noStrike">
              <a:solidFill>
                <a:srgbClr val="FFFFFF"/>
              </a:solidFill>
              <a:latin typeface="Malgun Gothic" charset="0"/>
              <a:ea typeface="Malgun Gothic" charset="0"/>
            </a:endParaRPr>
          </a:p>
        </p:txBody>
      </p:sp>
      <p:sp>
        <p:nvSpPr>
          <p:cNvPr id="510" name="Shape 31"/>
          <p:cNvSpPr>
            <a:spLocks/>
          </p:cNvSpPr>
          <p:nvPr/>
        </p:nvSpPr>
        <p:spPr>
          <a:xfrm rot="0">
            <a:off x="6876415" y="5604510"/>
            <a:ext cx="219710" cy="274320"/>
          </a:xfrm>
          <a:prstGeom prst="rightArrow">
            <a:avLst>
              <a:gd name="adj1" fmla="val 50000"/>
              <a:gd name="adj2" fmla="val 50000"/>
            </a:avLst>
          </a:prstGeom>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11" name="Shape 32"/>
          <p:cNvSpPr/>
          <p:nvPr/>
        </p:nvSpPr>
        <p:spPr>
          <a:xfrm>
            <a:off x="7132320" y="5532120"/>
            <a:ext cx="1261745" cy="456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12" name="Text 33"/>
          <p:cNvSpPr>
            <a:spLocks/>
          </p:cNvSpPr>
          <p:nvPr/>
        </p:nvSpPr>
        <p:spPr>
          <a:xfrm rot="0">
            <a:off x="7132320" y="5513070"/>
            <a:ext cx="1262380" cy="45720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300" b="1" strike="noStrike">
                <a:solidFill>
                  <a:srgbClr val="1E2621"/>
                </a:solidFill>
                <a:latin typeface="Malgun Gothic" charset="0"/>
                <a:ea typeface="Malgun Gothic" charset="0"/>
              </a:rPr>
              <a:t>RAW </a:t>
            </a:r>
            <a:r>
              <a:rPr lang="ko-KR" sz="1300" b="1" strike="noStrike">
                <a:solidFill>
                  <a:srgbClr val="1E2621"/>
                </a:solidFill>
                <a:latin typeface="Malgun Gothic" charset="0"/>
                <a:ea typeface="Malgun Gothic" charset="0"/>
              </a:rPr>
              <a:t>재확인</a:t>
            </a:r>
            <a:endParaRPr lang="ko-KR" altLang="en-US" sz="1300" b="1" strike="noStrike">
              <a:solidFill>
                <a:srgbClr val="1E2621"/>
              </a:solidFill>
              <a:latin typeface="Malgun Gothic" charset="0"/>
              <a:ea typeface="Malgun Gothic" charset="0"/>
            </a:endParaRPr>
          </a:p>
        </p:txBody>
      </p:sp>
      <p:sp>
        <p:nvSpPr>
          <p:cNvPr id="513" name="Shape 34"/>
          <p:cNvSpPr>
            <a:spLocks/>
          </p:cNvSpPr>
          <p:nvPr/>
        </p:nvSpPr>
        <p:spPr>
          <a:xfrm rot="0">
            <a:off x="8430895" y="5604510"/>
            <a:ext cx="219710" cy="274320"/>
          </a:xfrm>
          <a:prstGeom prst="rightArrow">
            <a:avLst>
              <a:gd name="adj1" fmla="val 50000"/>
              <a:gd name="adj2" fmla="val 50000"/>
            </a:avLst>
          </a:prstGeom>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14" name="Shape 35"/>
          <p:cNvSpPr/>
          <p:nvPr/>
        </p:nvSpPr>
        <p:spPr>
          <a:xfrm>
            <a:off x="8686800" y="5532120"/>
            <a:ext cx="1261745" cy="456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15" name="Text 36"/>
          <p:cNvSpPr>
            <a:spLocks/>
          </p:cNvSpPr>
          <p:nvPr/>
        </p:nvSpPr>
        <p:spPr>
          <a:xfrm rot="0">
            <a:off x="8686800" y="5513070"/>
            <a:ext cx="1262380" cy="45720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300" b="1" strike="noStrike">
                <a:solidFill>
                  <a:srgbClr val="1E2621"/>
                </a:solidFill>
                <a:latin typeface="Malgun Gothic" charset="0"/>
                <a:ea typeface="Malgun Gothic" charset="0"/>
              </a:rPr>
              <a:t>처리 로직 수정</a:t>
            </a:r>
            <a:endParaRPr lang="ko-KR" altLang="en-US" sz="1300" b="1" strike="noStrike">
              <a:solidFill>
                <a:srgbClr val="1E2621"/>
              </a:solidFill>
              <a:latin typeface="Malgun Gothic" charset="0"/>
              <a:ea typeface="Malgun Gothic" charset="0"/>
            </a:endParaRPr>
          </a:p>
        </p:txBody>
      </p:sp>
      <p:sp>
        <p:nvSpPr>
          <p:cNvPr id="516" name="Shape 37"/>
          <p:cNvSpPr>
            <a:spLocks/>
          </p:cNvSpPr>
          <p:nvPr/>
        </p:nvSpPr>
        <p:spPr>
          <a:xfrm rot="0">
            <a:off x="9985375" y="5604510"/>
            <a:ext cx="219710" cy="274320"/>
          </a:xfrm>
          <a:prstGeom prst="rightArrow">
            <a:avLst>
              <a:gd name="adj1" fmla="val 50000"/>
              <a:gd name="adj2" fmla="val 50000"/>
            </a:avLst>
          </a:prstGeom>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17" name="Shape 38"/>
          <p:cNvSpPr/>
          <p:nvPr/>
        </p:nvSpPr>
        <p:spPr>
          <a:xfrm>
            <a:off x="10241280" y="5532120"/>
            <a:ext cx="1261745" cy="456565"/>
          </a:xfrm>
          <a:prstGeom prst="roundRect">
            <a:avLst>
              <a:gd name="adj" fmla="val 50000"/>
            </a:avLst>
          </a:prstGeom>
          <a:solidFill>
            <a:srgbClr val="eadfcb"/>
          </a:solidFill>
          <a:ln w="12700">
            <a:solidFill>
              <a:srgbClr val="eadfc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18" name="Text 39"/>
          <p:cNvSpPr>
            <a:spLocks/>
          </p:cNvSpPr>
          <p:nvPr/>
        </p:nvSpPr>
        <p:spPr>
          <a:xfrm rot="0">
            <a:off x="10241280" y="5513070"/>
            <a:ext cx="1262380" cy="457200"/>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ko-KR" sz="1300" b="1" strike="noStrike">
                <a:solidFill>
                  <a:srgbClr val="1E2621"/>
                </a:solidFill>
                <a:latin typeface="Malgun Gothic" charset="0"/>
                <a:ea typeface="Malgun Gothic" charset="0"/>
              </a:rPr>
              <a:t>회귀 테스트</a:t>
            </a:r>
            <a:endParaRPr lang="ko-KR" altLang="en-US" sz="1300" b="1" strike="noStrike">
              <a:solidFill>
                <a:srgbClr val="1E2621"/>
              </a:solidFill>
              <a:latin typeface="Malgun Gothic" charset="0"/>
              <a:ea typeface="Malgun Gothic" charset="0"/>
            </a:endParaRPr>
          </a:p>
        </p:txBody>
      </p:sp>
      <p:sp>
        <p:nvSpPr>
          <p:cNvPr id="519" name="Text 40"/>
          <p:cNvSpPr/>
          <p:nvPr/>
        </p:nvSpPr>
        <p:spPr>
          <a:xfrm>
            <a:off x="548640" y="6446520"/>
            <a:ext cx="4571365" cy="22796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00" spc="199" strike="noStrike">
                <a:solidFill>
                  <a:srgbClr val="9a907c"/>
                </a:solidFill>
                <a:latin typeface="Malgun Gothic"/>
                <a:ea typeface="Malgun Gothic"/>
              </a:rPr>
              <a:t>WOOSIMWOONKKA · MY MOVE CLUB</a:t>
            </a:r>
            <a:endParaRPr b="0" lang="en-US" sz="900" spc="-1" strike="noStrike">
              <a:solidFill>
                <a:srgbClr val="000000"/>
              </a:solidFill>
              <a:latin typeface="Noto Sans KR"/>
            </a:endParaRPr>
          </a:p>
        </p:txBody>
      </p:sp>
      <p:sp>
        <p:nvSpPr>
          <p:cNvPr id="520" name="Text 41"/>
          <p:cNvSpPr/>
          <p:nvPr/>
        </p:nvSpPr>
        <p:spPr>
          <a:xfrm>
            <a:off x="11182985" y="6446520"/>
            <a:ext cx="456565" cy="227965"/>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900" spc="-1" strike="noStrike">
                <a:solidFill>
                  <a:srgbClr val="9a907c"/>
                </a:solidFill>
                <a:latin typeface="Malgun Gothic"/>
                <a:ea typeface="Malgun Gothic"/>
              </a:rPr>
              <a:t>21</a:t>
            </a:r>
            <a:endParaRPr b="0" lang="en-US" sz="900" spc="-1" strike="noStrike">
              <a:solidFill>
                <a:srgbClr val="000000"/>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3">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2E5A46"/>
          </a:solidFill>
          <a:ln w="12700">
            <a:solidFill>
              <a:srgbClr val="2E5A46"/>
            </a:solidFill>
            <a:prstDash val="solid"/>
          </a:ln>
        </p:spPr>
      </p:sp>
      <p:sp>
        <p:nvSpPr>
          <p:cNvPr id="3" name="Text 1"/>
          <p:cNvSpPr txBox="1"/>
          <p:nvPr/>
        </p:nvSpPr>
        <p:spPr>
          <a:xfrm>
            <a:off x="54864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08</a:t>
            </a:r>
            <a:endParaRPr lang="en-US" sz="1300" dirty="0"/>
          </a:p>
        </p:txBody>
      </p:sp>
      <p:sp>
        <p:nvSpPr>
          <p:cNvPr id="4" name="Text 2"/>
          <p:cNvSpPr txBox="1"/>
          <p:nvPr/>
        </p:nvSpPr>
        <p:spPr>
          <a:xfrm>
            <a:off x="1042416" y="384048"/>
            <a:ext cx="5486400" cy="384048"/>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RESULT · 원본 · 정제 데이터 비교</a:t>
            </a:r>
            <a:endParaRPr lang="en-US" sz="1400" dirty="0"/>
          </a:p>
        </p:txBody>
      </p:sp>
      <p:sp>
        <p:nvSpPr>
          <p:cNvPr id="5" name="Text 3"/>
          <p:cNvSpPr txBox="1"/>
          <p:nvPr/>
        </p:nvSpPr>
        <p:spPr>
          <a:xfrm>
            <a:off x="548640" y="896112"/>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원본 한 건이, 이렇게 정제됩니다</a:t>
            </a:r>
            <a:endParaRPr lang="en-US" sz="3400" dirty="0"/>
          </a:p>
        </p:txBody>
      </p:sp>
      <p:sp>
        <p:nvSpPr>
          <p:cNvPr id="6" name="Text 4"/>
          <p:cNvSpPr txBox="1"/>
          <p:nvPr/>
        </p:nvSpPr>
        <p:spPr>
          <a:xfrm>
            <a:off x="548640" y="1600200"/>
            <a:ext cx="10972800" cy="310896"/>
          </a:xfrm>
          <a:prstGeom prst="rect">
            <a:avLst/>
          </a:prstGeom>
          <a:noFill/>
          <a:ln/>
        </p:spPr>
        <p:txBody>
          <a:bodyPr wrap="square" lIns="0" tIns="0" rIns="0" bIns="0" rtlCol="0" anchor="t"/>
          <a:lstStyle/>
          <a:p>
            <a:pPr indent="0" marL="0">
              <a:buNone/>
            </a:pPr>
            <a:r>
              <a:rPr lang="en-US" sz="1450" b="1" dirty="0">
                <a:solidFill>
                  <a:srgbClr val="5E5B52"/>
                </a:solidFill>
                <a:latin typeface="Malgun Gothic" pitchFamily="34" charset="0"/>
                <a:ea typeface="Malgun Gothic" pitchFamily="34" charset="-122"/>
                <a:cs typeface="Malgun Gothic" pitchFamily="34" charset="-120"/>
              </a:rPr>
              <a:t>AED 원본의 같은 기기(serialSeq) 한 건을 RAW와 PROCESSED에서 비교</a:t>
            </a:r>
            <a:endParaRPr lang="en-US" sz="14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1672" cy="914400"/>
        </p:xfrm>
        <a:graphic>
          <a:graphicData uri="http://schemas.openxmlformats.org/drawingml/2006/table">
            <a:tbl>
              <a:tblPr/>
              <a:tblGrid>
                <a:gridCol w="2651760"/>
                <a:gridCol w="3291840"/>
                <a:gridCol w="3291840"/>
                <a:gridCol w="1856232"/>
              </a:tblGrid>
              <a:tr h="393192">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컬럼</a:t>
                      </a:r>
                      <a:endParaRPr lang="en-US" sz="125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RAW 원본</a:t>
                      </a:r>
                      <a:endParaRPr lang="en-US" sz="125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PROCESSED 정제</a:t>
                      </a:r>
                      <a:endParaRPr lang="en-US" sz="125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변화</a:t>
                      </a:r>
                      <a:endParaRPr lang="en-US" sz="125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393192">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serialSeq 기기번호</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"030-250224-184677"</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"030-250224-184677"</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A46"/>
                          </a:solidFill>
                          <a:latin typeface="Malgun Gothic" pitchFamily="34" charset="0"/>
                          <a:ea typeface="Malgun Gothic" pitchFamily="34" charset="-122"/>
                          <a:cs typeface="Malgun Gothic" pitchFamily="34" charset="-120"/>
                        </a:rPr>
                        <a:t>유지</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sido 시도</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"서울특별시"</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"서울특별시"</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A46"/>
                          </a:solidFill>
                          <a:latin typeface="Malgun Gothic" pitchFamily="34" charset="0"/>
                          <a:ea typeface="Malgun Gothic" pitchFamily="34" charset="-122"/>
                          <a:cs typeface="Malgun Gothic" pitchFamily="34" charset="-120"/>
                        </a:rPr>
                        <a:t>유지</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gugun 시군구</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"종로구"</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"종로구"</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A46"/>
                          </a:solidFill>
                          <a:latin typeface="Malgun Gothic" pitchFamily="34" charset="0"/>
                          <a:ea typeface="Malgun Gothic" pitchFamily="34" charset="-122"/>
                          <a:cs typeface="Malgun Gothic" pitchFamily="34" charset="-120"/>
                        </a:rPr>
                        <a:t>유지</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org 설치기관</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"행정안전부이북5도위원회"</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"행정안전부이북5도위원회"</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A46"/>
                          </a:solidFill>
                          <a:latin typeface="Malgun Gothic" pitchFamily="34" charset="0"/>
                          <a:ea typeface="Malgun Gothic" pitchFamily="34" charset="-122"/>
                          <a:cs typeface="Malgun Gothic" pitchFamily="34" charset="-120"/>
                        </a:rPr>
                        <a:t>유지</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buildPlace 설치위치</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"1층로비"</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"1층로비"</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A46"/>
                          </a:solidFill>
                          <a:latin typeface="Malgun Gothic" pitchFamily="34" charset="0"/>
                          <a:ea typeface="Malgun Gothic" pitchFamily="34" charset="-122"/>
                          <a:cs typeface="Malgun Gothic" pitchFamily="34" charset="-120"/>
                        </a:rPr>
                        <a:t>유지</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holSttTme 공휴일 시작</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B5654A"/>
                          </a:solidFill>
                          <a:latin typeface="Malgun Gothic" pitchFamily="34" charset="0"/>
                          <a:ea typeface="Malgun Gothic" pitchFamily="34" charset="-122"/>
                          <a:cs typeface="Malgun Gothic" pitchFamily="34" charset="-120"/>
                        </a:rPr>
                        <a:t>NULL</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5654A"/>
                          </a:solidFill>
                          <a:latin typeface="Malgun Gothic" pitchFamily="34" charset="0"/>
                          <a:ea typeface="Malgun Gothic" pitchFamily="34" charset="-122"/>
                          <a:cs typeface="Malgun Gothic" pitchFamily="34" charset="-120"/>
                        </a:rPr>
                        <a:t>빈 문자열 → NULL</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zipcode1 우편번호</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"030"</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"030"</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A46"/>
                          </a:solidFill>
                          <a:latin typeface="Malgun Gothic" pitchFamily="34" charset="0"/>
                          <a:ea typeface="Malgun Gothic" pitchFamily="34" charset="-122"/>
                          <a:cs typeface="Malgun Gothic" pitchFamily="34" charset="-120"/>
                        </a:rPr>
                        <a:t>유지</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wgs84Lat 위도</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"37.6142383841494"</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B5654A"/>
                          </a:solidFill>
                          <a:latin typeface="Malgun Gothic" pitchFamily="34" charset="0"/>
                          <a:ea typeface="Malgun Gothic" pitchFamily="34" charset="-122"/>
                          <a:cs typeface="Malgun Gothic" pitchFamily="34" charset="-120"/>
                        </a:rPr>
                        <a:t>37.6142383841494</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5654A"/>
                          </a:solidFill>
                          <a:latin typeface="Malgun Gothic" pitchFamily="34" charset="0"/>
                          <a:ea typeface="Malgun Gothic" pitchFamily="34" charset="-122"/>
                          <a:cs typeface="Malgun Gothic" pitchFamily="34" charset="-120"/>
                        </a:rPr>
                        <a:t>문자열 → 숫자형</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wgs84Lon 경도</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"126.95591770948099"</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B5654A"/>
                          </a:solidFill>
                          <a:latin typeface="Malgun Gothic" pitchFamily="34" charset="0"/>
                          <a:ea typeface="Malgun Gothic" pitchFamily="34" charset="-122"/>
                          <a:cs typeface="Malgun Gothic" pitchFamily="34" charset="-120"/>
                        </a:rPr>
                        <a:t>126.955917709481</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5654A"/>
                          </a:solidFill>
                          <a:latin typeface="Malgun Gothic" pitchFamily="34" charset="0"/>
                          <a:ea typeface="Malgun Gothic" pitchFamily="34" charset="-122"/>
                          <a:cs typeface="Malgun Gothic" pitchFamily="34" charset="-120"/>
                        </a:rPr>
                        <a:t>문자열 → 숫자형</a:t>
                      </a:r>
                      <a:endParaRPr lang="en-US" sz="1200" dirty="0">
                        <a:latin typeface="Malgun Gothic" charset="0"/>
                        <a:ea typeface="Malgun Gothic" charset="0"/>
                        <a:cs typeface="Malgun Gothic" charset="0"/>
                      </a:endParaRPr>
                    </a:p>
                  </a:txBody>
                  <a:tcPr marL="109728" marR="109728"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100" b="1" dirty="0">
                <a:solidFill>
                  <a:srgbClr val="5E5B52"/>
                </a:solidFill>
                <a:latin typeface="Malgun Gothic" pitchFamily="34" charset="0"/>
                <a:ea typeface="Malgun Gothic" pitchFamily="34" charset="-122"/>
                <a:cs typeface="Malgun Gothic" pitchFamily="34" charset="-120"/>
              </a:rPr>
              <a:t>※ 담당자 이름 · 연락처 컬럼은 표시에서 제외 · 우편번호처럼 숫자로 보여도 식별 의미인 값은 문자열로 유지</a:t>
            </a:r>
            <a:endParaRPr lang="en-US" sz="1100" dirty="0"/>
          </a:p>
        </p:txBody>
      </p:sp>
      <p:sp>
        <p:nvSpPr>
          <p:cNvPr id="9" name="Text 6"/>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10" name="Text 7"/>
          <p:cNvSpPr txBox="1"/>
          <p:nvPr/>
        </p:nvSpPr>
        <p:spPr>
          <a:xfrm>
            <a:off x="11183112"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p14="http://schemas.microsoft.com/office/powerpoint/2010/main">
  <p:cSld name="">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txBody>
          <a:bodyPr/>
          <a:p/>
        </p:txBody>
      </p:sp>
      <p:sp>
        <p:nvSpPr>
          <p:cNvPr id="3" name="Text 1"/>
          <p:cNvSpPr txBox="1"/>
          <p:nvPr/>
        </p:nvSpPr>
        <p:spPr>
          <a:xfrm>
            <a:off x="548640" y="384175"/>
            <a:ext cx="384175" cy="384175"/>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08</a:t>
            </a:r>
            <a:endParaRPr lang="en-US" sz="1300" dirty="0"/>
          </a:p>
        </p:txBody>
      </p:sp>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RESULT · 실행 결과</a:t>
            </a:r>
            <a:endParaRPr lang="en-US" sz="1400" dirty="0"/>
          </a:p>
        </p:txBody>
      </p:sp>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실제로 어디까지 처리됐는지 확인했습니다</a:t>
            </a:r>
            <a:endParaRPr lang="en-US" sz="3400" dirty="0"/>
          </a:p>
        </p:txBody>
      </p:sp>
      <p:sp>
        <p:nvSpPr>
          <p:cNvPr id="6" name="Text 4"/>
          <p:cNvSpPr txBox="1"/>
          <p:nvPr/>
        </p:nvSpPr>
        <p:spPr>
          <a:xfrm>
            <a:off x="548640" y="1600200"/>
            <a:ext cx="11064240" cy="328930"/>
          </a:xfrm>
          <a:prstGeom prst="rect">
            <a:avLst/>
          </a:prstGeom>
          <a:noFill/>
          <a:ln/>
        </p:spPr>
        <p:txBody>
          <a:bodyPr wrap="square" lIns="0" tIns="0" rIns="0" bIns="0" rtlCol="0" anchor="t"/>
          <a:lstStyle/>
          <a:p>
            <a:pPr indent="0" marL="0">
              <a:buNone/>
            </a:pPr>
            <a:r>
              <a:rPr lang="en-US" sz="1500" b="1" dirty="0">
                <a:solidFill>
                  <a:srgbClr val="5E5B52"/>
                </a:solidFill>
                <a:latin typeface="Malgun Gothic" pitchFamily="34" charset="0"/>
                <a:ea typeface="Malgun Gothic" pitchFamily="34" charset="-122"/>
                <a:cs typeface="Malgun Gothic" pitchFamily="34" charset="-120"/>
              </a:rPr>
              <a:t>AED(자동심장충격기) 원본 데이터에 M3 정제 · DQ 코드를 실제로 실행한 결과</a:t>
            </a:r>
            <a:endParaRPr lang="en-US" sz="1500" dirty="0"/>
          </a:p>
        </p:txBody>
      </p:sp>
      <p:graphicFrame>
        <p:nvGraphicFramePr>
          <p:cNvPr id="6" name="Text 4"/>
          <p:cNvGraphicFramePr>
            <a:graphicFrameLocks noGrp="1"/>
          </p:cNvGraphicFramePr>
          <p:nvPr>
            <p:extLst>
              <p:ext uri="{D42A27DB-BD31-4B8C-83A1-F6EECF244321}">
                <p14:modId xmlns:p14="http://schemas.microsoft.com/office/powerpoint/2010/main" val="1579011935"/>
              </p:ext>
            </p:extLst>
          </p:nvPr>
        </p:nvGraphicFramePr>
        <p:xfrm>
          <a:off x="548640" y="3474720"/>
          <a:ext cx="5440680" cy="914400"/>
        </p:xfrm>
        <a:graphic>
          <a:graphicData uri="http://schemas.openxmlformats.org/drawingml/2006/table">
            <a:tbl>
              <a:tblPr/>
              <a:tblGrid>
                <a:gridCol w="1554480"/>
                <a:gridCol w="3063240"/>
                <a:gridCol w="822960"/>
              </a:tblGrid>
              <a:tr h="402336">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검사</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관측값</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결과</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행 추적</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누락 0 · 중복 0 · 미확인 0</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A46"/>
                          </a:solidFill>
                          <a:latin typeface="Malgun Gothic" pitchFamily="34" charset="0"/>
                          <a:ea typeface="Malgun Gothic" pitchFamily="34" charset="-122"/>
                          <a:cs typeface="Malgun Gothic" pitchFamily="34" charset="-120"/>
                        </a:rPr>
                        <a:t>PASS</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행 수 대조</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RAW 63,863 = PROCESSED 63,863</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A46"/>
                          </a:solidFill>
                          <a:latin typeface="Malgun Gothic" pitchFamily="34" charset="0"/>
                          <a:ea typeface="Malgun Gothic" pitchFamily="34" charset="-122"/>
                          <a:cs typeface="Malgun Gothic" pitchFamily="34" charset="-120"/>
                        </a:rPr>
                        <a:t>PASS</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중복 (serialSeq)</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중복 행 0</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E5B52"/>
                          </a:solidFill>
                          <a:latin typeface="Malgun Gothic" pitchFamily="34" charset="0"/>
                          <a:ea typeface="Malgun Gothic" pitchFamily="34" charset="-122"/>
                          <a:cs typeface="Malgun Gothic" pitchFamily="34" charset="-120"/>
                        </a:rPr>
                        <a:t>확인</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NULL 변화</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정규화 120,661셀 · 변환 손실 0</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E5B52"/>
                          </a:solidFill>
                          <a:latin typeface="Malgun Gothic" pitchFamily="34" charset="0"/>
                          <a:ea typeface="Malgun Gothic" pitchFamily="34" charset="-122"/>
                          <a:cs typeface="Malgun Gothic" pitchFamily="34" charset="-120"/>
                        </a:rPr>
                        <a:t>확인</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needs_review</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0행</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E5B52"/>
                          </a:solidFill>
                          <a:latin typeface="Malgun Gothic" pitchFamily="34" charset="0"/>
                          <a:ea typeface="Malgun Gothic" pitchFamily="34" charset="-122"/>
                          <a:cs typeface="Malgun Gothic" pitchFamily="34" charset="-120"/>
                        </a:rPr>
                        <a:t>확인</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7" name="Shape 5"/>
          <p:cNvSpPr/>
          <p:nvPr/>
        </p:nvSpPr>
        <p:spPr>
          <a:xfrm>
            <a:off x="548640" y="2030095"/>
            <a:ext cx="2651760" cy="932815"/>
          </a:xfrm>
          <a:prstGeom prst="roundRect">
            <a:avLst>
              <a:gd name="adj" fmla="val 13725"/>
            </a:avLst>
          </a:prstGeom>
          <a:solidFill>
            <a:srgbClr val="2E5A46"/>
          </a:solidFill>
          <a:ln w="12700">
            <a:solidFill>
              <a:srgbClr val="2E5A46"/>
            </a:solidFill>
            <a:prstDash val="solid"/>
          </a:ln>
          <a:effectLst>
            <a:outerShdw sx="100000" sy="100000" kx="0" ky="0" algn="bl" rotWithShape="0" blurRad="101600" dist="25400" dir="5400000">
              <a:srgbClr val="8A7A5C">
                <a:alpha val="18000"/>
              </a:srgbClr>
            </a:outerShdw>
          </a:effectLst>
        </p:spPr>
      </p:sp>
      <p:sp>
        <p:nvSpPr>
          <p:cNvPr id="8" name="Text 6"/>
          <p:cNvSpPr txBox="1"/>
          <p:nvPr/>
        </p:nvSpPr>
        <p:spPr>
          <a:xfrm>
            <a:off x="548640" y="2075815"/>
            <a:ext cx="2651760" cy="530225"/>
          </a:xfrm>
          <a:prstGeom prst="rect">
            <a:avLst/>
          </a:prstGeom>
          <a:noFill/>
          <a:ln/>
        </p:spPr>
        <p:txBody>
          <a:bodyPr wrap="square" lIns="0" tIns="0" rIns="0" bIns="0" rtlCol="0" anchor="ctr"/>
          <a:lstStyle/>
          <a:p>
            <a:pPr algn="ctr" indent="0" marL="0">
              <a:buNone/>
            </a:pPr>
            <a:r>
              <a:rPr lang="en-US" sz="2800" b="1" dirty="0">
                <a:solidFill>
                  <a:srgbClr val="FFFFFF"/>
                </a:solidFill>
                <a:latin typeface="Malgun Gothic" pitchFamily="34" charset="0"/>
                <a:ea typeface="Malgun Gothic" pitchFamily="34" charset="-122"/>
                <a:cs typeface="Malgun Gothic" pitchFamily="34" charset="-120"/>
              </a:rPr>
              <a:t>63,863</a:t>
            </a:r>
            <a:endParaRPr lang="en-US" sz="2800" dirty="0"/>
          </a:p>
        </p:txBody>
      </p:sp>
      <p:sp>
        <p:nvSpPr>
          <p:cNvPr id="9" name="Text 7"/>
          <p:cNvSpPr txBox="1"/>
          <p:nvPr/>
        </p:nvSpPr>
        <p:spPr>
          <a:xfrm>
            <a:off x="548640" y="2587625"/>
            <a:ext cx="2651760" cy="292735"/>
          </a:xfrm>
          <a:prstGeom prst="rect">
            <a:avLst/>
          </a:prstGeom>
          <a:noFill/>
          <a:ln/>
        </p:spPr>
        <p:txBody>
          <a:bodyPr wrap="square" lIns="0" tIns="0" rIns="0" bIns="0" rtlCol="0" anchor="t"/>
          <a:lstStyle/>
          <a:p>
            <a:pPr algn="ctr" indent="0" marL="0">
              <a:buNone/>
            </a:pPr>
            <a:r>
              <a:rPr lang="en-US" sz="1250" b="1" dirty="0">
                <a:solidFill>
                  <a:srgbClr val="E9E2D2"/>
                </a:solidFill>
                <a:latin typeface="Malgun Gothic" pitchFamily="34" charset="0"/>
                <a:ea typeface="Malgun Gothic" pitchFamily="34" charset="-122"/>
                <a:cs typeface="Malgun Gothic" pitchFamily="34" charset="-120"/>
              </a:rPr>
              <a:t>RAW 행</a:t>
            </a:r>
            <a:endParaRPr lang="en-US" sz="1250" dirty="0"/>
          </a:p>
        </p:txBody>
      </p:sp>
      <p:sp>
        <p:nvSpPr>
          <p:cNvPr id="10" name="Shape 8"/>
          <p:cNvSpPr/>
          <p:nvPr/>
        </p:nvSpPr>
        <p:spPr>
          <a:xfrm>
            <a:off x="3364865" y="2030095"/>
            <a:ext cx="2651760" cy="932815"/>
          </a:xfrm>
          <a:prstGeom prst="roundRect">
            <a:avLst>
              <a:gd name="adj" fmla="val 13725"/>
            </a:avLst>
          </a:prstGeom>
          <a:solidFill>
            <a:srgbClr val="2E5A46"/>
          </a:solidFill>
          <a:ln w="12700">
            <a:solidFill>
              <a:srgbClr val="2E5A46"/>
            </a:solidFill>
            <a:prstDash val="solid"/>
          </a:ln>
          <a:effectLst>
            <a:outerShdw sx="100000" sy="100000" kx="0" ky="0" algn="bl" rotWithShape="0" blurRad="101600" dist="25400" dir="5400000">
              <a:srgbClr val="8A7A5C">
                <a:alpha val="18000"/>
              </a:srgbClr>
            </a:outerShdw>
          </a:effectLst>
        </p:spPr>
      </p:sp>
      <p:sp>
        <p:nvSpPr>
          <p:cNvPr id="11" name="Text 9"/>
          <p:cNvSpPr txBox="1"/>
          <p:nvPr/>
        </p:nvSpPr>
        <p:spPr>
          <a:xfrm>
            <a:off x="3364865" y="2075815"/>
            <a:ext cx="2651760" cy="530225"/>
          </a:xfrm>
          <a:prstGeom prst="rect">
            <a:avLst/>
          </a:prstGeom>
          <a:noFill/>
          <a:ln/>
        </p:spPr>
        <p:txBody>
          <a:bodyPr wrap="square" lIns="0" tIns="0" rIns="0" bIns="0" rtlCol="0" anchor="ctr"/>
          <a:lstStyle/>
          <a:p>
            <a:pPr algn="ctr" indent="0" marL="0">
              <a:buNone/>
            </a:pPr>
            <a:r>
              <a:rPr lang="en-US" sz="2800" b="1" dirty="0">
                <a:solidFill>
                  <a:srgbClr val="FFFFFF"/>
                </a:solidFill>
                <a:latin typeface="Malgun Gothic" pitchFamily="34" charset="0"/>
                <a:ea typeface="Malgun Gothic" pitchFamily="34" charset="-122"/>
                <a:cs typeface="Malgun Gothic" pitchFamily="34" charset="-120"/>
              </a:rPr>
              <a:t>63,863</a:t>
            </a:r>
            <a:endParaRPr lang="en-US" sz="2800" dirty="0"/>
          </a:p>
        </p:txBody>
      </p:sp>
      <p:graphicFrame>
        <p:nvGraphicFramePr>
          <p:cNvPr id="11" name="Text 9"/>
          <p:cNvGraphicFramePr>
            <a:graphicFrameLocks noGrp="1"/>
          </p:cNvGraphicFramePr>
          <p:nvPr>
            <p:extLst>
              <p:ext uri="{D42A27DB-BD31-4B8C-83A1-F6EECF244321}">
                <p14:modId xmlns:p14="http://schemas.microsoft.com/office/powerpoint/2010/main" val="1579011935"/>
              </p:ext>
            </p:extLst>
          </p:nvPr>
        </p:nvGraphicFramePr>
        <p:xfrm>
          <a:off x="6199632" y="3474720"/>
          <a:ext cx="5440680" cy="914400"/>
        </p:xfrm>
        <a:graphic>
          <a:graphicData uri="http://schemas.openxmlformats.org/drawingml/2006/table">
            <a:tbl>
              <a:tblPr/>
              <a:tblGrid>
                <a:gridCol w="1828800"/>
                <a:gridCol w="1691640"/>
                <a:gridCol w="1920240"/>
              </a:tblGrid>
              <a:tr h="402336">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컬럼</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RAW</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PROCESSED</a:t>
                      </a:r>
                      <a:endParaRPr lang="en-US" sz="125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wgs84Lat 위도</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문자열</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Float64 · 33.12~38.54</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wgs84Lon 경도</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문자열</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Float64 · 124.66~130.91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holSttTme 공휴일</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빈 문자열 20,053</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NULL 20,053</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satSttTme 토요일</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빈 문자열 16,531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NULL 16,531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E2621"/>
                          </a:solidFill>
                          <a:latin typeface="Malgun Gothic" pitchFamily="34" charset="0"/>
                          <a:ea typeface="Malgun Gothic" pitchFamily="34" charset="-122"/>
                          <a:cs typeface="Malgun Gothic" pitchFamily="34" charset="-120"/>
                        </a:rPr>
                        <a:t>sido 시도</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5E5B52"/>
                          </a:solidFill>
                          <a:latin typeface="Malgun Gothic" pitchFamily="34" charset="0"/>
                          <a:ea typeface="Malgun Gothic" pitchFamily="34" charset="-122"/>
                          <a:cs typeface="Malgun Gothic" pitchFamily="34" charset="-120"/>
                        </a:rPr>
                        <a:t>18종 (빈 값 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indent="0" marL="0">
                        <a:buNone/>
                      </a:pPr>
                      <a:r>
                        <a:rPr lang="en-US" sz="1200" b="1" dirty="0">
                          <a:solidFill>
                            <a:srgbClr val="2E5A46"/>
                          </a:solidFill>
                          <a:latin typeface="Malgun Gothic" pitchFamily="34" charset="0"/>
                          <a:ea typeface="Malgun Gothic" pitchFamily="34" charset="-122"/>
                          <a:cs typeface="Malgun Gothic" pitchFamily="34" charset="-120"/>
                        </a:rPr>
                        <a:t>17종 + NULL 1</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12" name="Text 10"/>
          <p:cNvSpPr txBox="1"/>
          <p:nvPr/>
        </p:nvSpPr>
        <p:spPr>
          <a:xfrm>
            <a:off x="3364865" y="2587625"/>
            <a:ext cx="2651760" cy="292735"/>
          </a:xfrm>
          <a:prstGeom prst="rect">
            <a:avLst/>
          </a:prstGeom>
          <a:noFill/>
          <a:ln/>
        </p:spPr>
        <p:txBody>
          <a:bodyPr wrap="square" lIns="0" tIns="0" rIns="0" bIns="0" rtlCol="0" anchor="t"/>
          <a:lstStyle/>
          <a:p>
            <a:pPr algn="ctr" indent="0" marL="0">
              <a:buNone/>
            </a:pPr>
            <a:r>
              <a:rPr lang="en-US" sz="1250" b="1" dirty="0">
                <a:solidFill>
                  <a:srgbClr val="E9E2D2"/>
                </a:solidFill>
                <a:latin typeface="Malgun Gothic" pitchFamily="34" charset="0"/>
                <a:ea typeface="Malgun Gothic" pitchFamily="34" charset="-122"/>
                <a:cs typeface="Malgun Gothic" pitchFamily="34" charset="-120"/>
              </a:rPr>
              <a:t>PROCESSED 행</a:t>
            </a:r>
            <a:endParaRPr lang="en-US" sz="1250" dirty="0"/>
          </a:p>
        </p:txBody>
      </p:sp>
      <p:sp>
        <p:nvSpPr>
          <p:cNvPr id="13" name="Shape 11"/>
          <p:cNvSpPr/>
          <p:nvPr/>
        </p:nvSpPr>
        <p:spPr>
          <a:xfrm>
            <a:off x="6181090" y="2030095"/>
            <a:ext cx="2651760" cy="932815"/>
          </a:xfrm>
          <a:prstGeom prst="roundRect">
            <a:avLst>
              <a:gd name="adj" fmla="val 13725"/>
            </a:avLst>
          </a:prstGeom>
          <a:solidFill>
            <a:srgbClr val="2E5A46"/>
          </a:solidFill>
          <a:ln w="12700">
            <a:solidFill>
              <a:srgbClr val="2E5A46"/>
            </a:solidFill>
            <a:prstDash val="solid"/>
          </a:ln>
          <a:effectLst>
            <a:outerShdw sx="100000" sy="100000" kx="0" ky="0" algn="bl" rotWithShape="0" blurRad="101600" dist="25400" dir="5400000">
              <a:srgbClr val="8A7A5C">
                <a:alpha val="18000"/>
              </a:srgbClr>
            </a:outerShdw>
          </a:effectLst>
        </p:spPr>
      </p:sp>
      <p:sp>
        <p:nvSpPr>
          <p:cNvPr id="14" name="Text 12"/>
          <p:cNvSpPr txBox="1"/>
          <p:nvPr/>
        </p:nvSpPr>
        <p:spPr>
          <a:xfrm>
            <a:off x="6181090" y="2075815"/>
            <a:ext cx="2651760" cy="530225"/>
          </a:xfrm>
          <a:prstGeom prst="rect">
            <a:avLst/>
          </a:prstGeom>
          <a:noFill/>
          <a:ln/>
        </p:spPr>
        <p:txBody>
          <a:bodyPr wrap="square" lIns="0" tIns="0" rIns="0" bIns="0" rtlCol="0" anchor="ctr"/>
          <a:lstStyle/>
          <a:p>
            <a:pPr algn="ctr" indent="0" marL="0">
              <a:buNone/>
            </a:pPr>
            <a:r>
              <a:rPr lang="en-US" sz="2800" b="1" dirty="0">
                <a:solidFill>
                  <a:srgbClr val="FFFFFF"/>
                </a:solidFill>
                <a:latin typeface="Malgun Gothic" pitchFamily="34" charset="0"/>
                <a:ea typeface="Malgun Gothic" pitchFamily="34" charset="-122"/>
                <a:cs typeface="Malgun Gothic" pitchFamily="34" charset="-120"/>
              </a:rPr>
              <a:t>0</a:t>
            </a:r>
            <a:endParaRPr lang="en-US" sz="2800" dirty="0"/>
          </a:p>
        </p:txBody>
      </p:sp>
      <p:sp>
        <p:nvSpPr>
          <p:cNvPr id="15" name="Text 13"/>
          <p:cNvSpPr txBox="1"/>
          <p:nvPr/>
        </p:nvSpPr>
        <p:spPr>
          <a:xfrm>
            <a:off x="6181090" y="2587625"/>
            <a:ext cx="2651760" cy="292735"/>
          </a:xfrm>
          <a:prstGeom prst="rect">
            <a:avLst/>
          </a:prstGeom>
          <a:noFill/>
          <a:ln/>
        </p:spPr>
        <p:txBody>
          <a:bodyPr wrap="square" lIns="0" tIns="0" rIns="0" bIns="0" rtlCol="0" anchor="t"/>
          <a:lstStyle/>
          <a:p>
            <a:pPr algn="ctr" indent="0" marL="0">
              <a:buNone/>
            </a:pPr>
            <a:r>
              <a:rPr lang="en-US" sz="1250" b="1" dirty="0">
                <a:solidFill>
                  <a:srgbClr val="E9E2D2"/>
                </a:solidFill>
                <a:latin typeface="Malgun Gothic" pitchFamily="34" charset="0"/>
                <a:ea typeface="Malgun Gothic" pitchFamily="34" charset="-122"/>
                <a:cs typeface="Malgun Gothic" pitchFamily="34" charset="-120"/>
              </a:rPr>
              <a:t>설명되지 않은 손실</a:t>
            </a:r>
            <a:endParaRPr lang="en-US" sz="1250" dirty="0"/>
          </a:p>
        </p:txBody>
      </p:sp>
      <p:sp>
        <p:nvSpPr>
          <p:cNvPr id="16" name="Shape 14"/>
          <p:cNvSpPr/>
          <p:nvPr/>
        </p:nvSpPr>
        <p:spPr>
          <a:xfrm>
            <a:off x="8997950" y="2030095"/>
            <a:ext cx="2651760" cy="932815"/>
          </a:xfrm>
          <a:prstGeom prst="roundRect">
            <a:avLst>
              <a:gd name="adj" fmla="val 13725"/>
            </a:avLst>
          </a:prstGeom>
          <a:solidFill>
            <a:srgbClr val="B5654A"/>
          </a:solidFill>
          <a:ln w="12700">
            <a:solidFill>
              <a:srgbClr val="B5654A"/>
            </a:solidFill>
            <a:prstDash val="solid"/>
          </a:ln>
          <a:effectLst>
            <a:outerShdw sx="100000" sy="100000" kx="0" ky="0" algn="bl" rotWithShape="0" blurRad="101600" dist="25400" dir="5400000">
              <a:srgbClr val="8A7A5C">
                <a:alpha val="18000"/>
              </a:srgbClr>
            </a:outerShdw>
          </a:effectLst>
        </p:spPr>
      </p:sp>
      <p:sp>
        <p:nvSpPr>
          <p:cNvPr id="17" name="Text 15"/>
          <p:cNvSpPr txBox="1"/>
          <p:nvPr/>
        </p:nvSpPr>
        <p:spPr>
          <a:xfrm>
            <a:off x="8997950" y="2075815"/>
            <a:ext cx="2651760" cy="530225"/>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CHECK_PASSED</a:t>
            </a:r>
            <a:endParaRPr lang="en-US" sz="2200" dirty="0"/>
          </a:p>
        </p:txBody>
      </p:sp>
      <p:sp>
        <p:nvSpPr>
          <p:cNvPr id="18" name="Text 16"/>
          <p:cNvSpPr txBox="1"/>
          <p:nvPr/>
        </p:nvSpPr>
        <p:spPr>
          <a:xfrm>
            <a:off x="8997950" y="2587625"/>
            <a:ext cx="2651760" cy="292735"/>
          </a:xfrm>
          <a:prstGeom prst="rect">
            <a:avLst/>
          </a:prstGeom>
          <a:noFill/>
          <a:ln/>
        </p:spPr>
        <p:txBody>
          <a:bodyPr wrap="square" lIns="0" tIns="0" rIns="0" bIns="0" rtlCol="0" anchor="t"/>
          <a:lstStyle/>
          <a:p>
            <a:pPr algn="ctr" indent="0" marL="0">
              <a:buNone/>
            </a:pPr>
            <a:r>
              <a:rPr lang="en-US" sz="1250" b="1" dirty="0">
                <a:solidFill>
                  <a:srgbClr val="E9E2D2"/>
                </a:solidFill>
                <a:latin typeface="Malgun Gothic" pitchFamily="34" charset="0"/>
                <a:ea typeface="Malgun Gothic" pitchFamily="34" charset="-122"/>
                <a:cs typeface="Malgun Gothic" pitchFamily="34" charset="-120"/>
              </a:rPr>
              <a:t>DQ 감사 결과</a:t>
            </a:r>
            <a:endParaRPr lang="en-US" sz="1250" dirty="0"/>
          </a:p>
        </p:txBody>
      </p:sp>
      <p:sp>
        <p:nvSpPr>
          <p:cNvPr id="19" name="Text 17"/>
          <p:cNvSpPr txBox="1"/>
          <p:nvPr/>
        </p:nvSpPr>
        <p:spPr>
          <a:xfrm>
            <a:off x="548640" y="3127375"/>
            <a:ext cx="5486400" cy="311150"/>
          </a:xfrm>
          <a:prstGeom prst="rect">
            <a:avLst/>
          </a:prstGeom>
          <a:noFill/>
          <a:ln/>
        </p:spPr>
        <p:txBody>
          <a:bodyPr wrap="square" lIns="0" tIns="0" rIns="0" bIns="0" rtlCol="0" anchor="t"/>
          <a:lstStyle/>
          <a:p>
            <a:pPr indent="0" marL="0">
              <a:buNone/>
            </a:pPr>
            <a:r>
              <a:rPr lang="en-US" sz="1500" b="1" dirty="0">
                <a:solidFill>
                  <a:srgbClr val="B5654A"/>
                </a:solidFill>
                <a:latin typeface="Malgun Gothic" pitchFamily="34" charset="0"/>
                <a:ea typeface="Malgun Gothic" pitchFamily="34" charset="-122"/>
                <a:cs typeface="Malgun Gothic" pitchFamily="34" charset="-120"/>
              </a:rPr>
              <a:t>DQ 검증 요약</a:t>
            </a:r>
            <a:endParaRPr lang="en-US" sz="1500" dirty="0"/>
          </a:p>
        </p:txBody>
      </p:sp>
      <p:sp>
        <p:nvSpPr>
          <p:cNvPr id="21" name="Text 18"/>
          <p:cNvSpPr txBox="1"/>
          <p:nvPr/>
        </p:nvSpPr>
        <p:spPr>
          <a:xfrm>
            <a:off x="6199505" y="3127375"/>
            <a:ext cx="5486400" cy="311150"/>
          </a:xfrm>
          <a:prstGeom prst="rect">
            <a:avLst/>
          </a:prstGeom>
          <a:noFill/>
          <a:ln/>
        </p:spPr>
        <p:txBody>
          <a:bodyPr wrap="square" lIns="0" tIns="0" rIns="0" bIns="0" rtlCol="0" anchor="t"/>
          <a:lstStyle/>
          <a:p>
            <a:pPr indent="0" marL="0">
              <a:buNone/>
            </a:pPr>
            <a:r>
              <a:rPr lang="en-US" sz="1500" b="1" dirty="0">
                <a:solidFill>
                  <a:srgbClr val="B5654A"/>
                </a:solidFill>
                <a:latin typeface="Malgun Gothic" pitchFamily="34" charset="0"/>
                <a:ea typeface="Malgun Gothic" pitchFamily="34" charset="-122"/>
                <a:cs typeface="Malgun Gothic" pitchFamily="34" charset="-120"/>
              </a:rPr>
              <a:t>컬럼 변화 RAW → PROCESSED</a:t>
            </a:r>
            <a:endParaRPr lang="en-US" sz="1500" dirty="0"/>
          </a:p>
        </p:txBody>
      </p:sp>
      <p:sp>
        <p:nvSpPr>
          <p:cNvPr id="23" name="Text 19"/>
          <p:cNvSpPr txBox="1"/>
          <p:nvPr/>
        </p:nvSpPr>
        <p:spPr>
          <a:xfrm>
            <a:off x="548640" y="6053455"/>
            <a:ext cx="11064240" cy="274320"/>
          </a:xfrm>
          <a:prstGeom prst="rect">
            <a:avLst/>
          </a:prstGeom>
          <a:noFill/>
          <a:ln/>
        </p:spPr>
        <p:txBody>
          <a:bodyPr wrap="square" lIns="0" tIns="0" rIns="0" bIns="0" rtlCol="0" anchor="t"/>
          <a:lstStyle/>
          <a:p>
            <a:pPr indent="0" marL="0">
              <a:buNone/>
            </a:pPr>
            <a:r>
              <a:rPr lang="en-US" sz="1100" b="1" dirty="0">
                <a:solidFill>
                  <a:srgbClr val="5E5B52"/>
                </a:solidFill>
                <a:latin typeface="Malgun Gothic" pitchFamily="34" charset="0"/>
                <a:ea typeface="Malgun Gothic" pitchFamily="34" charset="-122"/>
                <a:cs typeface="Malgun Gothic" pitchFamily="34" charset="-120"/>
              </a:rPr>
              <a:t>기준: team-share/data/aed_raw.csv · M3_data_pipeline dataset_processors + dq_profiler 실행 (2026-09-29, 정제 약 4초)</a:t>
            </a:r>
            <a:endParaRPr lang="en-US" sz="1100" dirty="0"/>
          </a:p>
        </p:txBody>
      </p:sp>
      <p:sp>
        <p:nvSpPr>
          <p:cNvPr id="24" name="Text 20"/>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25" name="Text 21"/>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23</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4">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048"/>
            <a:ext cx="384048" cy="384048"/>
          </a:xfrm>
          <a:prstGeom prst="ellipse">
            <a:avLst/>
          </a:prstGeom>
          <a:solidFill>
            <a:srgbClr val="2E5A46"/>
          </a:solidFill>
          <a:ln w="12700">
            <a:solidFill>
              <a:srgbClr val="2E5A46"/>
            </a:solidFill>
            <a:prstDash val="solid"/>
          </a:ln>
        </p:spPr>
      </p:sp>
      <p:sp>
        <p:nvSpPr>
          <p:cNvPr id="3" name="Text 1"/>
          <p:cNvSpPr txBox="1"/>
          <p:nvPr/>
        </p:nvSpPr>
        <p:spPr>
          <a:xfrm>
            <a:off x="54864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08</a:t>
            </a:r>
            <a:endParaRPr lang="en-US" sz="1300" dirty="0"/>
          </a:p>
        </p:txBody>
      </p:sp>
      <p:sp>
        <p:nvSpPr>
          <p:cNvPr id="4" name="Text 2"/>
          <p:cNvSpPr txBox="1"/>
          <p:nvPr/>
        </p:nvSpPr>
        <p:spPr>
          <a:xfrm>
            <a:off x="1042416" y="384048"/>
            <a:ext cx="5486400" cy="384048"/>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RESULT · 정상 · 실패 로그</a:t>
            </a:r>
            <a:endParaRPr lang="en-US" sz="1400" dirty="0"/>
          </a:p>
        </p:txBody>
      </p:sp>
      <p:sp>
        <p:nvSpPr>
          <p:cNvPr id="5" name="Text 3"/>
          <p:cNvSpPr txBox="1"/>
          <p:nvPr/>
        </p:nvSpPr>
        <p:spPr>
          <a:xfrm>
            <a:off x="548640" y="896112"/>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성공도 실패도, 로그로 확인합니다</a:t>
            </a:r>
            <a:endParaRPr lang="en-US" sz="3400" dirty="0"/>
          </a:p>
        </p:txBody>
      </p:sp>
      <p:sp>
        <p:nvSpPr>
          <p:cNvPr id="6" name="Text 4"/>
          <p:cNvSpPr txBox="1"/>
          <p:nvPr/>
        </p:nvSpPr>
        <p:spPr>
          <a:xfrm>
            <a:off x="548640" y="1645920"/>
            <a:ext cx="2743200" cy="329184"/>
          </a:xfrm>
          <a:prstGeom prst="rect">
            <a:avLst/>
          </a:prstGeom>
          <a:noFill/>
          <a:ln/>
        </p:spPr>
        <p:txBody>
          <a:bodyPr wrap="square" lIns="0" tIns="0" rIns="0" bIns="0" rtlCol="0" anchor="t"/>
          <a:lstStyle/>
          <a:p>
            <a:pPr indent="0" marL="0">
              <a:buNone/>
            </a:pPr>
            <a:r>
              <a:rPr lang="en-US" sz="1600" b="1" dirty="0">
                <a:solidFill>
                  <a:srgbClr val="2E5A46"/>
                </a:solidFill>
                <a:latin typeface="Malgun Gothic" pitchFamily="34" charset="0"/>
                <a:ea typeface="Malgun Gothic" pitchFamily="34" charset="-122"/>
                <a:cs typeface="Malgun Gothic" pitchFamily="34" charset="-120"/>
              </a:rPr>
              <a:t>정상</a:t>
            </a:r>
            <a:endParaRPr lang="en-US" sz="1600" dirty="0"/>
          </a:p>
        </p:txBody>
      </p:sp>
      <p:sp>
        <p:nvSpPr>
          <p:cNvPr id="7" name="Shape 5"/>
          <p:cNvSpPr/>
          <p:nvPr/>
        </p:nvSpPr>
        <p:spPr>
          <a:xfrm>
            <a:off x="548640" y="2011680"/>
            <a:ext cx="5486400" cy="2148840"/>
          </a:xfrm>
          <a:prstGeom prst="roundRect">
            <a:avLst>
              <a:gd name="adj" fmla="val 5957"/>
            </a:avLst>
          </a:prstGeom>
          <a:solidFill>
            <a:srgbClr val="1B2621"/>
          </a:solidFill>
          <a:ln w="12700">
            <a:solidFill>
              <a:srgbClr val="1B2621"/>
            </a:solidFill>
            <a:prstDash val="solid"/>
          </a:ln>
          <a:effectLst>
            <a:outerShdw sx="100000" sy="100000" kx="0" ky="0" algn="bl" rotWithShape="0" blurRad="101600" dist="25400" dir="5400000">
              <a:srgbClr val="8A7A5C">
                <a:alpha val="18000"/>
              </a:srgbClr>
            </a:outerShdw>
          </a:effectLst>
        </p:spPr>
      </p:sp>
      <p:sp>
        <p:nvSpPr>
          <p:cNvPr id="8" name="Shape 6"/>
          <p:cNvSpPr/>
          <p:nvPr/>
        </p:nvSpPr>
        <p:spPr>
          <a:xfrm>
            <a:off x="731520" y="2176272"/>
            <a:ext cx="1554480" cy="329184"/>
          </a:xfrm>
          <a:prstGeom prst="roundRect">
            <a:avLst>
              <a:gd name="adj" fmla="val 50000"/>
            </a:avLst>
          </a:prstGeom>
          <a:solidFill>
            <a:srgbClr val="2E5A46"/>
          </a:solidFill>
          <a:ln w="12700">
            <a:solidFill>
              <a:srgbClr val="2E5A46"/>
            </a:solidFill>
            <a:prstDash val="solid"/>
          </a:ln>
        </p:spPr>
      </p:sp>
      <p:sp>
        <p:nvSpPr>
          <p:cNvPr id="9" name="Text 7"/>
          <p:cNvSpPr txBox="1"/>
          <p:nvPr/>
        </p:nvSpPr>
        <p:spPr>
          <a:xfrm>
            <a:off x="731520" y="2176272"/>
            <a:ext cx="15544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DQ AUDIT</a:t>
            </a:r>
            <a:endParaRPr lang="en-US" sz="1200" dirty="0"/>
          </a:p>
        </p:txBody>
      </p:sp>
      <p:sp>
        <p:nvSpPr>
          <p:cNvPr id="10" name="Text 8"/>
          <p:cNvSpPr txBox="1"/>
          <p:nvPr/>
        </p:nvSpPr>
        <p:spPr>
          <a:xfrm>
            <a:off x="777240" y="2615184"/>
            <a:ext cx="5074920" cy="1435608"/>
          </a:xfrm>
          <a:prstGeom prst="rect">
            <a:avLst/>
          </a:prstGeom>
          <a:noFill/>
          <a:ln/>
        </p:spPr>
        <p:txBody>
          <a:bodyPr wrap="square" lIns="0" tIns="0" rIns="0" bIns="0" rtlCol="0" anchor="t"/>
          <a:lstStyle/>
          <a:p>
            <a:pPr indent="0" marL="0">
              <a:lnSpc>
                <a:spcPct val="112000"/>
              </a:lnSpc>
              <a:buNone/>
            </a:pPr>
            <a:r>
              <a:rPr lang="en-US" sz="1150" b="1" dirty="0">
                <a:solidFill>
                  <a:srgbClr val="E9E2D2"/>
                </a:solidFill>
                <a:latin typeface="Malgun Gothic" pitchFamily="34" charset="0"/>
                <a:ea typeface="Malgun Gothic" pitchFamily="34" charset="-122"/>
                <a:cs typeface="Malgun Gothic" pitchFamily="34" charset="-120"/>
              </a:rPr>
              <a:t>[DATA QUALITY AUDIT] aed</a:t>
            </a:r>
            <a:endParaRPr lang="en-US" sz="1150" dirty="0"/>
          </a:p>
          <a:p>
            <a:pPr indent="0" marL="0">
              <a:lnSpc>
                <a:spcPct val="112000"/>
              </a:lnSpc>
              <a:buNone/>
            </a:pPr>
            <a:r>
              <a:rPr lang="en-US" sz="1150" b="1" dirty="0">
                <a:solidFill>
                  <a:srgbClr val="9FD4B3"/>
                </a:solidFill>
                <a:latin typeface="Malgun Gothic" pitchFamily="34" charset="0"/>
                <a:ea typeface="Malgun Gothic" pitchFamily="34" charset="-122"/>
                <a:cs typeface="Malgun Gothic" pitchFamily="34" charset="-120"/>
              </a:rPr>
              <a:t>row_tracking        missing=0 duplicate=0   PASS</a:t>
            </a:r>
            <a:endParaRPr lang="en-US" sz="1150" dirty="0"/>
          </a:p>
          <a:p>
            <a:pPr indent="0" marL="0">
              <a:lnSpc>
                <a:spcPct val="112000"/>
              </a:lnSpc>
              <a:buNone/>
            </a:pPr>
            <a:r>
              <a:rPr lang="en-US" sz="1150" b="1" dirty="0">
                <a:solidFill>
                  <a:srgbClr val="9FD4B3"/>
                </a:solidFill>
                <a:latin typeface="Malgun Gothic" pitchFamily="34" charset="0"/>
                <a:ea typeface="Malgun Gothic" pitchFamily="34" charset="-122"/>
                <a:cs typeface="Malgun Gothic" pitchFamily="34" charset="-120"/>
              </a:rPr>
              <a:t>row_reconciliation  63,863 → 63,863        PASS</a:t>
            </a:r>
            <a:endParaRPr lang="en-US" sz="1150" dirty="0"/>
          </a:p>
          <a:p>
            <a:pPr indent="0" marL="0">
              <a:lnSpc>
                <a:spcPct val="112000"/>
              </a:lnSpc>
              <a:buNone/>
            </a:pPr>
            <a:r>
              <a:rPr lang="en-US" sz="1150" b="1" dirty="0">
                <a:solidFill>
                  <a:srgbClr val="E9E2D2"/>
                </a:solidFill>
                <a:latin typeface="Malgun Gothic" pitchFamily="34" charset="0"/>
                <a:ea typeface="Malgun Gothic" pitchFamily="34" charset="-122"/>
                <a:cs typeface="Malgun Gothic" pitchFamily="34" charset="-120"/>
              </a:rPr>
              <a:t>raw=63863 removed=0 unexplained=0</a:t>
            </a:r>
            <a:endParaRPr lang="en-US" sz="1150" dirty="0"/>
          </a:p>
          <a:p>
            <a:pPr indent="0" marL="0">
              <a:lnSpc>
                <a:spcPct val="112000"/>
              </a:lnSpc>
              <a:buNone/>
            </a:pPr>
            <a:r>
              <a:rPr lang="en-US" sz="1150" b="1" dirty="0">
                <a:solidFill>
                  <a:srgbClr val="D9A441"/>
                </a:solidFill>
                <a:latin typeface="Malgun Gothic" pitchFamily="34" charset="0"/>
                <a:ea typeface="Malgun Gothic" pitchFamily="34" charset="-122"/>
                <a:cs typeface="Malgun Gothic" pitchFamily="34" charset="-120"/>
              </a:rPr>
              <a:t>감사 결과: CHECK_PASSED - 통과</a:t>
            </a:r>
            <a:endParaRPr lang="en-US" sz="1150" dirty="0"/>
          </a:p>
        </p:txBody>
      </p:sp>
      <p:sp>
        <p:nvSpPr>
          <p:cNvPr id="11" name="Shape 9"/>
          <p:cNvSpPr/>
          <p:nvPr/>
        </p:nvSpPr>
        <p:spPr>
          <a:xfrm>
            <a:off x="548640" y="4315968"/>
            <a:ext cx="5486400" cy="1188720"/>
          </a:xfrm>
          <a:prstGeom prst="roundRect">
            <a:avLst>
              <a:gd name="adj" fmla="val 10769"/>
            </a:avLst>
          </a:prstGeom>
          <a:solidFill>
            <a:srgbClr val="1B2621"/>
          </a:solidFill>
          <a:ln w="12700">
            <a:solidFill>
              <a:srgbClr val="1B2621"/>
            </a:solidFill>
            <a:prstDash val="solid"/>
          </a:ln>
          <a:effectLst>
            <a:outerShdw sx="100000" sy="100000" kx="0" ky="0" algn="bl" rotWithShape="0" blurRad="101600" dist="25400" dir="5400000">
              <a:srgbClr val="8A7A5C">
                <a:alpha val="18000"/>
              </a:srgbClr>
            </a:outerShdw>
          </a:effectLst>
        </p:spPr>
      </p:sp>
      <p:sp>
        <p:nvSpPr>
          <p:cNvPr id="12" name="Shape 10"/>
          <p:cNvSpPr/>
          <p:nvPr/>
        </p:nvSpPr>
        <p:spPr>
          <a:xfrm>
            <a:off x="731520" y="4480560"/>
            <a:ext cx="1554480" cy="329184"/>
          </a:xfrm>
          <a:prstGeom prst="roundRect">
            <a:avLst>
              <a:gd name="adj" fmla="val 50000"/>
            </a:avLst>
          </a:prstGeom>
          <a:solidFill>
            <a:srgbClr val="2E5A46"/>
          </a:solidFill>
          <a:ln w="12700">
            <a:solidFill>
              <a:srgbClr val="2E5A46"/>
            </a:solidFill>
            <a:prstDash val="solid"/>
          </a:ln>
        </p:spPr>
      </p:sp>
      <p:sp>
        <p:nvSpPr>
          <p:cNvPr id="13" name="Text 11"/>
          <p:cNvSpPr txBox="1"/>
          <p:nvPr/>
        </p:nvSpPr>
        <p:spPr>
          <a:xfrm>
            <a:off x="731520" y="4480560"/>
            <a:ext cx="15544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SELENIUM</a:t>
            </a:r>
            <a:endParaRPr lang="en-US" sz="1200" dirty="0"/>
          </a:p>
        </p:txBody>
      </p:sp>
      <p:sp>
        <p:nvSpPr>
          <p:cNvPr id="14" name="Text 12"/>
          <p:cNvSpPr txBox="1"/>
          <p:nvPr/>
        </p:nvSpPr>
        <p:spPr>
          <a:xfrm>
            <a:off x="777240" y="4919472"/>
            <a:ext cx="5074920" cy="475488"/>
          </a:xfrm>
          <a:prstGeom prst="rect">
            <a:avLst/>
          </a:prstGeom>
          <a:noFill/>
          <a:ln/>
        </p:spPr>
        <p:txBody>
          <a:bodyPr wrap="square" lIns="0" tIns="0" rIns="0" bIns="0" rtlCol="0" anchor="t"/>
          <a:lstStyle/>
          <a:p>
            <a:pPr indent="0" marL="0">
              <a:lnSpc>
                <a:spcPct val="112000"/>
              </a:lnSpc>
              <a:buNone/>
            </a:pPr>
            <a:r>
              <a:rPr lang="en-US" sz="1150" b="1" dirty="0">
                <a:solidFill>
                  <a:srgbClr val="9FD4B3"/>
                </a:solidFill>
                <a:latin typeface="Malgun Gothic" pitchFamily="34" charset="0"/>
                <a:ea typeface="Malgun Gothic" pitchFamily="34" charset="-122"/>
                <a:cs typeface="Malgun Gothic" pitchFamily="34" charset="-120"/>
              </a:rPr>
              <a:t>stage=run status=OK downloaded=6 raw_loaded_tables=6</a:t>
            </a:r>
            <a:endParaRPr lang="en-US" sz="1150" dirty="0"/>
          </a:p>
        </p:txBody>
      </p:sp>
      <p:sp>
        <p:nvSpPr>
          <p:cNvPr id="15" name="Text 13"/>
          <p:cNvSpPr txBox="1"/>
          <p:nvPr/>
        </p:nvSpPr>
        <p:spPr>
          <a:xfrm>
            <a:off x="6263640" y="1645920"/>
            <a:ext cx="2743200" cy="329184"/>
          </a:xfrm>
          <a:prstGeom prst="rect">
            <a:avLst/>
          </a:prstGeom>
          <a:noFill/>
          <a:ln/>
        </p:spPr>
        <p:txBody>
          <a:bodyPr wrap="square" lIns="0" tIns="0" rIns="0" bIns="0" rtlCol="0" anchor="t"/>
          <a:lstStyle/>
          <a:p>
            <a:pPr indent="0" marL="0">
              <a:buNone/>
            </a:pPr>
            <a:r>
              <a:rPr lang="en-US" sz="1600" b="1" dirty="0">
                <a:solidFill>
                  <a:srgbClr val="B5654A"/>
                </a:solidFill>
                <a:latin typeface="Malgun Gothic" pitchFamily="34" charset="0"/>
                <a:ea typeface="Malgun Gothic" pitchFamily="34" charset="-122"/>
                <a:cs typeface="Malgun Gothic" pitchFamily="34" charset="-120"/>
              </a:rPr>
              <a:t>실패</a:t>
            </a:r>
            <a:endParaRPr lang="en-US" sz="1600" dirty="0"/>
          </a:p>
        </p:txBody>
      </p:sp>
      <p:sp>
        <p:nvSpPr>
          <p:cNvPr id="16" name="Shape 14"/>
          <p:cNvSpPr/>
          <p:nvPr/>
        </p:nvSpPr>
        <p:spPr>
          <a:xfrm>
            <a:off x="6263640" y="2011680"/>
            <a:ext cx="5376672" cy="1737360"/>
          </a:xfrm>
          <a:prstGeom prst="roundRect">
            <a:avLst>
              <a:gd name="adj" fmla="val 7368"/>
            </a:avLst>
          </a:prstGeom>
          <a:solidFill>
            <a:srgbClr val="1B2621"/>
          </a:solidFill>
          <a:ln w="12700">
            <a:solidFill>
              <a:srgbClr val="1B2621"/>
            </a:solidFill>
            <a:prstDash val="solid"/>
          </a:ln>
          <a:effectLst>
            <a:outerShdw sx="100000" sy="100000" kx="0" ky="0" algn="bl" rotWithShape="0" blurRad="101600" dist="25400" dir="5400000">
              <a:srgbClr val="8A7A5C">
                <a:alpha val="18000"/>
              </a:srgbClr>
            </a:outerShdw>
          </a:effectLst>
        </p:spPr>
      </p:sp>
      <p:sp>
        <p:nvSpPr>
          <p:cNvPr id="17" name="Shape 15"/>
          <p:cNvSpPr/>
          <p:nvPr/>
        </p:nvSpPr>
        <p:spPr>
          <a:xfrm>
            <a:off x="6446520" y="2176272"/>
            <a:ext cx="1554480" cy="329184"/>
          </a:xfrm>
          <a:prstGeom prst="roundRect">
            <a:avLst>
              <a:gd name="adj" fmla="val 50000"/>
            </a:avLst>
          </a:prstGeom>
          <a:solidFill>
            <a:srgbClr val="B5654A"/>
          </a:solidFill>
          <a:ln w="12700">
            <a:solidFill>
              <a:srgbClr val="B5654A"/>
            </a:solidFill>
            <a:prstDash val="solid"/>
          </a:ln>
        </p:spPr>
      </p:sp>
      <p:sp>
        <p:nvSpPr>
          <p:cNvPr id="18" name="Text 16"/>
          <p:cNvSpPr txBox="1"/>
          <p:nvPr/>
        </p:nvSpPr>
        <p:spPr>
          <a:xfrm>
            <a:off x="6446520" y="2176272"/>
            <a:ext cx="15544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좌표 컬럼 누락</a:t>
            </a:r>
            <a:endParaRPr lang="en-US" sz="1200" dirty="0"/>
          </a:p>
        </p:txBody>
      </p:sp>
      <p:sp>
        <p:nvSpPr>
          <p:cNvPr id="19" name="Text 17"/>
          <p:cNvSpPr txBox="1"/>
          <p:nvPr/>
        </p:nvSpPr>
        <p:spPr>
          <a:xfrm>
            <a:off x="6492240" y="2615184"/>
            <a:ext cx="4965192" cy="1024128"/>
          </a:xfrm>
          <a:prstGeom prst="rect">
            <a:avLst/>
          </a:prstGeom>
          <a:noFill/>
          <a:ln/>
        </p:spPr>
        <p:txBody>
          <a:bodyPr wrap="square" lIns="0" tIns="0" rIns="0" bIns="0" rtlCol="0" anchor="t"/>
          <a:lstStyle/>
          <a:p>
            <a:pPr indent="0" marL="0">
              <a:lnSpc>
                <a:spcPct val="112000"/>
              </a:lnSpc>
              <a:buNone/>
            </a:pPr>
            <a:r>
              <a:rPr lang="en-US" sz="1150" b="1" dirty="0">
                <a:solidFill>
                  <a:srgbClr val="E9E2D2"/>
                </a:solidFill>
                <a:latin typeface="Malgun Gothic" pitchFamily="34" charset="0"/>
                <a:ea typeface="Malgun Gothic" pitchFamily="34" charset="-122"/>
                <a:cs typeface="Malgun Gothic" pitchFamily="34" charset="-120"/>
              </a:rPr>
              <a:t>[PROCESSOR ERROR] aed    RAW : 63,863건</a:t>
            </a:r>
            <a:endParaRPr lang="en-US" sz="1150" dirty="0"/>
          </a:p>
          <a:p>
            <a:pPr indent="0" marL="0">
              <a:lnSpc>
                <a:spcPct val="112000"/>
              </a:lnSpc>
              <a:buNone/>
            </a:pPr>
            <a:r>
              <a:rPr lang="en-US" sz="1150" b="1" dirty="0">
                <a:solidFill>
                  <a:srgbClr val="F2B8A2"/>
                </a:solidFill>
                <a:latin typeface="Malgun Gothic" pitchFamily="34" charset="0"/>
                <a:ea typeface="Malgun Gothic" pitchFamily="34" charset="-122"/>
                <a:cs typeface="Malgun Gothic" pitchFamily="34" charset="-120"/>
              </a:rPr>
              <a:t>오류      : 좌표 컬럼 누락: wgs84Lat</a:t>
            </a:r>
            <a:endParaRPr lang="en-US" sz="1150" dirty="0"/>
          </a:p>
          <a:p>
            <a:pPr indent="0" marL="0">
              <a:lnSpc>
                <a:spcPct val="112000"/>
              </a:lnSpc>
              <a:buNone/>
            </a:pPr>
            <a:r>
              <a:rPr lang="en-US" sz="1150" b="1" dirty="0">
                <a:solidFill>
                  <a:srgbClr val="D9A441"/>
                </a:solidFill>
                <a:latin typeface="Malgun Gothic" pitchFamily="34" charset="0"/>
                <a:ea typeface="Malgun Gothic" pitchFamily="34" charset="-122"/>
                <a:cs typeface="Malgun Gothic" pitchFamily="34" charset="-120"/>
              </a:rPr>
              <a:t>PROCESSED : 적재 안 함</a:t>
            </a:r>
            <a:endParaRPr lang="en-US" sz="1150" dirty="0"/>
          </a:p>
        </p:txBody>
      </p:sp>
      <p:sp>
        <p:nvSpPr>
          <p:cNvPr id="20" name="Shape 18"/>
          <p:cNvSpPr/>
          <p:nvPr/>
        </p:nvSpPr>
        <p:spPr>
          <a:xfrm>
            <a:off x="6263640" y="3886200"/>
            <a:ext cx="5376672" cy="1618488"/>
          </a:xfrm>
          <a:prstGeom prst="roundRect">
            <a:avLst>
              <a:gd name="adj" fmla="val 7910"/>
            </a:avLst>
          </a:prstGeom>
          <a:solidFill>
            <a:srgbClr val="1B2621"/>
          </a:solidFill>
          <a:ln w="12700">
            <a:solidFill>
              <a:srgbClr val="1B2621"/>
            </a:solidFill>
            <a:prstDash val="solid"/>
          </a:ln>
          <a:effectLst>
            <a:outerShdw sx="100000" sy="100000" kx="0" ky="0" algn="bl" rotWithShape="0" blurRad="101600" dist="25400" dir="5400000">
              <a:srgbClr val="8A7A5C">
                <a:alpha val="18000"/>
              </a:srgbClr>
            </a:outerShdw>
          </a:effectLst>
        </p:spPr>
      </p:sp>
      <p:sp>
        <p:nvSpPr>
          <p:cNvPr id="21" name="Shape 19"/>
          <p:cNvSpPr/>
          <p:nvPr/>
        </p:nvSpPr>
        <p:spPr>
          <a:xfrm>
            <a:off x="6446520" y="4050792"/>
            <a:ext cx="1554480" cy="329184"/>
          </a:xfrm>
          <a:prstGeom prst="roundRect">
            <a:avLst>
              <a:gd name="adj" fmla="val 50000"/>
            </a:avLst>
          </a:prstGeom>
          <a:solidFill>
            <a:srgbClr val="B5654A"/>
          </a:solidFill>
          <a:ln w="12700">
            <a:solidFill>
              <a:srgbClr val="B5654A"/>
            </a:solidFill>
            <a:prstDash val="solid"/>
          </a:ln>
        </p:spPr>
      </p:sp>
      <p:sp>
        <p:nvSpPr>
          <p:cNvPr id="22" name="Text 20"/>
          <p:cNvSpPr txBox="1"/>
          <p:nvPr/>
        </p:nvSpPr>
        <p:spPr>
          <a:xfrm>
            <a:off x="6446520" y="4050792"/>
            <a:ext cx="15544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결과 0건</a:t>
            </a:r>
            <a:endParaRPr lang="en-US" sz="1200" dirty="0"/>
          </a:p>
        </p:txBody>
      </p:sp>
      <p:sp>
        <p:nvSpPr>
          <p:cNvPr id="23" name="Text 21"/>
          <p:cNvSpPr txBox="1"/>
          <p:nvPr/>
        </p:nvSpPr>
        <p:spPr>
          <a:xfrm>
            <a:off x="6492240" y="4489704"/>
            <a:ext cx="4965192" cy="905256"/>
          </a:xfrm>
          <a:prstGeom prst="rect">
            <a:avLst/>
          </a:prstGeom>
          <a:noFill/>
          <a:ln/>
        </p:spPr>
        <p:txBody>
          <a:bodyPr wrap="square" lIns="0" tIns="0" rIns="0" bIns="0" rtlCol="0" anchor="t"/>
          <a:lstStyle/>
          <a:p>
            <a:pPr indent="0" marL="0">
              <a:lnSpc>
                <a:spcPct val="112000"/>
              </a:lnSpc>
              <a:buNone/>
            </a:pPr>
            <a:r>
              <a:rPr lang="en-US" sz="1150" b="1" dirty="0">
                <a:solidFill>
                  <a:srgbClr val="E9E2D2"/>
                </a:solidFill>
                <a:latin typeface="Malgun Gothic" pitchFamily="34" charset="0"/>
                <a:ea typeface="Malgun Gothic" pitchFamily="34" charset="-122"/>
                <a:cs typeface="Malgun Gothic" pitchFamily="34" charset="-120"/>
              </a:rPr>
              <a:t>[PROCESSOR ERROR] aed    RAW : 50건</a:t>
            </a:r>
            <a:endParaRPr lang="en-US" sz="1150" dirty="0"/>
          </a:p>
          <a:p>
            <a:pPr indent="0" marL="0">
              <a:lnSpc>
                <a:spcPct val="112000"/>
              </a:lnSpc>
              <a:buNone/>
            </a:pPr>
            <a:r>
              <a:rPr lang="en-US" sz="1150" b="1" dirty="0">
                <a:solidFill>
                  <a:srgbClr val="F2B8A2"/>
                </a:solidFill>
                <a:latin typeface="Malgun Gothic" pitchFamily="34" charset="0"/>
                <a:ea typeface="Malgun Gothic" pitchFamily="34" charset="-122"/>
                <a:cs typeface="Malgun Gothic" pitchFamily="34" charset="-120"/>
              </a:rPr>
              <a:t>PROCESSED : 0건 · 상태 : 정제 결과 없음</a:t>
            </a:r>
            <a:endParaRPr lang="en-US" sz="1150" dirty="0"/>
          </a:p>
          <a:p>
            <a:pPr indent="0" marL="0">
              <a:lnSpc>
                <a:spcPct val="112000"/>
              </a:lnSpc>
              <a:buNone/>
            </a:pPr>
            <a:r>
              <a:rPr lang="en-US" sz="1150" b="1" dirty="0">
                <a:solidFill>
                  <a:srgbClr val="D9A441"/>
                </a:solidFill>
                <a:latin typeface="Malgun Gothic" pitchFamily="34" charset="0"/>
                <a:ea typeface="Malgun Gothic" pitchFamily="34" charset="-122"/>
                <a:cs typeface="Malgun Gothic" pitchFamily="34" charset="-120"/>
              </a:rPr>
              <a:t>기존 processed : 유지</a:t>
            </a:r>
            <a:endParaRPr lang="en-US" sz="1150" dirty="0"/>
          </a:p>
        </p:txBody>
      </p:sp>
      <p:sp>
        <p:nvSpPr>
          <p:cNvPr id="24" name="Text 22"/>
          <p:cNvSpPr txBox="1"/>
          <p:nvPr/>
        </p:nvSpPr>
        <p:spPr>
          <a:xfrm>
            <a:off x="548640" y="5715000"/>
            <a:ext cx="11064240" cy="502920"/>
          </a:xfrm>
          <a:prstGeom prst="rect">
            <a:avLst/>
          </a:prstGeom>
          <a:noFill/>
          <a:ln/>
        </p:spPr>
        <p:txBody>
          <a:bodyPr wrap="square" lIns="0" tIns="0" rIns="0" bIns="0" rtlCol="0" anchor="t"/>
          <a:lstStyle/>
          <a:p>
            <a:pPr indent="0" marL="0">
              <a:buNone/>
            </a:pPr>
            <a:r>
              <a:rPr lang="en-US" sz="1100" b="1" dirty="0">
                <a:solidFill>
                  <a:srgbClr val="5E5B52"/>
                </a:solidFill>
                <a:latin typeface="Malgun Gothic" pitchFamily="34" charset="0"/>
                <a:ea typeface="Malgun Gothic" pitchFamily="34" charset="-122"/>
                <a:cs typeface="Malgun Gothic" pitchFamily="34" charset="-120"/>
              </a:rPr>
              <a:t>정상 로그: AED 원본 실제 실행 (DQ 보고서 요약) · Selenium: 팀 실행 로그 · 실패 로그: 좌표 컬럼 삭제 / 좌표 전부 범위 밖으로 만든 테스트 입력으로 재현</a:t>
            </a:r>
            <a:endParaRPr lang="en-US" sz="1100" dirty="0"/>
          </a:p>
        </p:txBody>
      </p:sp>
      <p:sp>
        <p:nvSpPr>
          <p:cNvPr id="25" name="Text 23"/>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26" name="Text 24"/>
          <p:cNvSpPr txBox="1"/>
          <p:nvPr/>
        </p:nvSpPr>
        <p:spPr>
          <a:xfrm>
            <a:off x="11183112"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p14="http://schemas.microsoft.com/office/powerpoint/2010/main">
  <p:cSld name="">
    <p:bg>
      <p:bgPr>
        <a:solidFill>
          <a:srgbClr val="F7F1E6"/>
        </a:solidFill>
      </p:bgPr>
    </p:bg>
    <p:spTree>
      <p:nvGrpSpPr>
        <p:cNvPr id="1" name=""/>
        <p:cNvGrpSpPr/>
        <p:nvPr/>
      </p:nvGrpSpPr>
      <p:grpSpPr>
        <a:xfrm>
          <a:off x="0" y="0"/>
          <a:ext cx="0" cy="0"/>
          <a:chOff x="0" y="0"/>
          <a:chExt cx="0" cy="0"/>
        </a:xfrm>
      </p:grpSpPr>
      <p:sp>
        <p:nvSpPr>
          <p:cNvPr id="2" name="Shape 0"/>
          <p:cNvSpPr/>
          <p:nvPr/>
        </p:nvSpPr>
        <p:spPr>
          <a:xfrm>
            <a:off x="548640" y="384175"/>
            <a:ext cx="384175" cy="384175"/>
          </a:xfrm>
          <a:prstGeom prst="ellipse">
            <a:avLst/>
          </a:prstGeom>
          <a:solidFill>
            <a:srgbClr val="2E5A46"/>
          </a:solidFill>
          <a:ln w="12700">
            <a:solidFill>
              <a:srgbClr val="2E5A46"/>
            </a:solidFill>
            <a:prstDash val="solid"/>
          </a:ln>
        </p:spPr>
        <p:txBody>
          <a:bodyPr/>
          <a:p/>
        </p:txBody>
      </p:sp>
      <p:sp>
        <p:nvSpPr>
          <p:cNvPr id="3" name="Text 1"/>
          <p:cNvSpPr txBox="1"/>
          <p:nvPr/>
        </p:nvSpPr>
        <p:spPr>
          <a:xfrm>
            <a:off x="548640" y="384175"/>
            <a:ext cx="384175" cy="384175"/>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08</a:t>
            </a:r>
            <a:endParaRPr lang="en-US" sz="1300" dirty="0"/>
          </a:p>
        </p:txBody>
      </p:sp>
      <p:sp>
        <p:nvSpPr>
          <p:cNvPr id="4" name="Text 2"/>
          <p:cNvSpPr txBox="1"/>
          <p:nvPr/>
        </p:nvSpPr>
        <p:spPr>
          <a:xfrm>
            <a:off x="1042670" y="384175"/>
            <a:ext cx="5486400" cy="384175"/>
          </a:xfrm>
          <a:prstGeom prst="rect">
            <a:avLst/>
          </a:prstGeom>
          <a:noFill/>
          <a:ln/>
        </p:spPr>
        <p:txBody>
          <a:bodyPr wrap="square" lIns="0" tIns="0" rIns="0" bIns="0" rtlCol="0" anchor="ctr"/>
          <a:lstStyle/>
          <a:p>
            <a:pPr indent="0" marL="0">
              <a:buNone/>
            </a:pPr>
            <a:r>
              <a:rPr lang="en-US" sz="1400" b="1" spc="200" kern="0" dirty="0">
                <a:solidFill>
                  <a:srgbClr val="B5654A"/>
                </a:solidFill>
                <a:latin typeface="Malgun Gothic" pitchFamily="34" charset="0"/>
                <a:ea typeface="Malgun Gothic" pitchFamily="34" charset="-122"/>
                <a:cs typeface="Malgun Gothic" pitchFamily="34" charset="-120"/>
              </a:rPr>
              <a:t>RESULT · 정제된 데이터</a:t>
            </a:r>
            <a:endParaRPr lang="en-US" sz="1400" dirty="0"/>
          </a:p>
        </p:txBody>
      </p:sp>
      <p:sp>
        <p:nvSpPr>
          <p:cNvPr id="5" name="Text 3"/>
          <p:cNvSpPr txBox="1"/>
          <p:nvPr/>
        </p:nvSpPr>
        <p:spPr>
          <a:xfrm>
            <a:off x="548640" y="895985"/>
            <a:ext cx="11064240" cy="731520"/>
          </a:xfrm>
          <a:prstGeom prst="rect">
            <a:avLst/>
          </a:prstGeom>
          <a:noFill/>
          <a:ln/>
        </p:spPr>
        <p:txBody>
          <a:bodyPr wrap="square" lIns="0" tIns="0" rIns="0" bIns="0" rtlCol="0" anchor="ctr"/>
          <a:lstStyle/>
          <a:p>
            <a:pPr indent="0" marL="0">
              <a:buNone/>
            </a:pPr>
            <a:r>
              <a:rPr lang="en-US" sz="3400" b="1" dirty="0">
                <a:solidFill>
                  <a:srgbClr val="1E2621"/>
                </a:solidFill>
                <a:latin typeface="Malgun Gothic" pitchFamily="34" charset="0"/>
                <a:ea typeface="Malgun Gothic" pitchFamily="34" charset="-122"/>
                <a:cs typeface="Malgun Gothic" pitchFamily="34" charset="-120"/>
              </a:rPr>
              <a:t>정제된 데이터는 이렇게 저장됩니다</a:t>
            </a:r>
            <a:endParaRPr lang="en-US" sz="3400" dirty="0"/>
          </a:p>
        </p:txBody>
      </p:sp>
      <p:sp>
        <p:nvSpPr>
          <p:cNvPr id="6" name="Text 4"/>
          <p:cNvSpPr txBox="1"/>
          <p:nvPr/>
        </p:nvSpPr>
        <p:spPr>
          <a:xfrm>
            <a:off x="548640" y="1718945"/>
            <a:ext cx="7315200" cy="311150"/>
          </a:xfrm>
          <a:prstGeom prst="rect">
            <a:avLst/>
          </a:prstGeom>
          <a:noFill/>
          <a:ln/>
        </p:spPr>
        <p:txBody>
          <a:bodyPr wrap="square" lIns="0" tIns="0" rIns="0" bIns="0" rtlCol="0" anchor="t"/>
          <a:lstStyle/>
          <a:p>
            <a:pPr indent="0" marL="0">
              <a:buNone/>
            </a:pPr>
            <a:r>
              <a:rPr lang="en-US" sz="1500" b="1" dirty="0">
                <a:solidFill>
                  <a:srgbClr val="B5654A"/>
                </a:solidFill>
                <a:latin typeface="Malgun Gothic" pitchFamily="34" charset="0"/>
                <a:ea typeface="Malgun Gothic" pitchFamily="34" charset="-122"/>
                <a:cs typeface="Malgun Gothic" pitchFamily="34" charset="-120"/>
              </a:rPr>
              <a:t>processed · AED 샘플 6행 (시도별 1행)</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084832"/>
          <a:ext cx="7269480" cy="914400"/>
        </p:xfrm>
        <a:graphic>
          <a:graphicData uri="http://schemas.openxmlformats.org/drawingml/2006/table">
            <a:tbl>
              <a:tblPr/>
              <a:tblGrid>
                <a:gridCol w="1234440"/>
                <a:gridCol w="914400"/>
                <a:gridCol w="1600200"/>
                <a:gridCol w="1097280"/>
                <a:gridCol w="1005840"/>
                <a:gridCol w="685800"/>
                <a:gridCol w="731520"/>
              </a:tblGrid>
              <a:tr h="457200">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시도</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시군구</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설치기관</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설치위치</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모델</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위도</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경도</a:t>
                      </a:r>
                      <a:endParaRPr lang="en-US" sz="12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2E5A46"/>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서울특별시</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영등포구</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SK증권주식회사</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2층</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NT-381.O</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37.5197</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126.9281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부산광역시</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부산진구</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포레나부산초읍아파트</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정문 경비초소</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HR-501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35.1759</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129.0457</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대구광역시</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달성군</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쿠팡풀필먼트서비스대구3물류센터</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B2F CORE#2</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HR-501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35.6509</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128.4319</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경기도</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성남시 수정구</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성남시수정청소년수련관</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지하2층 키박스</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저출력심장충격기 CU-SP1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37.4493</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127.1502</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강원특별자치도</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홍천군</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홍천군보건소치매안심센터</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1층 대기실</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i-PAD CU-SP1 PLUS</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37.6899</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127.8755</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제주특별자치도</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제주시</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수원초등학교</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늘봄교실 출입구 현관</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E2621"/>
                          </a:solidFill>
                          <a:latin typeface="Malgun Gothic" pitchFamily="34" charset="0"/>
                          <a:ea typeface="Malgun Gothic" pitchFamily="34" charset="-122"/>
                          <a:cs typeface="Malgun Gothic" pitchFamily="34" charset="-120"/>
                        </a:rPr>
                        <a:t>CU-SP1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33.4261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2621"/>
                          </a:solidFill>
                          <a:latin typeface="Malgun Gothic" pitchFamily="34" charset="0"/>
                          <a:ea typeface="Malgun Gothic" pitchFamily="34" charset="-122"/>
                          <a:cs typeface="Malgun Gothic" pitchFamily="34" charset="-120"/>
                        </a:rPr>
                        <a:t>126.2701</a:t>
                      </a:r>
                      <a:endParaRPr lang="en-US" sz="1050" dirty="0">
                        <a:latin typeface="Malgun Gothic" charset="0"/>
                        <a:ea typeface="Malgun Gothic" charset="0"/>
                        <a:cs typeface="Malgun Gothic" charset="0"/>
                      </a:endParaRPr>
                    </a:p>
                  </a:txBody>
                  <a:tcPr marL="54864" marR="54864" marT="27432" marB="27432" anchor="ctr">
                    <a:lnL w="12700" cap="flat" cmpd="sng" algn="ctr">
                      <a:solidFill>
                        <a:srgbClr val="D8CBB2"/>
                      </a:solidFill>
                      <a:prstDash val="solid"/>
                      <a:round/>
                      <a:headEnd type="none" w="med" len="med"/>
                      <a:tailEnd type="none" w="med" len="med"/>
                    </a:lnL>
                    <a:lnR w="12700" cap="flat" cmpd="sng" algn="ctr">
                      <a:solidFill>
                        <a:srgbClr val="D8CBB2"/>
                      </a:solidFill>
                      <a:prstDash val="solid"/>
                      <a:round/>
                      <a:headEnd type="none" w="med" len="med"/>
                      <a:tailEnd type="none" w="med" len="med"/>
                    </a:lnR>
                    <a:lnT w="12700" cap="flat" cmpd="sng" algn="ctr">
                      <a:solidFill>
                        <a:srgbClr val="D8CBB2"/>
                      </a:solidFill>
                      <a:prstDash val="solid"/>
                      <a:round/>
                      <a:headEnd type="none" w="med" len="med"/>
                      <a:tailEnd type="none" w="med" len="med"/>
                    </a:lnT>
                    <a:lnB w="12700" cap="flat" cmpd="sng" algn="ctr">
                      <a:solidFill>
                        <a:srgbClr val="D8CBB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5376545"/>
            <a:ext cx="7315200" cy="255905"/>
          </a:xfrm>
          <a:prstGeom prst="rect">
            <a:avLst/>
          </a:prstGeom>
          <a:noFill/>
          <a:ln/>
        </p:spPr>
        <p:txBody>
          <a:bodyPr wrap="square" lIns="0" tIns="0" rIns="0" bIns="0" rtlCol="0" anchor="t"/>
          <a:lstStyle/>
          <a:p>
            <a:pPr indent="0" marL="0">
              <a:buNone/>
            </a:pPr>
            <a:r>
              <a:rPr lang="en-US" sz="1100" b="1" dirty="0">
                <a:solidFill>
                  <a:srgbClr val="5E5B52"/>
                </a:solidFill>
                <a:latin typeface="Malgun Gothic" pitchFamily="34" charset="0"/>
                <a:ea typeface="Malgun Gothic" pitchFamily="34" charset="-122"/>
                <a:cs typeface="Malgun Gothic" pitchFamily="34" charset="-120"/>
              </a:rPr>
              <a:t>※ 담당자 이름 · 연락처 컬럼은 표시에서 제외</a:t>
            </a:r>
            <a:endParaRPr lang="en-US" sz="1100" dirty="0"/>
          </a:p>
        </p:txBody>
      </p:sp>
      <p:sp>
        <p:nvSpPr>
          <p:cNvPr id="9" name="Shape 6"/>
          <p:cNvSpPr/>
          <p:nvPr/>
        </p:nvSpPr>
        <p:spPr>
          <a:xfrm>
            <a:off x="548640" y="5715000"/>
            <a:ext cx="2286000" cy="548640"/>
          </a:xfrm>
          <a:prstGeom prst="roundRect">
            <a:avLst>
              <a:gd name="adj" fmla="val 50000"/>
            </a:avLst>
          </a:prstGeom>
          <a:solidFill>
            <a:srgbClr val="2E5A46"/>
          </a:solidFill>
          <a:ln w="12700">
            <a:solidFill>
              <a:srgbClr val="2E5A46"/>
            </a:solidFill>
            <a:prstDash val="solid"/>
          </a:ln>
        </p:spPr>
      </p:sp>
      <p:sp>
        <p:nvSpPr>
          <p:cNvPr id="10" name="Text 7"/>
          <p:cNvSpPr txBox="1"/>
          <p:nvPr/>
        </p:nvSpPr>
        <p:spPr>
          <a:xfrm>
            <a:off x="548640" y="5715000"/>
            <a:ext cx="2286000" cy="548640"/>
          </a:xfrm>
          <a:prstGeom prst="rect">
            <a:avLst/>
          </a:prstGeom>
          <a:noFill/>
          <a:ln/>
        </p:spPr>
        <p:txBody>
          <a:bodyPr wrap="square" lIns="0" tIns="0" rIns="0" bIns="0" rtlCol="0" anchor="ctr"/>
          <a:lstStyle/>
          <a:p>
            <a:pPr algn="ctr" indent="0" marL="0">
              <a:buNone/>
            </a:pPr>
            <a:endParaRPr lang="en-US" sz="1300" dirty="0"/>
          </a:p>
        </p:txBody>
      </p:sp>
      <p:sp>
        <p:nvSpPr>
          <p:cNvPr id="11" name="Text 8"/>
          <p:cNvSpPr txBox="1"/>
          <p:nvPr/>
        </p:nvSpPr>
        <p:spPr>
          <a:xfrm>
            <a:off x="713105" y="5715000"/>
            <a:ext cx="5029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6</a:t>
            </a:r>
            <a:endParaRPr lang="en-US" sz="2200" dirty="0"/>
          </a:p>
        </p:txBody>
      </p:sp>
      <p:sp>
        <p:nvSpPr>
          <p:cNvPr id="12" name="Text 9"/>
          <p:cNvSpPr txBox="1"/>
          <p:nvPr/>
        </p:nvSpPr>
        <p:spPr>
          <a:xfrm>
            <a:off x="1261745" y="5715000"/>
            <a:ext cx="1481455" cy="548640"/>
          </a:xfrm>
          <a:prstGeom prst="rect">
            <a:avLst/>
          </a:prstGeom>
          <a:noFill/>
          <a:ln/>
        </p:spPr>
        <p:txBody>
          <a:bodyPr wrap="square" lIns="0" tIns="0" rIns="0" bIns="0"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downloaded</a:t>
            </a:r>
            <a:endParaRPr lang="en-US" sz="1200" dirty="0"/>
          </a:p>
        </p:txBody>
      </p:sp>
      <p:sp>
        <p:nvSpPr>
          <p:cNvPr id="13" name="Shape 10"/>
          <p:cNvSpPr/>
          <p:nvPr/>
        </p:nvSpPr>
        <p:spPr>
          <a:xfrm>
            <a:off x="3017520" y="5715000"/>
            <a:ext cx="2286000" cy="548640"/>
          </a:xfrm>
          <a:prstGeom prst="roundRect">
            <a:avLst>
              <a:gd name="adj" fmla="val 50000"/>
            </a:avLst>
          </a:prstGeom>
          <a:solidFill>
            <a:srgbClr val="2E5A46"/>
          </a:solidFill>
          <a:ln w="12700">
            <a:solidFill>
              <a:srgbClr val="2E5A46"/>
            </a:solidFill>
            <a:prstDash val="solid"/>
          </a:ln>
        </p:spPr>
      </p:sp>
      <p:sp>
        <p:nvSpPr>
          <p:cNvPr id="14" name="Text 11"/>
          <p:cNvSpPr txBox="1"/>
          <p:nvPr/>
        </p:nvSpPr>
        <p:spPr>
          <a:xfrm>
            <a:off x="3017520" y="5715000"/>
            <a:ext cx="2286000" cy="548640"/>
          </a:xfrm>
          <a:prstGeom prst="rect">
            <a:avLst/>
          </a:prstGeom>
          <a:noFill/>
          <a:ln/>
        </p:spPr>
        <p:txBody>
          <a:bodyPr wrap="square" lIns="0" tIns="0" rIns="0" bIns="0" rtlCol="0" anchor="ctr"/>
          <a:lstStyle/>
          <a:p>
            <a:pPr algn="ctr" indent="0" marL="0">
              <a:buNone/>
            </a:pPr>
            <a:endParaRPr lang="en-US" sz="1300" dirty="0"/>
          </a:p>
        </p:txBody>
      </p:sp>
      <p:sp>
        <p:nvSpPr>
          <p:cNvPr id="15" name="Text 12"/>
          <p:cNvSpPr txBox="1"/>
          <p:nvPr/>
        </p:nvSpPr>
        <p:spPr>
          <a:xfrm>
            <a:off x="3181985" y="5715000"/>
            <a:ext cx="5029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6</a:t>
            </a:r>
            <a:endParaRPr lang="en-US" sz="2200" dirty="0"/>
          </a:p>
        </p:txBody>
      </p:sp>
      <p:sp>
        <p:nvSpPr>
          <p:cNvPr id="16" name="Text 13"/>
          <p:cNvSpPr txBox="1"/>
          <p:nvPr/>
        </p:nvSpPr>
        <p:spPr>
          <a:xfrm>
            <a:off x="3730625" y="5715000"/>
            <a:ext cx="1481455" cy="548640"/>
          </a:xfrm>
          <a:prstGeom prst="rect">
            <a:avLst/>
          </a:prstGeom>
          <a:noFill/>
          <a:ln/>
        </p:spPr>
        <p:txBody>
          <a:bodyPr wrap="square" lIns="0" tIns="0" rIns="0" bIns="0"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raw_loaded_tables</a:t>
            </a:r>
            <a:endParaRPr lang="en-US" sz="1200" dirty="0"/>
          </a:p>
        </p:txBody>
      </p:sp>
      <p:sp>
        <p:nvSpPr>
          <p:cNvPr id="17" name="Shape 14"/>
          <p:cNvSpPr/>
          <p:nvPr/>
        </p:nvSpPr>
        <p:spPr>
          <a:xfrm>
            <a:off x="5486400" y="5715000"/>
            <a:ext cx="2286000" cy="548640"/>
          </a:xfrm>
          <a:prstGeom prst="roundRect">
            <a:avLst>
              <a:gd name="adj" fmla="val 50000"/>
            </a:avLst>
          </a:prstGeom>
          <a:solidFill>
            <a:srgbClr val="B5654A"/>
          </a:solidFill>
          <a:ln w="12700">
            <a:solidFill>
              <a:srgbClr val="B5654A"/>
            </a:solidFill>
            <a:prstDash val="solid"/>
          </a:ln>
        </p:spPr>
      </p:sp>
      <p:sp>
        <p:nvSpPr>
          <p:cNvPr id="18" name="Text 15"/>
          <p:cNvSpPr txBox="1"/>
          <p:nvPr/>
        </p:nvSpPr>
        <p:spPr>
          <a:xfrm>
            <a:off x="5486400" y="5715000"/>
            <a:ext cx="2286000" cy="548640"/>
          </a:xfrm>
          <a:prstGeom prst="rect">
            <a:avLst/>
          </a:prstGeom>
          <a:noFill/>
          <a:ln/>
        </p:spPr>
        <p:txBody>
          <a:bodyPr wrap="square" lIns="0" tIns="0" rIns="0" bIns="0" rtlCol="0" anchor="ctr"/>
          <a:lstStyle/>
          <a:p>
            <a:pPr algn="ctr" indent="0" marL="0">
              <a:buNone/>
            </a:pPr>
            <a:endParaRPr lang="en-US" sz="1300" dirty="0"/>
          </a:p>
        </p:txBody>
      </p:sp>
      <p:sp>
        <p:nvSpPr>
          <p:cNvPr id="19" name="Text 16"/>
          <p:cNvSpPr txBox="1"/>
          <p:nvPr/>
        </p:nvSpPr>
        <p:spPr>
          <a:xfrm>
            <a:off x="5650865" y="5715000"/>
            <a:ext cx="5029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10</a:t>
            </a:r>
            <a:endParaRPr lang="en-US" sz="2200" dirty="0"/>
          </a:p>
        </p:txBody>
      </p:sp>
      <p:sp>
        <p:nvSpPr>
          <p:cNvPr id="20" name="Text 17"/>
          <p:cNvSpPr txBox="1"/>
          <p:nvPr/>
        </p:nvSpPr>
        <p:spPr>
          <a:xfrm>
            <a:off x="6199505" y="5715000"/>
            <a:ext cx="1481455" cy="548640"/>
          </a:xfrm>
          <a:prstGeom prst="rect">
            <a:avLst/>
          </a:prstGeom>
          <a:noFill/>
          <a:ln/>
        </p:spPr>
        <p:txBody>
          <a:bodyPr wrap="square" lIns="0" tIns="0" rIns="0" bIns="0"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스케줄 데이터셋</a:t>
            </a:r>
            <a:endParaRPr lang="en-US" sz="1200" dirty="0"/>
          </a:p>
        </p:txBody>
      </p:sp>
      <p:sp>
        <p:nvSpPr>
          <p:cNvPr id="21" name="Shape 18"/>
          <p:cNvSpPr/>
          <p:nvPr/>
        </p:nvSpPr>
        <p:spPr>
          <a:xfrm>
            <a:off x="8092440" y="1718945"/>
            <a:ext cx="3547745" cy="4544695"/>
          </a:xfrm>
          <a:prstGeom prst="roundRect">
            <a:avLst>
              <a:gd name="adj" fmla="val 3608"/>
            </a:avLst>
          </a:prstGeom>
          <a:solidFill>
            <a:srgbClr val="1E3B2F"/>
          </a:solidFill>
          <a:ln w="12700">
            <a:solidFill>
              <a:srgbClr val="1E3B2F"/>
            </a:solidFill>
            <a:prstDash val="solid"/>
          </a:ln>
          <a:effectLst>
            <a:outerShdw sx="100000" sy="100000" kx="0" ky="0" algn="bl" rotWithShape="0" blurRad="101600" dist="25400" dir="5400000">
              <a:srgbClr val="8A7A5C">
                <a:alpha val="18000"/>
              </a:srgbClr>
            </a:outerShdw>
          </a:effectLst>
        </p:spPr>
      </p:sp>
      <p:sp>
        <p:nvSpPr>
          <p:cNvPr id="22" name="Text 19"/>
          <p:cNvSpPr txBox="1"/>
          <p:nvPr/>
        </p:nvSpPr>
        <p:spPr>
          <a:xfrm>
            <a:off x="8321040" y="1920240"/>
            <a:ext cx="3108960" cy="411480"/>
          </a:xfrm>
          <a:prstGeom prst="rect">
            <a:avLst/>
          </a:prstGeom>
          <a:noFill/>
          <a:ln/>
        </p:spPr>
        <p:txBody>
          <a:bodyPr wrap="square" lIns="0" tIns="0" rIns="0" bIns="0" rtlCol="0" anchor="t"/>
          <a:lstStyle/>
          <a:p>
            <a:pPr indent="0" marL="0">
              <a:buNone/>
            </a:pPr>
            <a:r>
              <a:rPr lang="en-US" sz="2000" b="1" dirty="0">
                <a:solidFill>
                  <a:srgbClr val="D9A441"/>
                </a:solidFill>
                <a:latin typeface="Malgun Gothic" pitchFamily="34" charset="0"/>
                <a:ea typeface="Malgun Gothic" pitchFamily="34" charset="-122"/>
                <a:cs typeface="Malgun Gothic" pitchFamily="34" charset="-120"/>
              </a:rPr>
              <a:t>다음 단계</a:t>
            </a:r>
            <a:endParaRPr lang="en-US" sz="2000" dirty="0"/>
          </a:p>
        </p:txBody>
      </p:sp>
      <p:sp>
        <p:nvSpPr>
          <p:cNvPr id="23" name="Text 20"/>
          <p:cNvSpPr txBox="1"/>
          <p:nvPr/>
        </p:nvSpPr>
        <p:spPr>
          <a:xfrm>
            <a:off x="8321040" y="2468880"/>
            <a:ext cx="3154680" cy="3657600"/>
          </a:xfrm>
          <a:prstGeom prst="rect">
            <a:avLst/>
          </a:prstGeom>
          <a:noFill/>
          <a:ln/>
        </p:spPr>
        <p:txBody>
          <a:bodyPr wrap="square" lIns="0" tIns="0" rIns="0" bIns="0" rtlCol="0" anchor="t"/>
          <a:lstStyle/>
          <a:p>
            <a:pPr marL="342900" indent="-342900">
              <a:spcAft>
                <a:spcPts val="12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PROCESSED 적재 결과와 추천 조회 테이블의 연결 · 동기화</a:t>
            </a:r>
            <a:endParaRPr lang="en-US" sz="1400" dirty="0"/>
          </a:p>
          <a:p>
            <a:pPr marL="342900" indent="-342900">
              <a:spcAft>
                <a:spcPts val="12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데이터셋별 DQ 기준 고도화</a:t>
            </a:r>
            <a:endParaRPr lang="en-US" sz="1400" dirty="0"/>
          </a:p>
          <a:p>
            <a:pPr marL="342900" indent="-342900">
              <a:spcAft>
                <a:spcPts val="12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운영시간 · 대중교통 · 프로그램을 활용한 추천용 파생변수</a:t>
            </a:r>
            <a:endParaRPr lang="en-US" sz="1400" dirty="0"/>
          </a:p>
          <a:p>
            <a:pPr marL="342900" indent="-342900">
              <a:spcAft>
                <a:spcPts val="1200"/>
              </a:spcAft>
              <a:buSzPct val="100000"/>
              <a:buChar char="•"/>
            </a:pPr>
            <a:r>
              <a:rPr lang="en-US" sz="1400" b="1" dirty="0">
                <a:solidFill>
                  <a:srgbClr val="FFFFFF"/>
                </a:solidFill>
                <a:latin typeface="Malgun Gothic" pitchFamily="34" charset="0"/>
                <a:ea typeface="Malgun Gothic" pitchFamily="34" charset="-122"/>
                <a:cs typeface="Malgun Gothic" pitchFamily="34" charset="-120"/>
              </a:rPr>
              <a:t>실시간 예약 · 잔여정원 · 임시 휴관 데이터 확보 시 추천 고도화</a:t>
            </a:r>
            <a:endParaRPr lang="en-US" sz="1400" dirty="0"/>
          </a:p>
        </p:txBody>
      </p:sp>
      <p:sp>
        <p:nvSpPr>
          <p:cNvPr id="24" name="Text 21"/>
          <p:cNvSpPr txBox="1"/>
          <p:nvPr/>
        </p:nvSpPr>
        <p:spPr>
          <a:xfrm>
            <a:off x="548640" y="6446520"/>
            <a:ext cx="4572000" cy="228600"/>
          </a:xfrm>
          <a:prstGeom prst="rect">
            <a:avLst/>
          </a:prstGeom>
          <a:noFill/>
          <a:ln/>
        </p:spPr>
        <p:txBody>
          <a:bodyPr wrap="square" lIns="0" tIns="0" rIns="0" bIns="0" rtlCol="0" anchor="t"/>
          <a:lstStyle/>
          <a:p>
            <a:pPr indent="0" marL="0">
              <a:buNone/>
            </a:pPr>
            <a:r>
              <a:rPr lang="en-US" sz="900" b="1" spc="200" kern="0" dirty="0">
                <a:solidFill>
                  <a:srgbClr val="9A907C"/>
                </a:solidFill>
                <a:latin typeface="Malgun Gothic" pitchFamily="34" charset="0"/>
                <a:ea typeface="Malgun Gothic" pitchFamily="34" charset="-122"/>
                <a:cs typeface="Malgun Gothic" pitchFamily="34" charset="-120"/>
              </a:rPr>
              <a:t>WOOSIMWOONKKA · MY MOVE CLUB</a:t>
            </a:r>
            <a:endParaRPr lang="en-US" sz="900" dirty="0"/>
          </a:p>
        </p:txBody>
      </p:sp>
      <p:sp>
        <p:nvSpPr>
          <p:cNvPr id="25" name="Text 22"/>
          <p:cNvSpPr txBox="1"/>
          <p:nvPr/>
        </p:nvSpPr>
        <p:spPr>
          <a:xfrm>
            <a:off x="11182985" y="6446520"/>
            <a:ext cx="457200" cy="228600"/>
          </a:xfrm>
          <a:prstGeom prst="rect">
            <a:avLst/>
          </a:prstGeom>
          <a:noFill/>
          <a:ln/>
        </p:spPr>
        <p:txBody>
          <a:bodyPr wrap="square" lIns="0" tIns="0" rIns="0" bIns="0" rtlCol="0" anchor="t"/>
          <a:lstStyle/>
          <a:p>
            <a:pPr algn="r" indent="0" marL="0">
              <a:buNone/>
            </a:pPr>
            <a:r>
              <a:rPr lang="en-US" sz="900" b="1" dirty="0">
                <a:solidFill>
                  <a:srgbClr val="9A907C"/>
                </a:solidFill>
                <a:latin typeface="Malgun Gothic" pitchFamily="34" charset="0"/>
                <a:ea typeface="Malgun Gothic" pitchFamily="34" charset="-122"/>
                <a:cs typeface="Malgun Gothic" pitchFamily="34" charset="-120"/>
              </a:rPr>
              <a:t>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6"/>
        </a:solidFill>
      </p:bgPr>
    </p:bg>
    <p:spTree>
      <p:nvGrpSpPr>
        <p:cNvPr id="1" name=""/>
        <p:cNvGrpSpPr/>
        <p:nvPr/>
      </p:nvGrpSpPr>
      <p:grpSpPr>
        <a:xfrm>
          <a:off x="0" y="0"/>
          <a:ext cx="0" cy="0"/>
          <a:chOff x="0" y="0"/>
          <a:chExt cx="0" cy="0"/>
        </a:xfrm>
      </p:grpSpPr>
      <p:sp>
        <p:nvSpPr>
          <p:cNvPr id="557" name="Shape 0"/>
          <p:cNvSpPr/>
          <p:nvPr/>
        </p:nvSpPr>
        <p:spPr>
          <a:xfrm>
            <a:off x="548640" y="384175"/>
            <a:ext cx="383540" cy="383540"/>
          </a:xfrm>
          <a:prstGeom prst="ellipse">
            <a:avLst/>
          </a:prstGeom>
          <a:solidFill>
            <a:srgbClr val="2e5a46"/>
          </a:solidFill>
          <a:ln w="12700">
            <a:solidFill>
              <a:srgbClr val="2e5a4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58" name="Text 1"/>
          <p:cNvSpPr/>
          <p:nvPr/>
        </p:nvSpPr>
        <p:spPr>
          <a:xfrm>
            <a:off x="548640" y="384175"/>
            <a:ext cx="383540" cy="3835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ffffff"/>
                </a:solidFill>
                <a:latin typeface="Malgun Gothic"/>
                <a:ea typeface="Malgun Gothic"/>
              </a:rPr>
              <a:t>09</a:t>
            </a:r>
            <a:endParaRPr b="0" lang="en-US" sz="1300" spc="-1" strike="noStrike">
              <a:solidFill>
                <a:srgbClr val="000000"/>
              </a:solidFill>
              <a:latin typeface="Noto Sans KR"/>
            </a:endParaRPr>
          </a:p>
        </p:txBody>
      </p:sp>
      <p:sp>
        <p:nvSpPr>
          <p:cNvPr id="559" name="Text 2"/>
          <p:cNvSpPr/>
          <p:nvPr/>
        </p:nvSpPr>
        <p:spPr>
          <a:xfrm>
            <a:off x="1042670" y="384175"/>
            <a:ext cx="5485765" cy="3835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99" strike="noStrike">
                <a:solidFill>
                  <a:srgbClr val="b5654a"/>
                </a:solidFill>
                <a:latin typeface="Malgun Gothic"/>
                <a:ea typeface="Malgun Gothic"/>
              </a:rPr>
              <a:t>DEMO · </a:t>
            </a:r>
            <a:r>
              <a:rPr b="1" lang="ko-KR" sz="1400" spc="199" strike="noStrike">
                <a:solidFill>
                  <a:srgbClr val="b5654a"/>
                </a:solidFill>
                <a:latin typeface="Malgun Gothic"/>
                <a:ea typeface="Malgun Gothic"/>
              </a:rPr>
              <a:t>서비스 시연</a:t>
            </a:r>
            <a:endParaRPr b="0" lang="en-US" sz="1400" spc="-1" strike="noStrike">
              <a:solidFill>
                <a:srgbClr val="000000"/>
              </a:solidFill>
              <a:latin typeface="Noto Sans KR"/>
            </a:endParaRPr>
          </a:p>
        </p:txBody>
      </p:sp>
      <p:sp>
        <p:nvSpPr>
          <p:cNvPr id="560" name="Text 3"/>
          <p:cNvSpPr/>
          <p:nvPr/>
        </p:nvSpPr>
        <p:spPr>
          <a:xfrm>
            <a:off x="548640" y="895985"/>
            <a:ext cx="11063605" cy="730885"/>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ko-KR" sz="3400" spc="-1" strike="noStrike">
                <a:solidFill>
                  <a:srgbClr val="1e2621"/>
                </a:solidFill>
                <a:latin typeface="Malgun Gothic"/>
                <a:ea typeface="Malgun Gothic"/>
              </a:rPr>
              <a:t>그럼</a:t>
            </a:r>
            <a:r>
              <a:rPr b="1" lang="en-US" sz="3400" spc="-1" strike="noStrike">
                <a:solidFill>
                  <a:srgbClr val="1e2621"/>
                </a:solidFill>
                <a:latin typeface="Malgun Gothic"/>
                <a:ea typeface="Malgun Gothic"/>
              </a:rPr>
              <a:t>, </a:t>
            </a:r>
            <a:r>
              <a:rPr b="1" lang="ko-KR" sz="3400" spc="-1" strike="noStrike">
                <a:solidFill>
                  <a:srgbClr val="1e2621"/>
                </a:solidFill>
                <a:latin typeface="Malgun Gothic"/>
                <a:ea typeface="Malgun Gothic"/>
              </a:rPr>
              <a:t>오늘은 어디서 운동할까요</a:t>
            </a:r>
            <a:r>
              <a:rPr b="1" lang="en-US" sz="3400" spc="-1" strike="noStrike">
                <a:solidFill>
                  <a:srgbClr val="1e2621"/>
                </a:solidFill>
                <a:latin typeface="Malgun Gothic"/>
                <a:ea typeface="Malgun Gothic"/>
              </a:rPr>
              <a:t>?</a:t>
            </a:r>
            <a:endParaRPr b="0" lang="en-US" sz="3400" spc="-1" strike="noStrike">
              <a:solidFill>
                <a:srgbClr val="000000"/>
              </a:solidFill>
              <a:latin typeface="Noto Sans KR"/>
            </a:endParaRPr>
          </a:p>
        </p:txBody>
      </p:sp>
      <p:sp>
        <p:nvSpPr>
          <p:cNvPr id="561" name="Shape 4"/>
          <p:cNvSpPr>
            <a:spLocks/>
          </p:cNvSpPr>
          <p:nvPr/>
        </p:nvSpPr>
        <p:spPr>
          <a:xfrm rot="0">
            <a:off x="548640"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62" name="Image 0"/>
          <p:cNvPicPr>
            <a:picLocks/>
          </p:cNvPicPr>
          <p:nvPr/>
        </p:nvPicPr>
        <p:blipFill rotWithShape="1">
          <a:blip r:embed="rId1" cstate="print">
            <a:extLst>
              <a:ext uri="{28A0092B-C50C-407E-A947-70E740481C1C}">
                <a14:useLocalDpi xmlns:a14="http://schemas.microsoft.com/office/drawing/2010/main" val="0"/>
              </a:ext>
            </a:extLst>
          </a:blip>
          <a:stretch>
            <a:fillRect/>
          </a:stretch>
        </p:blipFill>
        <p:spPr>
          <a:xfrm rot="0">
            <a:off x="640080" y="2053590"/>
            <a:ext cx="1874520" cy="1478280"/>
          </a:xfrm>
          <a:prstGeom prst="rect"/>
          <a:noFill/>
          <a:ln>
            <a:noFill/>
            <a:prstDash/>
          </a:ln>
        </p:spPr>
      </p:pic>
      <p:sp>
        <p:nvSpPr>
          <p:cNvPr id="563" name="Shape 5"/>
          <p:cNvSpPr>
            <a:spLocks/>
          </p:cNvSpPr>
          <p:nvPr/>
        </p:nvSpPr>
        <p:spPr>
          <a:xfrm rot="0">
            <a:off x="685800" y="3653790"/>
            <a:ext cx="421005" cy="421005"/>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64" name="Text 6"/>
          <p:cNvSpPr>
            <a:spLocks/>
          </p:cNvSpPr>
          <p:nvPr/>
        </p:nvSpPr>
        <p:spPr>
          <a:xfrm rot="0">
            <a:off x="685800"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1</a:t>
            </a:r>
            <a:endParaRPr lang="ko-KR" altLang="en-US" sz="1500" b="1" strike="noStrike">
              <a:solidFill>
                <a:srgbClr val="FFFFFF"/>
              </a:solidFill>
              <a:latin typeface="Malgun Gothic" charset="0"/>
              <a:ea typeface="Malgun Gothic" charset="0"/>
            </a:endParaRPr>
          </a:p>
        </p:txBody>
      </p:sp>
      <p:sp>
        <p:nvSpPr>
          <p:cNvPr id="565" name="Text 7"/>
          <p:cNvSpPr>
            <a:spLocks/>
          </p:cNvSpPr>
          <p:nvPr/>
        </p:nvSpPr>
        <p:spPr>
          <a:xfrm rot="0">
            <a:off x="1188720"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운동방</a:t>
            </a:r>
            <a:endParaRPr lang="ko-KR" altLang="en-US" sz="1900" b="1" strike="noStrike">
              <a:solidFill>
                <a:srgbClr val="1E2621"/>
              </a:solidFill>
              <a:latin typeface="Malgun Gothic" charset="0"/>
              <a:ea typeface="Malgun Gothic" charset="0"/>
            </a:endParaRPr>
          </a:p>
        </p:txBody>
      </p:sp>
      <p:sp>
        <p:nvSpPr>
          <p:cNvPr id="566" name="Text 8"/>
          <p:cNvSpPr>
            <a:spLocks/>
          </p:cNvSpPr>
          <p:nvPr/>
        </p:nvSpPr>
        <p:spPr>
          <a:xfrm rot="0">
            <a:off x="713105"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추억을 떠올리게 하는</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나만의 공간</a:t>
            </a:r>
            <a:endParaRPr lang="ko-KR" altLang="en-US" sz="1300" b="1" strike="noStrike">
              <a:solidFill>
                <a:srgbClr val="5E5B52"/>
              </a:solidFill>
              <a:latin typeface="Malgun Gothic" charset="0"/>
              <a:ea typeface="Malgun Gothic" charset="0"/>
            </a:endParaRPr>
          </a:p>
        </p:txBody>
      </p:sp>
      <p:sp>
        <p:nvSpPr>
          <p:cNvPr id="567" name="Shape 9"/>
          <p:cNvSpPr>
            <a:spLocks/>
          </p:cNvSpPr>
          <p:nvPr/>
        </p:nvSpPr>
        <p:spPr>
          <a:xfrm rot="0">
            <a:off x="2807335"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68" name="Image 1"/>
          <p:cNvPicPr>
            <a:picLocks/>
          </p:cNvPicPr>
          <p:nvPr/>
        </p:nvPicPr>
        <p:blipFill rotWithShape="1">
          <a:blip r:embed="rId2" cstate="print">
            <a:extLst>
              <a:ext uri="{28A0092B-C50C-407E-A947-70E740481C1C}">
                <a14:useLocalDpi xmlns:a14="http://schemas.microsoft.com/office/drawing/2010/main" val="0"/>
              </a:ext>
            </a:extLst>
          </a:blip>
          <a:stretch>
            <a:fillRect/>
          </a:stretch>
        </p:blipFill>
        <p:spPr>
          <a:xfrm rot="0">
            <a:off x="2898775" y="2053590"/>
            <a:ext cx="1874520" cy="1478280"/>
          </a:xfrm>
          <a:prstGeom prst="rect"/>
          <a:noFill/>
          <a:ln>
            <a:noFill/>
            <a:prstDash/>
          </a:ln>
        </p:spPr>
      </p:pic>
      <p:sp>
        <p:nvSpPr>
          <p:cNvPr id="569" name="Shape 10"/>
          <p:cNvSpPr>
            <a:spLocks/>
          </p:cNvSpPr>
          <p:nvPr/>
        </p:nvSpPr>
        <p:spPr>
          <a:xfrm rot="0">
            <a:off x="2944495" y="3653790"/>
            <a:ext cx="421005" cy="421005"/>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70" name="Text 11"/>
          <p:cNvSpPr>
            <a:spLocks/>
          </p:cNvSpPr>
          <p:nvPr/>
        </p:nvSpPr>
        <p:spPr>
          <a:xfrm rot="0">
            <a:off x="2944495"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2</a:t>
            </a:r>
            <a:endParaRPr lang="ko-KR" altLang="en-US" sz="1500" b="1" strike="noStrike">
              <a:solidFill>
                <a:srgbClr val="FFFFFF"/>
              </a:solidFill>
              <a:latin typeface="Malgun Gothic" charset="0"/>
              <a:ea typeface="Malgun Gothic" charset="0"/>
            </a:endParaRPr>
          </a:p>
        </p:txBody>
      </p:sp>
      <p:sp>
        <p:nvSpPr>
          <p:cNvPr id="571" name="Text 12"/>
          <p:cNvSpPr>
            <a:spLocks/>
          </p:cNvSpPr>
          <p:nvPr/>
        </p:nvSpPr>
        <p:spPr>
          <a:xfrm rot="0">
            <a:off x="3447415"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추천 조건</a:t>
            </a:r>
            <a:endParaRPr lang="ko-KR" altLang="en-US" sz="1900" b="1" strike="noStrike">
              <a:solidFill>
                <a:srgbClr val="1E2621"/>
              </a:solidFill>
              <a:latin typeface="Malgun Gothic" charset="0"/>
              <a:ea typeface="Malgun Gothic" charset="0"/>
            </a:endParaRPr>
          </a:p>
        </p:txBody>
      </p:sp>
      <p:sp>
        <p:nvSpPr>
          <p:cNvPr id="572" name="Text 13"/>
          <p:cNvSpPr>
            <a:spLocks/>
          </p:cNvSpPr>
          <p:nvPr/>
        </p:nvSpPr>
        <p:spPr>
          <a:xfrm rot="0">
            <a:off x="2971800"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지역 </a:t>
            </a:r>
            <a:r>
              <a:rPr lang="en-US" sz="1300" b="1" strike="noStrike">
                <a:solidFill>
                  <a:srgbClr val="5E5B52"/>
                </a:solidFill>
                <a:latin typeface="Malgun Gothic" charset="0"/>
                <a:ea typeface="Malgun Gothic" charset="0"/>
              </a:rPr>
              <a:t>· </a:t>
            </a:r>
            <a:r>
              <a:rPr lang="ko-KR" sz="1300" b="1" strike="noStrike">
                <a:solidFill>
                  <a:srgbClr val="5E5B52"/>
                </a:solidFill>
                <a:latin typeface="Malgun Gothic" charset="0"/>
                <a:ea typeface="Malgun Gothic" charset="0"/>
              </a:rPr>
              <a:t>운동 종목 </a:t>
            </a:r>
            <a:r>
              <a:rPr lang="en-US" sz="1300" b="1" strike="noStrike">
                <a:solidFill>
                  <a:srgbClr val="5E5B52"/>
                </a:solidFill>
                <a:latin typeface="Malgun Gothic" charset="0"/>
                <a:ea typeface="Malgun Gothic" charset="0"/>
              </a:rPr>
              <a:t>·</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이동시간 입력</a:t>
            </a:r>
            <a:endParaRPr lang="ko-KR" altLang="en-US" sz="1300" b="1" strike="noStrike">
              <a:solidFill>
                <a:srgbClr val="5E5B52"/>
              </a:solidFill>
              <a:latin typeface="Malgun Gothic" charset="0"/>
              <a:ea typeface="Malgun Gothic" charset="0"/>
            </a:endParaRPr>
          </a:p>
        </p:txBody>
      </p:sp>
      <p:sp>
        <p:nvSpPr>
          <p:cNvPr id="573" name="Shape 14"/>
          <p:cNvSpPr>
            <a:spLocks/>
          </p:cNvSpPr>
          <p:nvPr/>
        </p:nvSpPr>
        <p:spPr>
          <a:xfrm rot="0">
            <a:off x="5066030"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74" name="Image 2"/>
          <p:cNvPicPr>
            <a:picLocks/>
          </p:cNvPicPr>
          <p:nvPr/>
        </p:nvPicPr>
        <p:blipFill rotWithShape="1">
          <a:blip r:embed="rId3" cstate="print">
            <a:extLst>
              <a:ext uri="{28A0092B-C50C-407E-A947-70E740481C1C}">
                <a14:useLocalDpi xmlns:a14="http://schemas.microsoft.com/office/drawing/2010/main" val="0"/>
              </a:ext>
            </a:extLst>
          </a:blip>
          <a:stretch>
            <a:fillRect/>
          </a:stretch>
        </p:blipFill>
        <p:spPr>
          <a:xfrm rot="0">
            <a:off x="5157470" y="2053590"/>
            <a:ext cx="1874520" cy="1478280"/>
          </a:xfrm>
          <a:prstGeom prst="rect"/>
          <a:noFill/>
          <a:ln>
            <a:noFill/>
            <a:prstDash/>
          </a:ln>
        </p:spPr>
      </p:pic>
      <p:sp>
        <p:nvSpPr>
          <p:cNvPr id="575" name="Shape 15"/>
          <p:cNvSpPr>
            <a:spLocks/>
          </p:cNvSpPr>
          <p:nvPr/>
        </p:nvSpPr>
        <p:spPr>
          <a:xfrm rot="0">
            <a:off x="5203190" y="3653790"/>
            <a:ext cx="421005" cy="421005"/>
          </a:xfrm>
          <a:prstGeom prst="ellipse"/>
          <a:solidFill>
            <a:srgbClr val="B5654A"/>
          </a:solidFill>
          <a:ln w="12700" cap="flat" cmpd="sng">
            <a:solidFill>
              <a:srgbClr val="B5654A">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76" name="Text 16"/>
          <p:cNvSpPr>
            <a:spLocks/>
          </p:cNvSpPr>
          <p:nvPr/>
        </p:nvSpPr>
        <p:spPr>
          <a:xfrm rot="0">
            <a:off x="5203190"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3</a:t>
            </a:r>
            <a:endParaRPr lang="ko-KR" altLang="en-US" sz="1500" b="1" strike="noStrike">
              <a:solidFill>
                <a:srgbClr val="FFFFFF"/>
              </a:solidFill>
              <a:latin typeface="Malgun Gothic" charset="0"/>
              <a:ea typeface="Malgun Gothic" charset="0"/>
            </a:endParaRPr>
          </a:p>
        </p:txBody>
      </p:sp>
      <p:sp>
        <p:nvSpPr>
          <p:cNvPr id="577" name="Text 17"/>
          <p:cNvSpPr>
            <a:spLocks/>
          </p:cNvSpPr>
          <p:nvPr/>
        </p:nvSpPr>
        <p:spPr>
          <a:xfrm rot="0">
            <a:off x="5706110"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추천 결과</a:t>
            </a:r>
            <a:endParaRPr lang="ko-KR" altLang="en-US" sz="1900" b="1" strike="noStrike">
              <a:solidFill>
                <a:srgbClr val="1E2621"/>
              </a:solidFill>
              <a:latin typeface="Malgun Gothic" charset="0"/>
              <a:ea typeface="Malgun Gothic" charset="0"/>
            </a:endParaRPr>
          </a:p>
        </p:txBody>
      </p:sp>
      <p:sp>
        <p:nvSpPr>
          <p:cNvPr id="578" name="Text 18"/>
          <p:cNvSpPr>
            <a:spLocks/>
          </p:cNvSpPr>
          <p:nvPr/>
        </p:nvSpPr>
        <p:spPr>
          <a:xfrm rot="0">
            <a:off x="5230495"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거리 </a:t>
            </a:r>
            <a:r>
              <a:rPr lang="en-US" sz="1300" b="1" strike="noStrike">
                <a:solidFill>
                  <a:srgbClr val="5E5B52"/>
                </a:solidFill>
                <a:latin typeface="Malgun Gothic" charset="0"/>
                <a:ea typeface="Malgun Gothic" charset="0"/>
              </a:rPr>
              <a:t>· </a:t>
            </a:r>
            <a:r>
              <a:rPr lang="ko-KR" sz="1300" b="1" strike="noStrike">
                <a:solidFill>
                  <a:srgbClr val="5E5B52"/>
                </a:solidFill>
                <a:latin typeface="Malgun Gothic" charset="0"/>
                <a:ea typeface="Malgun Gothic" charset="0"/>
              </a:rPr>
              <a:t>환경 조건이</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추천 이유로</a:t>
            </a:r>
            <a:endParaRPr lang="ko-KR" altLang="en-US" sz="1300" b="1" strike="noStrike">
              <a:solidFill>
                <a:srgbClr val="5E5B52"/>
              </a:solidFill>
              <a:latin typeface="Malgun Gothic" charset="0"/>
              <a:ea typeface="Malgun Gothic" charset="0"/>
            </a:endParaRPr>
          </a:p>
        </p:txBody>
      </p:sp>
      <p:sp>
        <p:nvSpPr>
          <p:cNvPr id="579" name="Shape 19"/>
          <p:cNvSpPr>
            <a:spLocks/>
          </p:cNvSpPr>
          <p:nvPr/>
        </p:nvSpPr>
        <p:spPr>
          <a:xfrm rot="0">
            <a:off x="7324090"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80" name="Image 3"/>
          <p:cNvPicPr>
            <a:picLocks/>
          </p:cNvPicPr>
          <p:nvPr/>
        </p:nvPicPr>
        <p:blipFill rotWithShape="1">
          <a:blip r:embed="rId4" cstate="print">
            <a:extLst>
              <a:ext uri="{28A0092B-C50C-407E-A947-70E740481C1C}">
                <a14:useLocalDpi xmlns:a14="http://schemas.microsoft.com/office/drawing/2010/main" val="0"/>
              </a:ext>
            </a:extLst>
          </a:blip>
          <a:stretch>
            <a:fillRect/>
          </a:stretch>
        </p:blipFill>
        <p:spPr>
          <a:xfrm rot="0">
            <a:off x="7415530" y="2053590"/>
            <a:ext cx="1874520" cy="1478280"/>
          </a:xfrm>
          <a:prstGeom prst="rect"/>
          <a:noFill/>
          <a:ln>
            <a:noFill/>
            <a:prstDash/>
          </a:ln>
        </p:spPr>
      </p:pic>
      <p:sp>
        <p:nvSpPr>
          <p:cNvPr id="581" name="Shape 20"/>
          <p:cNvSpPr>
            <a:spLocks/>
          </p:cNvSpPr>
          <p:nvPr/>
        </p:nvSpPr>
        <p:spPr>
          <a:xfrm rot="0">
            <a:off x="7461250" y="3653790"/>
            <a:ext cx="421005" cy="421005"/>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82" name="Text 21"/>
          <p:cNvSpPr>
            <a:spLocks/>
          </p:cNvSpPr>
          <p:nvPr/>
        </p:nvSpPr>
        <p:spPr>
          <a:xfrm rot="0">
            <a:off x="7461250"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4</a:t>
            </a:r>
            <a:endParaRPr lang="ko-KR" altLang="en-US" sz="1500" b="1" strike="noStrike">
              <a:solidFill>
                <a:srgbClr val="FFFFFF"/>
              </a:solidFill>
              <a:latin typeface="Malgun Gothic" charset="0"/>
              <a:ea typeface="Malgun Gothic" charset="0"/>
            </a:endParaRPr>
          </a:p>
        </p:txBody>
      </p:sp>
      <p:sp>
        <p:nvSpPr>
          <p:cNvPr id="583" name="Text 22"/>
          <p:cNvSpPr>
            <a:spLocks/>
          </p:cNvSpPr>
          <p:nvPr/>
        </p:nvSpPr>
        <p:spPr>
          <a:xfrm rot="0">
            <a:off x="7964170"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운동 기록</a:t>
            </a:r>
            <a:endParaRPr lang="ko-KR" altLang="en-US" sz="1900" b="1" strike="noStrike">
              <a:solidFill>
                <a:srgbClr val="1E2621"/>
              </a:solidFill>
              <a:latin typeface="Malgun Gothic" charset="0"/>
              <a:ea typeface="Malgun Gothic" charset="0"/>
            </a:endParaRPr>
          </a:p>
        </p:txBody>
      </p:sp>
      <p:sp>
        <p:nvSpPr>
          <p:cNvPr id="584" name="Text 23"/>
          <p:cNvSpPr>
            <a:spLocks/>
          </p:cNvSpPr>
          <p:nvPr/>
        </p:nvSpPr>
        <p:spPr>
          <a:xfrm rot="0">
            <a:off x="7489190"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칼로리 기록 →</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보상 </a:t>
            </a:r>
            <a:r>
              <a:rPr lang="en-US" sz="1300" b="1" strike="noStrike">
                <a:solidFill>
                  <a:srgbClr val="5E5B52"/>
                </a:solidFill>
                <a:latin typeface="Malgun Gothic" charset="0"/>
                <a:ea typeface="Malgun Gothic" charset="0"/>
              </a:rPr>
              <a:t>· </a:t>
            </a:r>
            <a:r>
              <a:rPr lang="ko-KR" sz="1300" b="1" strike="noStrike">
                <a:solidFill>
                  <a:srgbClr val="5E5B52"/>
                </a:solidFill>
                <a:latin typeface="Malgun Gothic" charset="0"/>
                <a:ea typeface="Malgun Gothic" charset="0"/>
              </a:rPr>
              <a:t>방 변화</a:t>
            </a:r>
            <a:endParaRPr lang="ko-KR" altLang="en-US" sz="1300" b="1" strike="noStrike">
              <a:solidFill>
                <a:srgbClr val="5E5B52"/>
              </a:solidFill>
              <a:latin typeface="Malgun Gothic" charset="0"/>
              <a:ea typeface="Malgun Gothic" charset="0"/>
            </a:endParaRPr>
          </a:p>
        </p:txBody>
      </p:sp>
      <p:sp>
        <p:nvSpPr>
          <p:cNvPr id="585" name="Shape 24"/>
          <p:cNvSpPr>
            <a:spLocks/>
          </p:cNvSpPr>
          <p:nvPr/>
        </p:nvSpPr>
        <p:spPr>
          <a:xfrm rot="0">
            <a:off x="9582785" y="1962150"/>
            <a:ext cx="2057400" cy="3200400"/>
          </a:xfrm>
          <a:prstGeom prst="roundRect">
            <a:avLst>
              <a:gd name="adj" fmla="val 6222"/>
            </a:avLst>
          </a:prstGeom>
          <a:solidFill>
            <a:srgbClr val="FFFCF6"/>
          </a:solidFill>
          <a:ln w="12700" cap="flat" cmpd="sng">
            <a:solidFill>
              <a:srgbClr val="D8CBB2">
                <a:alpha val="100000"/>
              </a:srgbClr>
            </a:solidFill>
            <a:prstDash val="solid"/>
            <a:round/>
          </a:ln>
          <a:effectLst>
            <a:outerShdw sx="100000" sy="100000" blurRad="101520" dist="25560" dir="5400000" rotWithShape="0" algn="bl">
              <a:srgbClr val="8A7A5C">
                <a:alpha val="17647"/>
              </a:srgbClr>
            </a:outerShdw>
          </a:effectLst>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pic>
        <p:nvPicPr>
          <p:cNvPr id="586" name="Image 4"/>
          <p:cNvPicPr>
            <a:picLocks/>
          </p:cNvPicPr>
          <p:nvPr/>
        </p:nvPicPr>
        <p:blipFill rotWithShape="1">
          <a:blip r:embed="rId5" cstate="print">
            <a:extLst>
              <a:ext uri="{28A0092B-C50C-407E-A947-70E740481C1C}">
                <a14:useLocalDpi xmlns:a14="http://schemas.microsoft.com/office/drawing/2010/main" val="0"/>
              </a:ext>
            </a:extLst>
          </a:blip>
          <a:stretch>
            <a:fillRect/>
          </a:stretch>
        </p:blipFill>
        <p:spPr>
          <a:xfrm rot="0">
            <a:off x="9674225" y="2053590"/>
            <a:ext cx="1874520" cy="1478280"/>
          </a:xfrm>
          <a:prstGeom prst="rect"/>
          <a:noFill/>
          <a:ln>
            <a:noFill/>
            <a:prstDash/>
          </a:ln>
        </p:spPr>
      </p:pic>
      <p:sp>
        <p:nvSpPr>
          <p:cNvPr id="587" name="Shape 25"/>
          <p:cNvSpPr>
            <a:spLocks/>
          </p:cNvSpPr>
          <p:nvPr/>
        </p:nvSpPr>
        <p:spPr>
          <a:xfrm rot="0">
            <a:off x="9719945" y="3653790"/>
            <a:ext cx="421005" cy="421005"/>
          </a:xfrm>
          <a:prstGeom prst="ellipse"/>
          <a:solidFill>
            <a:srgbClr val="2E5A46"/>
          </a:solidFill>
          <a:ln w="12700" cap="flat" cmpd="sng">
            <a:solidFill>
              <a:srgbClr val="2E5A46">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000000"/>
              </a:solidFill>
              <a:latin typeface="Noto Sans KR" charset="0"/>
            </a:endParaRPr>
          </a:p>
        </p:txBody>
      </p:sp>
      <p:sp>
        <p:nvSpPr>
          <p:cNvPr id="588" name="Text 26"/>
          <p:cNvSpPr>
            <a:spLocks/>
          </p:cNvSpPr>
          <p:nvPr/>
        </p:nvSpPr>
        <p:spPr>
          <a:xfrm rot="0">
            <a:off x="9719945" y="3653790"/>
            <a:ext cx="421005" cy="42100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500" b="1" strike="noStrike">
                <a:solidFill>
                  <a:srgbClr val="FFFFFF"/>
                </a:solidFill>
                <a:latin typeface="Malgun Gothic" charset="0"/>
                <a:ea typeface="Malgun Gothic" charset="0"/>
              </a:rPr>
              <a:t>5</a:t>
            </a:r>
            <a:endParaRPr lang="ko-KR" altLang="en-US" sz="1500" b="1" strike="noStrike">
              <a:solidFill>
                <a:srgbClr val="FFFFFF"/>
              </a:solidFill>
              <a:latin typeface="Malgun Gothic" charset="0"/>
              <a:ea typeface="Malgun Gothic" charset="0"/>
            </a:endParaRPr>
          </a:p>
        </p:txBody>
      </p:sp>
      <p:sp>
        <p:nvSpPr>
          <p:cNvPr id="589" name="Text 27"/>
          <p:cNvSpPr>
            <a:spLocks/>
          </p:cNvSpPr>
          <p:nvPr/>
        </p:nvSpPr>
        <p:spPr>
          <a:xfrm rot="0">
            <a:off x="10222865" y="3653790"/>
            <a:ext cx="1325880" cy="421005"/>
          </a:xfrm>
          <a:prstGeom prst="rect"/>
          <a:noFill/>
          <a:ln>
            <a:noFill/>
            <a:prstDash/>
          </a:ln>
        </p:spPr>
        <p:style>
          <a:lnRef idx="0"/>
          <a:fillRef idx="0"/>
          <a:effectRef idx="0"/>
          <a:fontRef idx="minor"/>
        </p:style>
        <p:txBody>
          <a:bodyPr wrap="square" lIns="0" tIns="0" rIns="0" bIns="0" numCol="1" vert="horz" anchor="ctr">
            <a:noAutofit/>
          </a:bodyPr>
          <a:lstStyle/>
          <a:p>
            <a:pPr marL="0" indent="0" defTabSz="914400">
              <a:lnSpc>
                <a:spcPct val="100000"/>
              </a:lnSpc>
              <a:buFontTx/>
              <a:buNone/>
              <a:tabLst>
                <a:tab pos="0" algn="l"/>
              </a:tabLst>
            </a:pPr>
            <a:r>
              <a:rPr lang="ko-KR" sz="1900" b="1" strike="noStrike">
                <a:solidFill>
                  <a:srgbClr val="1E2621"/>
                </a:solidFill>
                <a:latin typeface="Malgun Gothic" charset="0"/>
                <a:ea typeface="Malgun Gothic" charset="0"/>
              </a:rPr>
              <a:t>친구 방문</a:t>
            </a:r>
            <a:endParaRPr lang="ko-KR" altLang="en-US" sz="1900" b="1" strike="noStrike">
              <a:solidFill>
                <a:srgbClr val="1E2621"/>
              </a:solidFill>
              <a:latin typeface="Malgun Gothic" charset="0"/>
              <a:ea typeface="Malgun Gothic" charset="0"/>
            </a:endParaRPr>
          </a:p>
        </p:txBody>
      </p:sp>
      <p:sp>
        <p:nvSpPr>
          <p:cNvPr id="590" name="Text 28"/>
          <p:cNvSpPr>
            <a:spLocks/>
          </p:cNvSpPr>
          <p:nvPr/>
        </p:nvSpPr>
        <p:spPr>
          <a:xfrm rot="0">
            <a:off x="9747250" y="4248150"/>
            <a:ext cx="1783080" cy="822960"/>
          </a:xfrm>
          <a:prstGeom prst="rect"/>
          <a:noFill/>
          <a:ln>
            <a:noFill/>
            <a:prstDash/>
          </a:ln>
        </p:spPr>
        <p:style>
          <a:lnRef idx="0"/>
          <a:fillRef idx="0"/>
          <a:effectRef idx="0"/>
          <a:fontRef idx="minor"/>
        </p:style>
        <p:txBody>
          <a:bodyPr wrap="square" lIns="0" tIns="0" rIns="0" bIns="0" numCol="1" vert="horz" anchor="t">
            <a:noAutofit/>
          </a:bodyPr>
          <a:lstStyle/>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나의 공간과 활동을</a:t>
            </a:r>
            <a:endParaRPr lang="ko-KR" altLang="en-US" sz="1300" b="1" strike="noStrike">
              <a:solidFill>
                <a:srgbClr val="5E5B52"/>
              </a:solidFill>
              <a:latin typeface="Malgun Gothic" charset="0"/>
              <a:ea typeface="Malgun Gothic" charset="0"/>
            </a:endParaRPr>
          </a:p>
          <a:p>
            <a:pPr marL="0" indent="0" defTabSz="914400">
              <a:lnSpc>
                <a:spcPct val="110000"/>
              </a:lnSpc>
              <a:buFontTx/>
              <a:buNone/>
              <a:tabLst>
                <a:tab pos="0" algn="l"/>
              </a:tabLst>
            </a:pPr>
            <a:r>
              <a:rPr lang="ko-KR" sz="1300" b="1" strike="noStrike">
                <a:solidFill>
                  <a:srgbClr val="5E5B52"/>
                </a:solidFill>
                <a:latin typeface="Malgun Gothic" charset="0"/>
                <a:ea typeface="Malgun Gothic" charset="0"/>
              </a:rPr>
              <a:t>친구와 공유</a:t>
            </a:r>
            <a:endParaRPr lang="ko-KR" altLang="en-US" sz="1300" b="1" strike="noStrike">
              <a:solidFill>
                <a:srgbClr val="5E5B52"/>
              </a:solidFill>
              <a:latin typeface="Malgun Gothic" charset="0"/>
              <a:ea typeface="Malgun Gothic" charset="0"/>
            </a:endParaRPr>
          </a:p>
        </p:txBody>
      </p:sp>
      <p:sp>
        <p:nvSpPr>
          <p:cNvPr id="591" name="Shape 29"/>
          <p:cNvSpPr>
            <a:spLocks/>
          </p:cNvSpPr>
          <p:nvPr/>
        </p:nvSpPr>
        <p:spPr>
          <a:xfrm rot="0">
            <a:off x="3108960" y="5783580"/>
            <a:ext cx="5943600" cy="475615"/>
          </a:xfrm>
          <a:prstGeom prst="roundRect">
            <a:avLst>
              <a:gd name="adj" fmla="val 50000"/>
            </a:avLst>
          </a:prstGeom>
          <a:solidFill>
            <a:srgbClr val="1E3B2F"/>
          </a:solidFill>
          <a:ln w="12700" cap="flat" cmpd="sng">
            <a:solidFill>
              <a:srgbClr val="1E3B2F">
                <a:alpha val="100000"/>
              </a:srgbClr>
            </a:solidFill>
            <a:prstDash val="solid"/>
            <a:round/>
          </a:ln>
        </p:spPr>
        <p:style>
          <a:lnRef idx="0"/>
          <a:fillRef idx="0"/>
          <a:effectRef idx="0"/>
          <a:fontRef idx="minor"/>
        </p:style>
        <p:txBody>
          <a:bodyPr wrap="square" lIns="90170" tIns="45085" rIns="90170" bIns="45085" numCol="1" vert="horz" anchor="t">
            <a:noAutofit/>
          </a:bodyPr>
          <a:lstStyle/>
          <a:p>
            <a:pPr marL="0" indent="0">
              <a:buFontTx/>
              <a:buNone/>
            </a:pPr>
            <a:endParaRPr lang="ko-KR" altLang="en-US" sz="1800" b="0" strike="noStrike">
              <a:solidFill>
                <a:srgbClr val="FFFFFF"/>
              </a:solidFill>
              <a:latin typeface="Noto Sans KR" charset="0"/>
            </a:endParaRPr>
          </a:p>
        </p:txBody>
      </p:sp>
      <p:sp>
        <p:nvSpPr>
          <p:cNvPr id="592" name="Text 30"/>
          <p:cNvSpPr>
            <a:spLocks/>
          </p:cNvSpPr>
          <p:nvPr/>
        </p:nvSpPr>
        <p:spPr>
          <a:xfrm rot="0">
            <a:off x="3108960" y="5783580"/>
            <a:ext cx="5943600" cy="475615"/>
          </a:xfrm>
          <a:prstGeom prst="rect"/>
          <a:noFill/>
          <a:ln>
            <a:noFill/>
            <a:prstDash/>
          </a:ln>
        </p:spPr>
        <p:style>
          <a:lnRef idx="0"/>
          <a:fillRef idx="0"/>
          <a:effectRef idx="0"/>
          <a:fontRef idx="minor"/>
        </p:style>
        <p:txBody>
          <a:bodyPr wrap="square" lIns="0" tIns="0" rIns="0" bIns="0" numCol="1" vert="horz" anchor="ctr">
            <a:noAutofit/>
          </a:bodyPr>
          <a:lstStyle/>
          <a:p>
            <a:pPr marL="0" indent="0" algn="ctr" defTabSz="914400">
              <a:lnSpc>
                <a:spcPct val="100000"/>
              </a:lnSpc>
              <a:buFontTx/>
              <a:buNone/>
              <a:tabLst>
                <a:tab pos="0" algn="l"/>
              </a:tabLst>
            </a:pPr>
            <a:r>
              <a:rPr lang="en-US" sz="1400" b="1" strike="noStrike">
                <a:solidFill>
                  <a:srgbClr val="FFFFFF"/>
                </a:solidFill>
                <a:latin typeface="Malgun Gothic" charset="0"/>
                <a:ea typeface="Malgun Gothic" charset="0"/>
              </a:rPr>
              <a:t>LIVE DEMO   hkjfduhalihufsduahufahoiuw.onrender.com</a:t>
            </a:r>
            <a:endParaRPr lang="ko-KR" altLang="en-US" sz="1400" b="1" strike="noStrike">
              <a:solidFill>
                <a:srgbClr val="FFFFFF"/>
              </a:solidFill>
              <a:latin typeface="Malgun Gothic" charset="0"/>
              <a:ea typeface="Malgun Gothic" charset="0"/>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3B2F"/>
        </a:solidFill>
      </p:bgPr>
    </p:bg>
    <p:spTree>
      <p:nvGrpSpPr>
        <p:cNvPr id="1" name=""/>
        <p:cNvGrpSpPr/>
        <p:nvPr/>
      </p:nvGrpSpPr>
      <p:grpSpPr>
        <a:xfrm>
          <a:off x="0" y="0"/>
          <a:ext cx="0" cy="0"/>
          <a:chOff x="0" y="0"/>
          <a:chExt cx="0" cy="0"/>
        </a:xfrm>
      </p:grpSpPr>
      <p:sp>
        <p:nvSpPr>
          <p:cNvPr id="593" name="Shape 0"/>
          <p:cNvSpPr/>
          <p:nvPr/>
        </p:nvSpPr>
        <p:spPr>
          <a:xfrm>
            <a:off x="640080" y="575945"/>
            <a:ext cx="5156835" cy="2741930"/>
          </a:xfrm>
          <a:prstGeom prst="roundRect">
            <a:avLst>
              <a:gd name="adj" fmla="val 466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594" name="Image 0"/>
          <p:cNvPicPr/>
          <p:nvPr/>
        </p:nvPicPr>
        <p:blipFill>
          <a:blip r:embed="rId1"/>
          <a:stretch/>
        </p:blipFill>
        <p:spPr>
          <a:xfrm>
            <a:off x="749935" y="685800"/>
            <a:ext cx="4937125" cy="2522220"/>
          </a:xfrm>
          <a:prstGeom prst="rect">
            <a:avLst/>
          </a:prstGeom>
          <a:ln w="0">
            <a:noFill/>
          </a:ln>
        </p:spPr>
      </p:pic>
      <p:sp>
        <p:nvSpPr>
          <p:cNvPr id="595" name="Shape 1"/>
          <p:cNvSpPr/>
          <p:nvPr/>
        </p:nvSpPr>
        <p:spPr>
          <a:xfrm>
            <a:off x="6391910" y="575945"/>
            <a:ext cx="5156835" cy="2741930"/>
          </a:xfrm>
          <a:prstGeom prst="roundRect">
            <a:avLst>
              <a:gd name="adj" fmla="val 4668"/>
            </a:avLst>
          </a:prstGeom>
          <a:solidFill>
            <a:srgbClr val="fffcf6"/>
          </a:solidFill>
          <a:ln w="12700">
            <a:solidFill>
              <a:srgbClr val="d8cbb2"/>
            </a:solidFill>
            <a:round/>
          </a:ln>
          <a:effectLst>
            <a:outerShdw algn="bl" blurRad="101520" dir="5400000" dist="25560" kx="0" ky="0" rotWithShape="0" sx="100000" sy="100000">
              <a:srgbClr val="8a7a5c">
                <a:alpha val="18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pic>
        <p:nvPicPr>
          <p:cNvPr id="596" name="Image 1" descr="C:/Users/Playdata/AppData/Roaming/PolarisOffice/ETemp/24284_16199192/fImage1342766105441.png"/>
          <p:cNvPicPr>
            <a:picLocks/>
          </p:cNvPicPr>
          <p:nvPr/>
        </p:nvPicPr>
        <p:blipFill rotWithShape="1">
          <a:blip r:embed="rId5" cstate="print">
            <a:extLst>
              <a:ext uri="{28A0092B-C50C-407E-A947-70E740481C1C}">
                <a14:useLocalDpi xmlns:a14="http://schemas.microsoft.com/office/drawing/2010/main" val="0"/>
              </a:ext>
            </a:extLst>
          </a:blip>
          <a:srcRect t="11581"/>
          <a:stretch>
            <a:fillRect/>
          </a:stretch>
        </p:blipFill>
        <p:spPr>
          <a:xfrm rot="0">
            <a:off x="6423025" y="693420"/>
            <a:ext cx="5054600" cy="2515235"/>
          </a:xfrm>
          <a:prstGeom prst="rect"/>
          <a:noFill/>
          <a:ln>
            <a:noFill/>
            <a:prstDash/>
          </a:ln>
        </p:spPr>
      </p:pic>
      <p:sp>
        <p:nvSpPr>
          <p:cNvPr id="597" name="Shape 2"/>
          <p:cNvSpPr/>
          <p:nvPr/>
        </p:nvSpPr>
        <p:spPr>
          <a:xfrm>
            <a:off x="5852160" y="1737360"/>
            <a:ext cx="502285" cy="328930"/>
          </a:xfrm>
          <a:prstGeom prst="rightArrow">
            <a:avLst>
              <a:gd name="adj1" fmla="val 50000"/>
              <a:gd name="adj2" fmla="val 50000"/>
            </a:avLst>
          </a:prstGeom>
          <a:solidFill>
            <a:srgbClr val="d9a441"/>
          </a:solidFill>
          <a:ln w="12700">
            <a:solidFill>
              <a:srgbClr val="d9a44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Noto Sans KR"/>
            </a:endParaRPr>
          </a:p>
        </p:txBody>
      </p:sp>
      <p:sp>
        <p:nvSpPr>
          <p:cNvPr id="598" name="Text 3"/>
          <p:cNvSpPr/>
          <p:nvPr/>
        </p:nvSpPr>
        <p:spPr>
          <a:xfrm>
            <a:off x="731520" y="3520440"/>
            <a:ext cx="10697845" cy="1736725"/>
          </a:xfrm>
          <a:prstGeom prst="rect">
            <a:avLst/>
          </a:prstGeom>
          <a:noFill/>
          <a:ln w="0">
            <a:noFill/>
          </a:ln>
        </p:spPr>
        <p:style>
          <a:lnRef idx="0"/>
          <a:fillRef idx="0"/>
          <a:effectRef idx="0"/>
          <a:fontRef idx="minor"/>
        </p:style>
        <p:txBody>
          <a:bodyPr lIns="0" rIns="0" tIns="0" bIns="0" anchor="t">
            <a:noAutofit/>
          </a:bodyPr>
          <a:p>
            <a:pPr defTabSz="914400">
              <a:lnSpc>
                <a:spcPct val="115000"/>
              </a:lnSpc>
              <a:tabLst>
                <a:tab algn="l" pos="0"/>
              </a:tabLst>
            </a:pPr>
            <a:r>
              <a:rPr b="1" lang="ko-KR" sz="3400" spc="-1" strike="noStrike">
                <a:solidFill>
                  <a:srgbClr val="b9cfc2"/>
                </a:solidFill>
                <a:latin typeface="Malgun Gothic"/>
                <a:ea typeface="Malgun Gothic"/>
              </a:rPr>
              <a:t>예전에는 내 방을 꾸미려고 접속했다면</a:t>
            </a:r>
            <a:r>
              <a:rPr b="1" lang="en-US" sz="3400" spc="-1" strike="noStrike">
                <a:solidFill>
                  <a:srgbClr val="b9cfc2"/>
                </a:solidFill>
                <a:latin typeface="Malgun Gothic"/>
                <a:ea typeface="Malgun Gothic"/>
              </a:rPr>
              <a:t>,</a:t>
            </a:r>
            <a:endParaRPr b="0" lang="en-US" sz="3400" spc="-1" strike="noStrike">
              <a:solidFill>
                <a:srgbClr val="ffffff"/>
              </a:solidFill>
              <a:latin typeface="Noto Sans KR"/>
            </a:endParaRPr>
          </a:p>
          <a:p>
            <a:pPr defTabSz="914400">
              <a:lnSpc>
                <a:spcPct val="115000"/>
              </a:lnSpc>
              <a:tabLst>
                <a:tab algn="l" pos="0"/>
              </a:tabLst>
            </a:pPr>
            <a:r>
              <a:rPr b="1" lang="ko-KR" sz="3400" spc="-1" strike="noStrike">
                <a:solidFill>
                  <a:srgbClr val="f7f1e6"/>
                </a:solidFill>
                <a:latin typeface="Malgun Gothic"/>
                <a:ea typeface="Malgun Gothic"/>
              </a:rPr>
              <a:t>이제는 운동으로 내 방을 채우는</a:t>
            </a:r>
            <a:endParaRPr b="0" lang="en-US" sz="3400" spc="-1" strike="noStrike">
              <a:solidFill>
                <a:srgbClr val="ffffff"/>
              </a:solidFill>
              <a:latin typeface="Noto Sans KR"/>
            </a:endParaRPr>
          </a:p>
          <a:p>
            <a:pPr defTabSz="914400">
              <a:lnSpc>
                <a:spcPct val="115000"/>
              </a:lnSpc>
              <a:tabLst>
                <a:tab algn="l" pos="0"/>
              </a:tabLst>
            </a:pPr>
            <a:r>
              <a:rPr b="1" lang="ko-KR" sz="3400" spc="-1" strike="noStrike">
                <a:solidFill>
                  <a:srgbClr val="d9a441"/>
                </a:solidFill>
                <a:latin typeface="Malgun Gothic"/>
                <a:ea typeface="Malgun Gothic"/>
              </a:rPr>
              <a:t>경험을 만들고 싶었습니다</a:t>
            </a:r>
            <a:r>
              <a:rPr b="1" lang="en-US" sz="3400" spc="-1" strike="noStrike">
                <a:solidFill>
                  <a:srgbClr val="d9a441"/>
                </a:solidFill>
                <a:latin typeface="Malgun Gothic"/>
                <a:ea typeface="Malgun Gothic"/>
              </a:rPr>
              <a:t>.</a:t>
            </a:r>
            <a:endParaRPr b="0" lang="en-US" sz="3400" spc="-1" strike="noStrike">
              <a:solidFill>
                <a:srgbClr val="ffffff"/>
              </a:solidFill>
              <a:latin typeface="Noto Sans KR"/>
            </a:endParaRPr>
          </a:p>
        </p:txBody>
      </p:sp>
      <p:sp>
        <p:nvSpPr>
          <p:cNvPr id="599" name="Text 4"/>
          <p:cNvSpPr/>
          <p:nvPr/>
        </p:nvSpPr>
        <p:spPr>
          <a:xfrm>
            <a:off x="731520" y="5486400"/>
            <a:ext cx="4571365" cy="50228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2400" spc="-1" strike="noStrike">
                <a:solidFill>
                  <a:srgbClr val="f7f1e6"/>
                </a:solidFill>
                <a:latin typeface="Malgun Gothic"/>
                <a:ea typeface="Malgun Gothic"/>
              </a:rPr>
              <a:t>감사합니다</a:t>
            </a:r>
            <a:endParaRPr b="0" lang="en-US" sz="2400" spc="-1" strike="noStrike">
              <a:solidFill>
                <a:srgbClr val="ffffff"/>
              </a:solidFill>
              <a:latin typeface="Noto Sans KR"/>
            </a:endParaRPr>
          </a:p>
        </p:txBody>
      </p:sp>
      <p:sp>
        <p:nvSpPr>
          <p:cNvPr id="600" name="Text 5"/>
          <p:cNvSpPr/>
          <p:nvPr/>
        </p:nvSpPr>
        <p:spPr>
          <a:xfrm>
            <a:off x="731520" y="6016625"/>
            <a:ext cx="7314565" cy="319405"/>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ko-KR" sz="1400" spc="-1" strike="noStrike">
                <a:solidFill>
                  <a:srgbClr val="9db5a8"/>
                </a:solidFill>
                <a:latin typeface="Malgun Gothic"/>
                <a:ea typeface="Malgun Gothic"/>
              </a:rPr>
              <a:t>팀 </a:t>
            </a:r>
            <a:r>
              <a:rPr b="1" lang="en-US" sz="1400" spc="-1" strike="noStrike">
                <a:solidFill>
                  <a:srgbClr val="9db5a8"/>
                </a:solidFill>
                <a:latin typeface="Malgun Gothic"/>
                <a:ea typeface="Malgun Gothic"/>
              </a:rPr>
              <a:t>MOTIVE   </a:t>
            </a:r>
            <a:r>
              <a:rPr b="1" lang="ko-KR" sz="1400" spc="-1" strike="noStrike">
                <a:solidFill>
                  <a:srgbClr val="9db5a8"/>
                </a:solidFill>
                <a:latin typeface="Malgun Gothic"/>
                <a:ea typeface="Malgun Gothic"/>
              </a:rPr>
              <a:t>신경호 </a:t>
            </a:r>
            <a:r>
              <a:rPr b="1" lang="en-US" sz="1400" spc="-1" strike="noStrike">
                <a:solidFill>
                  <a:srgbClr val="9db5a8"/>
                </a:solidFill>
                <a:latin typeface="Malgun Gothic"/>
                <a:ea typeface="Malgun Gothic"/>
              </a:rPr>
              <a:t>· </a:t>
            </a:r>
            <a:r>
              <a:rPr b="1" lang="ko-KR" sz="1400" spc="-1" strike="noStrike">
                <a:solidFill>
                  <a:srgbClr val="9db5a8"/>
                </a:solidFill>
                <a:latin typeface="Malgun Gothic"/>
                <a:ea typeface="Malgun Gothic"/>
              </a:rPr>
              <a:t>류지예 </a:t>
            </a:r>
            <a:r>
              <a:rPr b="1" lang="en-US" sz="1400" spc="-1" strike="noStrike">
                <a:solidFill>
                  <a:srgbClr val="9db5a8"/>
                </a:solidFill>
                <a:latin typeface="Malgun Gothic"/>
                <a:ea typeface="Malgun Gothic"/>
              </a:rPr>
              <a:t>· </a:t>
            </a:r>
            <a:r>
              <a:rPr b="1" lang="ko-KR" sz="1400" spc="-1" strike="noStrike">
                <a:solidFill>
                  <a:srgbClr val="9db5a8"/>
                </a:solidFill>
                <a:latin typeface="Malgun Gothic"/>
                <a:ea typeface="Malgun Gothic"/>
              </a:rPr>
              <a:t>백선영 </a:t>
            </a:r>
            <a:r>
              <a:rPr b="1" lang="en-US" sz="1400" spc="-1" strike="noStrike">
                <a:solidFill>
                  <a:srgbClr val="9db5a8"/>
                </a:solidFill>
                <a:latin typeface="Malgun Gothic"/>
                <a:ea typeface="Malgun Gothic"/>
              </a:rPr>
              <a:t>· </a:t>
            </a:r>
            <a:r>
              <a:rPr b="1" lang="ko-KR" sz="1400" spc="-1" strike="noStrike">
                <a:solidFill>
                  <a:srgbClr val="9db5a8"/>
                </a:solidFill>
                <a:latin typeface="Malgun Gothic"/>
                <a:ea typeface="Malgun Gothic"/>
              </a:rPr>
              <a:t>김형준</a:t>
            </a:r>
            <a:endParaRPr b="0" lang="en-US" sz="1400" spc="-1" strike="noStrike">
              <a:solidFill>
                <a:srgbClr val="ffffff"/>
              </a:solidFill>
              <a:latin typeface="Noto Sans KR"/>
            </a:endParaRPr>
          </a:p>
        </p:txBody>
      </p:sp>
    </p:spTree>
  </p:cSld>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Polaris Office Slide</Application>
  <AppVersion>12.000</AppVersion>
  <Characters>0</Characters>
  <CharactersWithSpaces>0</CharactersWithSpaces>
  <Company>PptxGenJS</Company>
  <DocSecurity>0</DocSecurity>
  <HyperlinksChanged>false</HyperlinksChanged>
  <Lines>0</Lines>
  <LinksUpToDate>false</LinksUpToDate>
  <Pages>27</Pages>
  <Paragraphs>0</Paragraphs>
  <Words>0</Words>
  <TotalTime>0</TotalTime>
  <MMClips>0</MMClips>
  <ScaleCrop>false</ScaleCrop>
  <HeadingPairs>
    <vt:vector size="2" baseType="variant">
      <vt:variant>
        <vt:lpstr>Title</vt:lpstr>
      </vt:variant>
      <vt:variant>
        <vt:i4>1</vt:i4>
      </vt:variant>
    </vt:vector>
  </HeadingPairs>
  <TitlesOfParts>
    <vt:vector size="1" baseType="lpstr">
      <vt:lpstr>Title text</vt:lpstr>
    </vt:vector>
  </TitlesOfParts>
  <SharedDoc>false</SharedDoc>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creator>PptxGenJS</dc:creator>
  <cp:lastModifiedBy>Rjy</cp:lastModifiedBy>
  <dc:title>우심운까 발표자료</dc:title>
  <dc:subject>PptxGenJS Presentation</dc:subject>
  <cp:version>11.105.321.56545</cp:version>
  <dcterms:modified xsi:type="dcterms:W3CDTF">2026-09-29T10:08:52Z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On-screen Show (16:9)</vt:lpwstr>
  </property>
  <property fmtid="{D5CDD505-2E9C-101B-9397-08002B2CF9AE}" pid="4" name="Slides">
    <vt:i4>17</vt:i4>
  </property>
</Properties>
</file>